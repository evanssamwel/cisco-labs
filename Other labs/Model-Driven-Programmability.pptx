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 id="2147484029" r:id="rId2"/>
  </p:sldMasterIdLst>
  <p:notesMasterIdLst>
    <p:notesMasterId r:id="rId50"/>
  </p:notesMasterIdLst>
  <p:sldIdLst>
    <p:sldId id="569" r:id="rId3"/>
    <p:sldId id="629" r:id="rId4"/>
    <p:sldId id="721" r:id="rId5"/>
    <p:sldId id="637" r:id="rId6"/>
    <p:sldId id="684" r:id="rId7"/>
    <p:sldId id="685" r:id="rId8"/>
    <p:sldId id="687" r:id="rId9"/>
    <p:sldId id="688" r:id="rId10"/>
    <p:sldId id="689" r:id="rId11"/>
    <p:sldId id="690" r:id="rId12"/>
    <p:sldId id="692" r:id="rId13"/>
    <p:sldId id="693" r:id="rId14"/>
    <p:sldId id="638" r:id="rId15"/>
    <p:sldId id="694" r:id="rId16"/>
    <p:sldId id="695" r:id="rId17"/>
    <p:sldId id="696" r:id="rId18"/>
    <p:sldId id="639" r:id="rId19"/>
    <p:sldId id="701" r:id="rId20"/>
    <p:sldId id="722" r:id="rId21"/>
    <p:sldId id="691" r:id="rId22"/>
    <p:sldId id="702" r:id="rId23"/>
    <p:sldId id="657" r:id="rId24"/>
    <p:sldId id="704" r:id="rId25"/>
    <p:sldId id="705" r:id="rId26"/>
    <p:sldId id="706" r:id="rId27"/>
    <p:sldId id="708" r:id="rId28"/>
    <p:sldId id="709" r:id="rId29"/>
    <p:sldId id="712" r:id="rId30"/>
    <p:sldId id="713" r:id="rId31"/>
    <p:sldId id="716" r:id="rId32"/>
    <p:sldId id="717" r:id="rId33"/>
    <p:sldId id="728" r:id="rId34"/>
    <p:sldId id="718" r:id="rId35"/>
    <p:sldId id="729" r:id="rId36"/>
    <p:sldId id="730" r:id="rId37"/>
    <p:sldId id="731" r:id="rId38"/>
    <p:sldId id="732" r:id="rId39"/>
    <p:sldId id="733" r:id="rId40"/>
    <p:sldId id="719" r:id="rId41"/>
    <p:sldId id="735" r:id="rId42"/>
    <p:sldId id="734" r:id="rId43"/>
    <p:sldId id="720" r:id="rId44"/>
    <p:sldId id="737" r:id="rId45"/>
    <p:sldId id="738" r:id="rId46"/>
    <p:sldId id="739" r:id="rId47"/>
    <p:sldId id="740" r:id="rId48"/>
    <p:sldId id="723" r:id="rId49"/>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521415D9-36F7-43E2-AB2F-B90AF26B5E84}">
      <p14:sectionLst xmlns:p14="http://schemas.microsoft.com/office/powerpoint/2010/main">
        <p14:section name="API Lesson (JSON)" id="{D4B3F6F4-C168-469E-B941-5430DACD52BE}">
          <p14:sldIdLst>
            <p14:sldId id="569"/>
            <p14:sldId id="629"/>
            <p14:sldId id="721"/>
            <p14:sldId id="637"/>
            <p14:sldId id="684"/>
            <p14:sldId id="685"/>
            <p14:sldId id="687"/>
            <p14:sldId id="688"/>
            <p14:sldId id="689"/>
            <p14:sldId id="690"/>
            <p14:sldId id="692"/>
            <p14:sldId id="693"/>
            <p14:sldId id="638"/>
            <p14:sldId id="694"/>
            <p14:sldId id="695"/>
            <p14:sldId id="696"/>
            <p14:sldId id="639"/>
            <p14:sldId id="701"/>
            <p14:sldId id="722"/>
            <p14:sldId id="691"/>
            <p14:sldId id="702"/>
            <p14:sldId id="657"/>
            <p14:sldId id="704"/>
            <p14:sldId id="705"/>
            <p14:sldId id="706"/>
            <p14:sldId id="708"/>
            <p14:sldId id="709"/>
            <p14:sldId id="712"/>
            <p14:sldId id="713"/>
            <p14:sldId id="716"/>
            <p14:sldId id="717"/>
            <p14:sldId id="728"/>
            <p14:sldId id="718"/>
            <p14:sldId id="729"/>
            <p14:sldId id="730"/>
            <p14:sldId id="731"/>
            <p14:sldId id="732"/>
            <p14:sldId id="733"/>
            <p14:sldId id="719"/>
            <p14:sldId id="735"/>
            <p14:sldId id="734"/>
            <p14:sldId id="720"/>
            <p14:sldId id="737"/>
            <p14:sldId id="738"/>
            <p14:sldId id="739"/>
            <p14:sldId id="740"/>
            <p14:sldId id="723"/>
          </p14:sldIdLst>
        </p14:section>
      </p14:sectionLst>
    </p:ex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03" autoAdjust="0"/>
    <p:restoredTop sz="75258" autoAdjust="0"/>
  </p:normalViewPr>
  <p:slideViewPr>
    <p:cSldViewPr snapToGrid="0" showGuides="1">
      <p:cViewPr varScale="1">
        <p:scale>
          <a:sx n="84" d="100"/>
          <a:sy n="84" d="100"/>
        </p:scale>
        <p:origin x="86" y="403"/>
      </p:cViewPr>
      <p:guideLst>
        <p:guide orient="horz" pos="1620"/>
        <p:guide pos="336"/>
      </p:guideLst>
    </p:cSldViewPr>
  </p:slideViewPr>
  <p:outlineViewPr>
    <p:cViewPr>
      <p:scale>
        <a:sx n="33" d="100"/>
        <a:sy n="33" d="100"/>
      </p:scale>
      <p:origin x="0" y="-26160"/>
    </p:cViewPr>
    <p:sldLst>
      <p:sld r:id="rId1" collapse="1"/>
    </p:sldLst>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_rels/viewProps.xml.rels><?xml version="1.0" encoding="UTF-8" standalone="yes"?>
<Relationships xmlns="http://schemas.openxmlformats.org/package/2006/relationships"><Relationship Id="rId1"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3/8/2021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successfully construct an API request, you must follow the API documentation. You can quickly find API documentation using an Internet search.</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a:p>
        </p:txBody>
      </p:sp>
    </p:spTree>
    <p:extLst>
      <p:ext uri="{BB962C8B-B14F-4D97-AF65-F5344CB8AC3E}">
        <p14:creationId xmlns:p14="http://schemas.microsoft.com/office/powerpoint/2010/main" val="2737111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JavaScript Object Notation (JSON) is a format for storing and exchanging text between a server and a client application. It is easy to read and write. JSON is a very popular format that web services and APIs use to provide public data because it is easy to parse and can be used with most modern programming languages including Python.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 JSON, objects are indicated by curly braces and resemble Python dictionaries. JSON arrays are held in square brackets and resemble Python lists. To simplify the  discussion, we will refer to the JSON structures using the familiar Python terms. Keep in mind however, that JSON data is usually converted to Python data structures before it is used by Python programs.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a:p>
        </p:txBody>
      </p:sp>
    </p:spTree>
    <p:extLst>
      <p:ext uri="{BB962C8B-B14F-4D97-AF65-F5344CB8AC3E}">
        <p14:creationId xmlns:p14="http://schemas.microsoft.com/office/powerpoint/2010/main" val="48932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15</a:t>
            </a:fld>
            <a:endParaRPr lang="en-US"/>
          </a:p>
        </p:txBody>
      </p:sp>
    </p:spTree>
    <p:extLst>
      <p:ext uri="{BB962C8B-B14F-4D97-AF65-F5344CB8AC3E}">
        <p14:creationId xmlns:p14="http://schemas.microsoft.com/office/powerpoint/2010/main" val="2968685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this section, you will create an application that retrieves JSON data from the MapQuest Directions API, parses the data, and formats it for output to the user. The example shows output from a functioning version of the program. Notice that the user entered different values for a trip from Washington to Baltimore and then </a:t>
            </a:r>
            <a:r>
              <a:rPr lang="en-US" sz="1200" b="1" i="0" kern="1200" dirty="0">
                <a:solidFill>
                  <a:schemeClr val="tx1"/>
                </a:solidFill>
                <a:effectLst/>
                <a:latin typeface="+mn-lt"/>
                <a:ea typeface="+mn-ea"/>
                <a:cs typeface="+mn-cs"/>
              </a:rPr>
              <a:t>quit</a:t>
            </a:r>
            <a:r>
              <a:rPr lang="en-US" sz="1200" b="0" i="0" kern="1200" dirty="0">
                <a:solidFill>
                  <a:schemeClr val="tx1"/>
                </a:solidFill>
                <a:effectLst/>
                <a:latin typeface="+mn-lt"/>
                <a:ea typeface="+mn-ea"/>
                <a:cs typeface="+mn-cs"/>
              </a:rPr>
              <a:t> the program.</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a:p>
        </p:txBody>
      </p:sp>
    </p:spTree>
    <p:extLst>
      <p:ext uri="{BB962C8B-B14F-4D97-AF65-F5344CB8AC3E}">
        <p14:creationId xmlns:p14="http://schemas.microsoft.com/office/powerpoint/2010/main" val="2303475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a:p>
        </p:txBody>
      </p:sp>
    </p:spTree>
    <p:extLst>
      <p:ext uri="{BB962C8B-B14F-4D97-AF65-F5344CB8AC3E}">
        <p14:creationId xmlns:p14="http://schemas.microsoft.com/office/powerpoint/2010/main" val="4026594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building the application, you will need to obtain a key from MapQuest developer site, which you will do in the next step. Previously, you used no authentication to access the ISS Pass Predictions API. However, many APIs require some form of authentication.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a:p>
        </p:txBody>
      </p:sp>
    </p:spTree>
    <p:extLst>
      <p:ext uri="{BB962C8B-B14F-4D97-AF65-F5344CB8AC3E}">
        <p14:creationId xmlns:p14="http://schemas.microsoft.com/office/powerpoint/2010/main" val="857652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Note</a:t>
            </a:r>
            <a:r>
              <a:rPr lang="en-US" sz="1200" kern="1200" dirty="0">
                <a:solidFill>
                  <a:schemeClr val="tx1"/>
                </a:solidFill>
                <a:effectLst/>
                <a:latin typeface="+mn-lt"/>
                <a:ea typeface="+mn-ea"/>
                <a:cs typeface="+mn-cs"/>
              </a:rPr>
              <a:t>: MapQuest may change the process for obtaining a key. If the steps above are no longer valid, search for “steps to generate </a:t>
            </a:r>
            <a:r>
              <a:rPr lang="en-US" sz="1200" kern="1200" dirty="0" err="1">
                <a:solidFill>
                  <a:schemeClr val="tx1"/>
                </a:solidFill>
                <a:effectLst/>
                <a:latin typeface="+mn-lt"/>
                <a:ea typeface="+mn-ea"/>
                <a:cs typeface="+mn-cs"/>
              </a:rPr>
              <a:t>mapquest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api</a:t>
            </a:r>
            <a:r>
              <a:rPr lang="en-US" sz="1200" kern="1200" dirty="0">
                <a:solidFill>
                  <a:schemeClr val="tx1"/>
                </a:solidFill>
                <a:effectLst/>
                <a:latin typeface="+mn-lt"/>
                <a:ea typeface="+mn-ea"/>
                <a:cs typeface="+mn-cs"/>
              </a:rPr>
              <a:t> key”. </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a:p>
        </p:txBody>
      </p:sp>
    </p:spTree>
    <p:extLst>
      <p:ext uri="{BB962C8B-B14F-4D97-AF65-F5344CB8AC3E}">
        <p14:creationId xmlns:p14="http://schemas.microsoft.com/office/powerpoint/2010/main" val="2327192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begin our script for parsing JSON data, you will need to import two modules from the Python library: </a:t>
            </a:r>
            <a:r>
              <a:rPr lang="en-US" sz="1200" b="1" i="0" kern="1200" dirty="0">
                <a:solidFill>
                  <a:schemeClr val="tx1"/>
                </a:solidFill>
                <a:effectLst/>
                <a:latin typeface="+mn-lt"/>
                <a:ea typeface="+mn-ea"/>
                <a:cs typeface="+mn-cs"/>
              </a:rPr>
              <a:t>requests</a:t>
            </a:r>
            <a:r>
              <a:rPr lang="en-US" sz="1200" b="0" i="0" kern="1200" dirty="0">
                <a:solidFill>
                  <a:schemeClr val="tx1"/>
                </a:solidFill>
                <a:effectLst/>
                <a:latin typeface="+mn-lt"/>
                <a:ea typeface="+mn-ea"/>
                <a:cs typeface="+mn-cs"/>
              </a:rPr>
              <a:t> and </a:t>
            </a:r>
            <a:r>
              <a:rPr lang="en-US" sz="1200" b="1" i="0" kern="1200" dirty="0" err="1">
                <a:solidFill>
                  <a:schemeClr val="tx1"/>
                </a:solidFill>
                <a:effectLst/>
                <a:latin typeface="+mn-lt"/>
                <a:ea typeface="+mn-ea"/>
                <a:cs typeface="+mn-cs"/>
              </a:rPr>
              <a:t>urllib.parse</a:t>
            </a:r>
            <a:r>
              <a:rPr lang="en-US" sz="1200" b="0" i="0" kern="1200" dirty="0">
                <a:solidFill>
                  <a:schemeClr val="tx1"/>
                </a:solidFill>
                <a:effectLst/>
                <a:latin typeface="+mn-lt"/>
                <a:ea typeface="+mn-ea"/>
                <a:cs typeface="+mn-cs"/>
              </a:rPr>
              <a:t>. The </a:t>
            </a:r>
            <a:r>
              <a:rPr lang="en-US" sz="1200" b="1" i="0" kern="1200" dirty="0">
                <a:solidFill>
                  <a:schemeClr val="tx1"/>
                </a:solidFill>
                <a:effectLst/>
                <a:latin typeface="+mn-lt"/>
                <a:ea typeface="+mn-ea"/>
                <a:cs typeface="+mn-cs"/>
              </a:rPr>
              <a:t>request</a:t>
            </a:r>
            <a:r>
              <a:rPr lang="en-US" sz="1200" b="0" i="0" kern="1200" dirty="0">
                <a:solidFill>
                  <a:schemeClr val="tx1"/>
                </a:solidFill>
                <a:effectLst/>
                <a:latin typeface="+mn-lt"/>
                <a:ea typeface="+mn-ea"/>
                <a:cs typeface="+mn-cs"/>
              </a:rPr>
              <a:t> module provides functions for retrieving JSON data from a URL. The </a:t>
            </a:r>
            <a:r>
              <a:rPr lang="en-US" sz="1200" b="1" i="0" kern="1200" dirty="0" err="1">
                <a:solidFill>
                  <a:schemeClr val="tx1"/>
                </a:solidFill>
                <a:effectLst/>
                <a:latin typeface="+mn-lt"/>
                <a:ea typeface="+mn-ea"/>
                <a:cs typeface="+mn-cs"/>
              </a:rPr>
              <a:t>urllib.parse</a:t>
            </a:r>
            <a:r>
              <a:rPr lang="en-US" sz="1200" b="0" i="0" kern="1200" dirty="0">
                <a:solidFill>
                  <a:schemeClr val="tx1"/>
                </a:solidFill>
                <a:effectLst/>
                <a:latin typeface="+mn-lt"/>
                <a:ea typeface="+mn-ea"/>
                <a:cs typeface="+mn-cs"/>
              </a:rPr>
              <a:t> module provides a variety of functions that will enable us to parse and manipulate the JSON data you receive from a request to a URL.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a:p>
        </p:txBody>
      </p:sp>
    </p:spTree>
    <p:extLst>
      <p:ext uri="{BB962C8B-B14F-4D97-AF65-F5344CB8AC3E}">
        <p14:creationId xmlns:p14="http://schemas.microsoft.com/office/powerpoint/2010/main" val="1525123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first step in creating your API request is to construct the URL that your application will use to make the call. Initially, the URL will be the combination of the following variables</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main_api</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orig</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dest</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key</a:t>
            </a:r>
            <a:r>
              <a:rPr lang="en-US" sz="1200" b="0" i="0" kern="1200" dirty="0">
                <a:solidFill>
                  <a:schemeClr val="tx1"/>
                </a:solidFill>
                <a:effectLst/>
                <a:latin typeface="+mn-lt"/>
                <a:ea typeface="+mn-ea"/>
                <a:cs typeface="+mn-cs"/>
              </a:rPr>
              <a:t>. These variables are combined to create the </a:t>
            </a:r>
            <a:r>
              <a:rPr lang="en-US" sz="1200" b="1" i="0" kern="1200" dirty="0" err="1">
                <a:solidFill>
                  <a:schemeClr val="tx1"/>
                </a:solidFill>
                <a:effectLst/>
                <a:latin typeface="+mn-lt"/>
                <a:ea typeface="+mn-ea"/>
                <a:cs typeface="+mn-cs"/>
              </a:rPr>
              <a:t>url</a:t>
            </a:r>
            <a:r>
              <a:rPr lang="en-US" sz="1200" b="1"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variable. The </a:t>
            </a:r>
            <a:r>
              <a:rPr lang="en-US" sz="1200" b="1" i="0" kern="1200" dirty="0" err="1">
                <a:solidFill>
                  <a:schemeClr val="tx1"/>
                </a:solidFill>
                <a:effectLst/>
                <a:latin typeface="+mn-lt"/>
                <a:ea typeface="+mn-ea"/>
                <a:cs typeface="+mn-cs"/>
              </a:rPr>
              <a:t>urlencode</a:t>
            </a:r>
            <a:r>
              <a:rPr lang="en-US" sz="1200" b="0" i="0" kern="1200" dirty="0">
                <a:solidFill>
                  <a:schemeClr val="tx1"/>
                </a:solidFill>
                <a:effectLst/>
                <a:latin typeface="+mn-lt"/>
                <a:ea typeface="+mn-ea"/>
                <a:cs typeface="+mn-cs"/>
              </a:rPr>
              <a:t> method is used so that the address value is properly formatted. For example, this method will convert </a:t>
            </a:r>
            <a:r>
              <a:rPr lang="en-US" sz="1200" kern="1200" dirty="0">
                <a:solidFill>
                  <a:schemeClr val="tx1"/>
                </a:solidFill>
                <a:effectLst/>
                <a:latin typeface="+mn-lt"/>
                <a:ea typeface="+mn-ea"/>
                <a:cs typeface="+mn-cs"/>
              </a:rPr>
              <a:t>space into “+” and a comma into “%2C</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a:p>
        </p:txBody>
      </p:sp>
    </p:spTree>
    <p:extLst>
      <p:ext uri="{BB962C8B-B14F-4D97-AF65-F5344CB8AC3E}">
        <p14:creationId xmlns:p14="http://schemas.microsoft.com/office/powerpoint/2010/main" val="1325640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you are ready to make the request by creating the </a:t>
            </a:r>
            <a:r>
              <a:rPr lang="en-US" sz="1200" b="1" i="0" kern="1200" dirty="0" err="1">
                <a:solidFill>
                  <a:schemeClr val="tx1"/>
                </a:solidFill>
                <a:effectLst/>
                <a:latin typeface="+mn-lt"/>
                <a:ea typeface="+mn-ea"/>
                <a:cs typeface="+mn-cs"/>
              </a:rPr>
              <a:t>json_data</a:t>
            </a:r>
            <a:r>
              <a:rPr lang="en-US" sz="1200" b="0" i="0" kern="1200" dirty="0">
                <a:solidFill>
                  <a:schemeClr val="tx1"/>
                </a:solidFill>
                <a:effectLst/>
                <a:latin typeface="+mn-lt"/>
                <a:ea typeface="+mn-ea"/>
                <a:cs typeface="+mn-cs"/>
              </a:rPr>
              <a:t> variable. The variable makes use of the </a:t>
            </a:r>
            <a:r>
              <a:rPr lang="en-US" sz="1200" b="1" i="0" kern="1200" dirty="0">
                <a:solidFill>
                  <a:schemeClr val="tx1"/>
                </a:solidFill>
                <a:effectLst/>
                <a:latin typeface="+mn-lt"/>
                <a:ea typeface="+mn-ea"/>
                <a:cs typeface="+mn-cs"/>
              </a:rPr>
              <a:t>get</a:t>
            </a:r>
            <a:r>
              <a:rPr lang="en-US" sz="1200" b="0" i="0" kern="1200" dirty="0">
                <a:solidFill>
                  <a:schemeClr val="tx1"/>
                </a:solidFill>
                <a:effectLst/>
                <a:latin typeface="+mn-lt"/>
                <a:ea typeface="+mn-ea"/>
                <a:cs typeface="+mn-cs"/>
              </a:rPr>
              <a:t> method of the </a:t>
            </a:r>
            <a:r>
              <a:rPr lang="en-US" sz="1200" b="1" i="0" kern="1200" dirty="0">
                <a:solidFill>
                  <a:schemeClr val="tx1"/>
                </a:solidFill>
                <a:effectLst/>
                <a:latin typeface="+mn-lt"/>
                <a:ea typeface="+mn-ea"/>
                <a:cs typeface="+mn-cs"/>
              </a:rPr>
              <a:t>requests</a:t>
            </a:r>
            <a:r>
              <a:rPr lang="en-US" sz="1200" b="0" i="0" kern="1200" dirty="0">
                <a:solidFill>
                  <a:schemeClr val="tx1"/>
                </a:solidFill>
                <a:effectLst/>
                <a:latin typeface="+mn-lt"/>
                <a:ea typeface="+mn-ea"/>
                <a:cs typeface="+mn-cs"/>
              </a:rPr>
              <a:t> module and specifies JSON as the requested format. The </a:t>
            </a:r>
            <a:r>
              <a:rPr lang="en-US" sz="1200" b="1" i="0" kern="1200" dirty="0">
                <a:solidFill>
                  <a:schemeClr val="tx1"/>
                </a:solidFill>
                <a:effectLst/>
                <a:latin typeface="+mn-lt"/>
                <a:ea typeface="+mn-ea"/>
                <a:cs typeface="+mn-cs"/>
              </a:rPr>
              <a:t>print</a:t>
            </a:r>
            <a:r>
              <a:rPr lang="en-US" sz="1200" b="0" i="0" kern="1200" dirty="0">
                <a:solidFill>
                  <a:schemeClr val="tx1"/>
                </a:solidFill>
                <a:effectLst/>
                <a:latin typeface="+mn-lt"/>
                <a:ea typeface="+mn-ea"/>
                <a:cs typeface="+mn-cs"/>
              </a:rPr>
              <a:t> statement is used to test that the request was successful.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a:p>
        </p:txBody>
      </p:sp>
    </p:spTree>
    <p:extLst>
      <p:ext uri="{BB962C8B-B14F-4D97-AF65-F5344CB8AC3E}">
        <p14:creationId xmlns:p14="http://schemas.microsoft.com/office/powerpoint/2010/main" val="2241963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Optional: Change the </a:t>
            </a:r>
            <a:r>
              <a:rPr lang="en-US" b="1" dirty="0" err="1"/>
              <a:t>orig</a:t>
            </a:r>
            <a:r>
              <a:rPr lang="en-US" dirty="0"/>
              <a:t> and </a:t>
            </a:r>
            <a:r>
              <a:rPr lang="en-US" b="1" dirty="0" err="1"/>
              <a:t>dest</a:t>
            </a:r>
            <a:r>
              <a:rPr lang="en-US" dirty="0"/>
              <a:t> variable to get different results.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a:p>
        </p:txBody>
      </p:sp>
    </p:spTree>
    <p:extLst>
      <p:ext uri="{BB962C8B-B14F-4D97-AF65-F5344CB8AC3E}">
        <p14:creationId xmlns:p14="http://schemas.microsoft.com/office/powerpoint/2010/main" val="751191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that you know the JSON request is working, you can add some more functionality to the application by adding some print statements.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a:p>
        </p:txBody>
      </p:sp>
    </p:spTree>
    <p:extLst>
      <p:ext uri="{BB962C8B-B14F-4D97-AF65-F5344CB8AC3E}">
        <p14:creationId xmlns:p14="http://schemas.microsoft.com/office/powerpoint/2010/main" val="28453087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Up to this point, you have used Washington and Baltimore as static values for the location variables. However, our application requires that the user input the address value.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a:p>
        </p:txBody>
      </p:sp>
    </p:spTree>
    <p:extLst>
      <p:ext uri="{BB962C8B-B14F-4D97-AF65-F5344CB8AC3E}">
        <p14:creationId xmlns:p14="http://schemas.microsoft.com/office/powerpoint/2010/main" val="2299184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Instead of entering </a:t>
            </a:r>
            <a:r>
              <a:rPr lang="en-US" sz="1200" b="1" i="0" kern="1200" dirty="0" err="1">
                <a:solidFill>
                  <a:schemeClr val="tx1"/>
                </a:solidFill>
                <a:effectLst/>
                <a:latin typeface="+mn-lt"/>
                <a:ea typeface="+mn-ea"/>
                <a:cs typeface="+mn-cs"/>
              </a:rPr>
              <a:t>Ctrl+C</a:t>
            </a:r>
            <a:r>
              <a:rPr lang="en-US" sz="1200" b="0" i="0" kern="1200" dirty="0">
                <a:solidFill>
                  <a:schemeClr val="tx1"/>
                </a:solidFill>
                <a:effectLst/>
                <a:latin typeface="+mn-lt"/>
                <a:ea typeface="+mn-ea"/>
                <a:cs typeface="+mn-cs"/>
              </a:rPr>
              <a:t> to quit the program, you will add the ability for the user to enter </a:t>
            </a:r>
            <a:r>
              <a:rPr lang="en-US" sz="1200" b="1" i="0" kern="1200" dirty="0">
                <a:solidFill>
                  <a:schemeClr val="tx1"/>
                </a:solidFill>
                <a:effectLst/>
                <a:latin typeface="+mn-lt"/>
                <a:ea typeface="+mn-ea"/>
                <a:cs typeface="+mn-cs"/>
              </a:rPr>
              <a:t>q</a:t>
            </a:r>
            <a:r>
              <a:rPr lang="en-US" sz="1200" b="0" i="0" kern="1200" dirty="0">
                <a:solidFill>
                  <a:schemeClr val="tx1"/>
                </a:solidFill>
                <a:effectLst/>
                <a:latin typeface="+mn-lt"/>
                <a:ea typeface="+mn-ea"/>
                <a:cs typeface="+mn-cs"/>
              </a:rPr>
              <a:t> or </a:t>
            </a:r>
            <a:r>
              <a:rPr lang="en-US" sz="1200" b="1" i="0" kern="1200" dirty="0">
                <a:solidFill>
                  <a:schemeClr val="tx1"/>
                </a:solidFill>
                <a:effectLst/>
                <a:latin typeface="+mn-lt"/>
                <a:ea typeface="+mn-ea"/>
                <a:cs typeface="+mn-cs"/>
              </a:rPr>
              <a:t>quit</a:t>
            </a:r>
            <a:r>
              <a:rPr lang="en-US" sz="1200" b="0" i="0" kern="1200" dirty="0">
                <a:solidFill>
                  <a:schemeClr val="tx1"/>
                </a:solidFill>
                <a:effectLst/>
                <a:latin typeface="+mn-lt"/>
                <a:ea typeface="+mn-ea"/>
                <a:cs typeface="+mn-cs"/>
              </a:rPr>
              <a:t> as keywords to quit the program. </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a:p>
        </p:txBody>
      </p:sp>
    </p:spTree>
    <p:extLst>
      <p:ext uri="{BB962C8B-B14F-4D97-AF65-F5344CB8AC3E}">
        <p14:creationId xmlns:p14="http://schemas.microsoft.com/office/powerpoint/2010/main" val="39901974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a:p>
        </p:txBody>
      </p:sp>
    </p:spTree>
    <p:extLst>
      <p:ext uri="{BB962C8B-B14F-4D97-AF65-F5344CB8AC3E}">
        <p14:creationId xmlns:p14="http://schemas.microsoft.com/office/powerpoint/2010/main" val="29071872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Copy your URL into your web browser. If you collapse all of the JSON data, you will see that there are two root dictionaries: </a:t>
            </a:r>
            <a:r>
              <a:rPr lang="en-US" sz="1200" b="1" i="0" kern="1200" dirty="0">
                <a:solidFill>
                  <a:schemeClr val="tx1"/>
                </a:solidFill>
                <a:effectLst/>
                <a:latin typeface="+mn-lt"/>
                <a:ea typeface="+mn-ea"/>
                <a:cs typeface="+mn-cs"/>
              </a:rPr>
              <a:t>route</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info</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Expand the </a:t>
            </a:r>
            <a:r>
              <a:rPr lang="en-US" sz="1200" b="1" i="0" kern="1200" dirty="0">
                <a:solidFill>
                  <a:schemeClr val="tx1"/>
                </a:solidFill>
                <a:effectLst/>
                <a:latin typeface="+mn-lt"/>
                <a:ea typeface="+mn-ea"/>
                <a:cs typeface="+mn-cs"/>
              </a:rPr>
              <a:t>route</a:t>
            </a:r>
            <a:r>
              <a:rPr lang="en-US" sz="1200" b="0" i="0" kern="1200" dirty="0">
                <a:solidFill>
                  <a:schemeClr val="tx1"/>
                </a:solidFill>
                <a:effectLst/>
                <a:latin typeface="+mn-lt"/>
                <a:ea typeface="+mn-ea"/>
                <a:cs typeface="+mn-cs"/>
              </a:rPr>
              <a:t> dictionary and investigate the rich data. There are values to indicate whether the route has toll roads, bridges, tunnels, highways, closures, or crosses into other countries. You should also see values for distance, the total time the trip will take, and fuel usage, as highlighted below. To parse and display this, you will specify the </a:t>
            </a:r>
            <a:r>
              <a:rPr lang="en-US" sz="1200" b="1" i="0" kern="1200" dirty="0">
                <a:solidFill>
                  <a:schemeClr val="tx1"/>
                </a:solidFill>
                <a:effectLst/>
                <a:latin typeface="+mn-lt"/>
                <a:ea typeface="+mn-ea"/>
                <a:cs typeface="+mn-cs"/>
              </a:rPr>
              <a:t>route</a:t>
            </a:r>
            <a:r>
              <a:rPr lang="en-US" sz="1200" b="0" i="0" kern="1200" dirty="0">
                <a:solidFill>
                  <a:schemeClr val="tx1"/>
                </a:solidFill>
                <a:effectLst/>
                <a:latin typeface="+mn-lt"/>
                <a:ea typeface="+mn-ea"/>
                <a:cs typeface="+mn-cs"/>
              </a:rPr>
              <a:t> dictionary and select key/value pair you want to print.</a:t>
            </a:r>
          </a:p>
        </p:txBody>
      </p:sp>
      <p:sp>
        <p:nvSpPr>
          <p:cNvPr id="4" name="Slide Number Placeholder 3"/>
          <p:cNvSpPr>
            <a:spLocks noGrp="1"/>
          </p:cNvSpPr>
          <p:nvPr>
            <p:ph type="sldNum" sz="quarter" idx="10"/>
          </p:nvPr>
        </p:nvSpPr>
        <p:spPr/>
        <p:txBody>
          <a:bodyPr/>
          <a:lstStyle/>
          <a:p>
            <a:fld id="{5641018C-6CAF-B84E-B92C-ECB119457FBA}" type="slidenum">
              <a:rPr lang="en-US" smtClean="0"/>
              <a:t>32</a:t>
            </a:fld>
            <a:endParaRPr lang="en-US"/>
          </a:p>
        </p:txBody>
      </p:sp>
    </p:spTree>
    <p:extLst>
      <p:ext uri="{BB962C8B-B14F-4D97-AF65-F5344CB8AC3E}">
        <p14:creationId xmlns:p14="http://schemas.microsoft.com/office/powerpoint/2010/main" val="115269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a:p>
        </p:txBody>
      </p:sp>
    </p:spTree>
    <p:extLst>
      <p:ext uri="{BB962C8B-B14F-4D97-AF65-F5344CB8AC3E}">
        <p14:creationId xmlns:p14="http://schemas.microsoft.com/office/powerpoint/2010/main" val="28542407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641018C-6CAF-B84E-B92C-ECB119457FBA}" type="slidenum">
              <a:rPr lang="en-US" smtClean="0"/>
              <a:t>35</a:t>
            </a:fld>
            <a:endParaRPr lang="en-US"/>
          </a:p>
        </p:txBody>
      </p:sp>
    </p:spTree>
    <p:extLst>
      <p:ext uri="{BB962C8B-B14F-4D97-AF65-F5344CB8AC3E}">
        <p14:creationId xmlns:p14="http://schemas.microsoft.com/office/powerpoint/2010/main" val="737981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a:p>
        </p:txBody>
      </p:sp>
    </p:spTree>
    <p:extLst>
      <p:ext uri="{BB962C8B-B14F-4D97-AF65-F5344CB8AC3E}">
        <p14:creationId xmlns:p14="http://schemas.microsoft.com/office/powerpoint/2010/main" val="24568893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 loop iterates through each maneuvers list and does the following:</a:t>
            </a:r>
          </a:p>
          <a:p>
            <a:r>
              <a:rPr lang="en-US" dirty="0"/>
              <a:t>1) Prints the </a:t>
            </a:r>
            <a:r>
              <a:rPr lang="en-US" b="1" dirty="0"/>
              <a:t>narrative</a:t>
            </a:r>
            <a:r>
              <a:rPr lang="en-US" dirty="0"/>
              <a:t> value.</a:t>
            </a:r>
          </a:p>
          <a:p>
            <a:r>
              <a:rPr lang="en-US" dirty="0"/>
              <a:t>2) Converts miles to kilometers with </a:t>
            </a:r>
            <a:r>
              <a:rPr lang="en-US" b="1" dirty="0"/>
              <a:t>*1.61</a:t>
            </a:r>
            <a:r>
              <a:rPr lang="en-US" dirty="0"/>
              <a:t>.</a:t>
            </a:r>
          </a:p>
          <a:p>
            <a:r>
              <a:rPr lang="en-US" dirty="0"/>
              <a:t>3) Formats the kilometer value to print only two decimal places with the </a:t>
            </a:r>
            <a:r>
              <a:rPr lang="en-US" b="1" dirty="0"/>
              <a:t>"{:.2f}".format</a:t>
            </a:r>
            <a:r>
              <a:rPr lang="en-US" dirty="0"/>
              <a:t> function.</a:t>
            </a:r>
          </a:p>
          <a:p>
            <a:r>
              <a:rPr lang="en-US" b="1" dirty="0"/>
              <a:t>Note</a:t>
            </a:r>
            <a:r>
              <a:rPr lang="en-US" dirty="0"/>
              <a:t>: The print statement must be on one line.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a:p>
        </p:txBody>
      </p:sp>
    </p:spTree>
    <p:extLst>
      <p:ext uri="{BB962C8B-B14F-4D97-AF65-F5344CB8AC3E}">
        <p14:creationId xmlns:p14="http://schemas.microsoft.com/office/powerpoint/2010/main" val="28978545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you are ready to add one final feature to your application to report an error when the user enters invalid data. Recall that you started an if loop to make sure the returned </a:t>
            </a:r>
            <a:r>
              <a:rPr lang="en-US" sz="1200" b="1" kern="1200" dirty="0" err="1">
                <a:solidFill>
                  <a:schemeClr val="tx1"/>
                </a:solidFill>
                <a:effectLst/>
                <a:latin typeface="+mn-lt"/>
                <a:ea typeface="+mn-ea"/>
                <a:cs typeface="+mn-cs"/>
              </a:rPr>
              <a:t>statuscode</a:t>
            </a:r>
            <a:r>
              <a:rPr lang="en-US" sz="1200" kern="1200" dirty="0">
                <a:solidFill>
                  <a:schemeClr val="tx1"/>
                </a:solidFill>
                <a:effectLst/>
                <a:latin typeface="+mn-lt"/>
                <a:ea typeface="+mn-ea"/>
                <a:cs typeface="+mn-cs"/>
              </a:rPr>
              <a:t> equals 0 before parsing the JSON data.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But what happens if the </a:t>
            </a:r>
            <a:r>
              <a:rPr lang="en-US" sz="1200" b="1" kern="1200" dirty="0" err="1">
                <a:solidFill>
                  <a:schemeClr val="tx1"/>
                </a:solidFill>
                <a:effectLst/>
                <a:latin typeface="+mn-lt"/>
                <a:ea typeface="+mn-ea"/>
                <a:cs typeface="+mn-cs"/>
              </a:rPr>
              <a:t>statuscode</a:t>
            </a:r>
            <a:r>
              <a:rPr lang="en-US" sz="1200" kern="1200" dirty="0">
                <a:solidFill>
                  <a:schemeClr val="tx1"/>
                </a:solidFill>
                <a:effectLst/>
                <a:latin typeface="+mn-lt"/>
                <a:ea typeface="+mn-ea"/>
                <a:cs typeface="+mn-cs"/>
              </a:rPr>
              <a:t> is not equal to 0? For example, the user might enter an invalid location or might not enter one or more locations. If so, then the application displays the URL and asks for a new starting location. The user has no idea what happened. Try the following values in your application.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Washington and Beijing</a:t>
            </a:r>
          </a:p>
          <a:p>
            <a:r>
              <a:rPr lang="en-US" sz="1200" kern="1200" dirty="0">
                <a:solidFill>
                  <a:schemeClr val="tx1"/>
                </a:solidFill>
                <a:effectLst/>
                <a:latin typeface="+mn-lt"/>
                <a:ea typeface="+mn-ea"/>
                <a:cs typeface="+mn-cs"/>
              </a:rPr>
              <a:t>Washington and </a:t>
            </a:r>
            <a:r>
              <a:rPr lang="en-US" sz="1200" kern="1200" dirty="0" err="1">
                <a:solidFill>
                  <a:schemeClr val="tx1"/>
                </a:solidFill>
                <a:effectLst/>
                <a:latin typeface="+mn-lt"/>
                <a:ea typeface="+mn-ea"/>
                <a:cs typeface="+mn-cs"/>
              </a:rPr>
              <a:t>Balt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Washington and &lt;no entry&gt;</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What results do you get?</a:t>
            </a:r>
          </a:p>
          <a:p>
            <a:r>
              <a:rPr lang="en-US" dirty="0"/>
              <a:t>The if loop does not yet have a contingency for when the </a:t>
            </a:r>
            <a:r>
              <a:rPr lang="en-US" b="1" dirty="0" err="1"/>
              <a:t>statuscode</a:t>
            </a:r>
            <a:r>
              <a:rPr lang="en-US" dirty="0"/>
              <a:t> is not equal to 0. So the while loop starts over and the user is presented with the Starting Location input query.</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a:p>
        </p:txBody>
      </p:sp>
    </p:spTree>
    <p:extLst>
      <p:ext uri="{BB962C8B-B14F-4D97-AF65-F5344CB8AC3E}">
        <p14:creationId xmlns:p14="http://schemas.microsoft.com/office/powerpoint/2010/main" val="511283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a:t>
            </a:r>
            <a:r>
              <a:rPr lang="en-US" sz="1200" b="1" kern="1200" dirty="0" err="1">
                <a:solidFill>
                  <a:schemeClr val="tx1"/>
                </a:solidFill>
                <a:effectLst/>
                <a:latin typeface="+mn-lt"/>
                <a:ea typeface="+mn-ea"/>
                <a:cs typeface="+mn-cs"/>
              </a:rPr>
              <a:t>elif</a:t>
            </a:r>
            <a:r>
              <a:rPr lang="en-US" sz="1200" kern="1200" dirty="0">
                <a:solidFill>
                  <a:schemeClr val="tx1"/>
                </a:solidFill>
                <a:effectLst/>
                <a:latin typeface="+mn-lt"/>
                <a:ea typeface="+mn-ea"/>
                <a:cs typeface="+mn-cs"/>
              </a:rPr>
              <a:t> statement prints if the </a:t>
            </a:r>
            <a:r>
              <a:rPr lang="en-US" sz="1200" b="1" kern="1200" dirty="0" err="1">
                <a:solidFill>
                  <a:schemeClr val="tx1"/>
                </a:solidFill>
                <a:effectLst/>
                <a:latin typeface="+mn-lt"/>
                <a:ea typeface="+mn-ea"/>
                <a:cs typeface="+mn-cs"/>
              </a:rPr>
              <a:t>statuscode</a:t>
            </a:r>
            <a:r>
              <a:rPr lang="en-US" sz="1200" kern="1200" dirty="0">
                <a:solidFill>
                  <a:schemeClr val="tx1"/>
                </a:solidFill>
                <a:effectLst/>
                <a:latin typeface="+mn-lt"/>
                <a:ea typeface="+mn-ea"/>
                <a:cs typeface="+mn-cs"/>
              </a:rPr>
              <a:t> value is 402 for an invalid location. The </a:t>
            </a:r>
            <a:r>
              <a:rPr lang="en-US" sz="1200" b="1" kern="1200" dirty="0">
                <a:solidFill>
                  <a:schemeClr val="tx1"/>
                </a:solidFill>
                <a:effectLst/>
                <a:latin typeface="+mn-lt"/>
                <a:ea typeface="+mn-ea"/>
                <a:cs typeface="+mn-cs"/>
              </a:rPr>
              <a:t>else</a:t>
            </a:r>
            <a:r>
              <a:rPr lang="en-US" sz="1200" kern="1200" dirty="0">
                <a:solidFill>
                  <a:schemeClr val="tx1"/>
                </a:solidFill>
                <a:effectLst/>
                <a:latin typeface="+mn-lt"/>
                <a:ea typeface="+mn-ea"/>
                <a:cs typeface="+mn-cs"/>
              </a:rPr>
              <a:t> statement prints for all other </a:t>
            </a:r>
            <a:r>
              <a:rPr lang="en-US" sz="1200" b="1" kern="1200" dirty="0" err="1">
                <a:solidFill>
                  <a:schemeClr val="tx1"/>
                </a:solidFill>
                <a:effectLst/>
                <a:latin typeface="+mn-lt"/>
                <a:ea typeface="+mn-ea"/>
                <a:cs typeface="+mn-cs"/>
              </a:rPr>
              <a:t>statuscode</a:t>
            </a:r>
            <a:r>
              <a:rPr lang="en-US" sz="1200" kern="1200" dirty="0">
                <a:solidFill>
                  <a:schemeClr val="tx1"/>
                </a:solidFill>
                <a:effectLst/>
                <a:latin typeface="+mn-lt"/>
                <a:ea typeface="+mn-ea"/>
                <a:cs typeface="+mn-cs"/>
              </a:rPr>
              <a:t> values, such as no entry for one or more locations. The else statement ends the if/else loop and returns the application to the while loop.</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a:p>
        </p:txBody>
      </p:sp>
    </p:spTree>
    <p:extLst>
      <p:ext uri="{BB962C8B-B14F-4D97-AF65-F5344CB8AC3E}">
        <p14:creationId xmlns:p14="http://schemas.microsoft.com/office/powerpoint/2010/main" val="18384028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ullet Slide With Titl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37766" y="1347788"/>
            <a:ext cx="8345488" cy="3168210"/>
          </a:xfrm>
          <a:prstGeom prst="rect">
            <a:avLst/>
          </a:prstGeom>
        </p:spPr>
        <p:txBody>
          <a:bodyPr lIns="91420" tIns="45710" rIns="91420" bIns="45710">
            <a:noAutofit/>
          </a:bodyPr>
          <a:lstStyle>
            <a:lvl1pPr marL="280928" indent="-223792">
              <a:lnSpc>
                <a:spcPct val="95000"/>
              </a:lnSpc>
              <a:spcBef>
                <a:spcPts val="1110"/>
              </a:spcBef>
              <a:buClr>
                <a:schemeClr val="accent1">
                  <a:lumMod val="75000"/>
                </a:schemeClr>
              </a:buClr>
              <a:buSzPct val="80000"/>
              <a:buFont typeface="Arial"/>
              <a:buChar char="•"/>
              <a:defRPr sz="2800" b="0" i="0">
                <a:solidFill>
                  <a:schemeClr val="accent1"/>
                </a:solidFill>
                <a:latin typeface="+mn-lt"/>
                <a:cs typeface="CiscoSans ExtraLight"/>
              </a:defRPr>
            </a:lvl1pPr>
            <a:lvl2pPr marL="507895" indent="-215855">
              <a:lnSpc>
                <a:spcPct val="95000"/>
              </a:lnSpc>
              <a:spcBef>
                <a:spcPts val="450"/>
              </a:spcBef>
              <a:buClr>
                <a:schemeClr val="tx1"/>
              </a:buClr>
              <a:buSzPct val="80000"/>
              <a:buFont typeface="Arial"/>
              <a:buChar char="•"/>
              <a:defRPr sz="1800" b="0" i="0">
                <a:solidFill>
                  <a:srgbClr val="676767"/>
                </a:solidFill>
                <a:latin typeface="+mn-lt"/>
                <a:cs typeface="CiscoSans ExtraLight"/>
              </a:defRPr>
            </a:lvl2pPr>
            <a:lvl3pPr marL="747558" indent="-171415">
              <a:buClr>
                <a:schemeClr val="tx1"/>
              </a:buClr>
              <a:buSzPct val="80000"/>
              <a:buFont typeface="Arial"/>
              <a:buChar char="•"/>
              <a:defRPr sz="1600" b="0" i="0">
                <a:solidFill>
                  <a:srgbClr val="676767"/>
                </a:solidFill>
                <a:latin typeface="+mn-lt"/>
                <a:cs typeface="CiscoSans ExtraLight"/>
              </a:defRPr>
            </a:lvl3pPr>
            <a:lvl4pPr marL="911035" indent="-171415">
              <a:buClr>
                <a:schemeClr val="tx1"/>
              </a:buClr>
              <a:buSzPct val="80000"/>
              <a:buFont typeface="Arial"/>
              <a:buChar char="•"/>
              <a:defRPr sz="1400" b="0" i="0">
                <a:solidFill>
                  <a:srgbClr val="676767"/>
                </a:solidFill>
                <a:latin typeface="+mn-lt"/>
                <a:cs typeface="CiscoSans ExtraLight"/>
              </a:defRPr>
            </a:lvl4pPr>
            <a:lvl5pPr marL="1082450" indent="-168240">
              <a:buClr>
                <a:schemeClr val="tx1"/>
              </a:buClr>
              <a:buSzPct val="80000"/>
              <a:buFont typeface="Arial"/>
              <a:buChar char="•"/>
              <a:defRPr sz="1200" b="0" i="0">
                <a:solidFill>
                  <a:srgbClr val="676767"/>
                </a:solidFill>
                <a:latin typeface="+mn-lt"/>
                <a:cs typeface="CiscoSans ExtraLight"/>
              </a:defRPr>
            </a:lvl5pPr>
          </a:lstStyle>
          <a:p>
            <a:pPr lvl="0"/>
            <a:r>
              <a:rPr lang="en-US" dirty="0"/>
              <a:t>Click to edit Master text styles</a:t>
            </a:r>
          </a:p>
          <a:p>
            <a:pPr lvl="1"/>
            <a:r>
              <a:rPr lang="en-US" dirty="0" err="1"/>
              <a:t>sdfsdf</a:t>
            </a:r>
            <a:endParaRPr lang="en-US" dirty="0"/>
          </a:p>
        </p:txBody>
      </p:sp>
      <p:sp>
        <p:nvSpPr>
          <p:cNvPr id="6"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accent1"/>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894729509"/>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bg1"/>
                </a:solidFill>
                <a:latin typeface="+mn-lt"/>
                <a:ea typeface="+mn-ea"/>
                <a:cs typeface="CiscoSans Thin"/>
              </a:rPr>
              <a:pPr algn="r" defTabSz="610744" fontAlgn="auto">
                <a:spcBef>
                  <a:spcPts val="0"/>
                </a:spcBef>
                <a:spcAft>
                  <a:spcPts val="0"/>
                </a:spcAft>
                <a:defRPr/>
              </a:pPr>
              <a:t>‹#›</a:t>
            </a:fld>
            <a:endParaRPr lang="en-US" sz="600" dirty="0">
              <a:solidFill>
                <a:schemeClr val="bg1"/>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bg1"/>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ullet_Heavy Text">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37766" y="1347788"/>
            <a:ext cx="3901123" cy="3083094"/>
          </a:xfrm>
          <a:prstGeom prst="rect">
            <a:avLst/>
          </a:prstGeom>
        </p:spPr>
        <p:txBody>
          <a:bodyPr lIns="91420" tIns="45710" rIns="91420" bIns="45710">
            <a:noAutofit/>
          </a:bodyPr>
          <a:lstStyle>
            <a:lvl1pPr marL="228555" indent="-171415">
              <a:lnSpc>
                <a:spcPct val="95000"/>
              </a:lnSpc>
              <a:spcBef>
                <a:spcPts val="1110"/>
              </a:spcBef>
              <a:buClr>
                <a:schemeClr val="tx2"/>
              </a:buClr>
              <a:buSzPct val="80000"/>
              <a:buFont typeface="Arial"/>
              <a:buChar char="•"/>
              <a:defRPr sz="2000" b="0" i="0">
                <a:solidFill>
                  <a:srgbClr val="004C69"/>
                </a:solidFill>
                <a:latin typeface="+mn-lt"/>
                <a:cs typeface="CiscoSans ExtraLight"/>
              </a:defRPr>
            </a:lvl1pPr>
            <a:lvl2pPr marL="457105" indent="-215855">
              <a:lnSpc>
                <a:spcPct val="95000"/>
              </a:lnSpc>
              <a:spcBef>
                <a:spcPts val="450"/>
              </a:spcBef>
              <a:buClr>
                <a:schemeClr val="tx2"/>
              </a:buClr>
              <a:buSzPct val="80000"/>
              <a:buFont typeface="Arial"/>
              <a:buChar char="•"/>
              <a:defRPr sz="1800" b="0" i="0">
                <a:solidFill>
                  <a:srgbClr val="004C69"/>
                </a:solidFill>
                <a:latin typeface="+mn-lt"/>
                <a:cs typeface="CiscoSans ExtraLight"/>
              </a:defRPr>
            </a:lvl2pPr>
            <a:lvl3pPr marL="628520" indent="-171415">
              <a:buClr>
                <a:schemeClr val="tx2"/>
              </a:buClr>
              <a:buSzPct val="80000"/>
              <a:buFont typeface="Arial"/>
              <a:buChar char="•"/>
              <a:defRPr sz="1600" b="0" i="0">
                <a:solidFill>
                  <a:srgbClr val="004C69"/>
                </a:solidFill>
                <a:latin typeface="+mn-lt"/>
                <a:cs typeface="CiscoSans ExtraLight"/>
              </a:defRPr>
            </a:lvl3pPr>
            <a:lvl4pPr marL="799934" indent="-171415">
              <a:buClr>
                <a:schemeClr val="tx2"/>
              </a:buClr>
              <a:buSzPct val="80000"/>
              <a:buFont typeface="Arial"/>
              <a:buChar char="•"/>
              <a:defRPr sz="1400" b="0" i="0">
                <a:solidFill>
                  <a:srgbClr val="004C69"/>
                </a:solidFill>
                <a:latin typeface="+mn-lt"/>
                <a:cs typeface="CiscoSans ExtraLight"/>
              </a:defRPr>
            </a:lvl4pPr>
            <a:lvl5pPr marL="971347" indent="-171415">
              <a:buClr>
                <a:schemeClr val="tx2"/>
              </a:buClr>
              <a:buSzPct val="80000"/>
              <a:buFont typeface="Arial"/>
              <a:buChar char="•"/>
              <a:defRPr sz="1200" b="0" i="0">
                <a:solidFill>
                  <a:srgbClr val="004C69"/>
                </a:solidFill>
                <a:latin typeface="+mn-lt"/>
                <a:cs typeface="CiscoSans ExtraLigh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3"/>
          <p:cNvSpPr>
            <a:spLocks noGrp="1"/>
          </p:cNvSpPr>
          <p:nvPr>
            <p:ph type="body" sz="quarter" idx="11"/>
          </p:nvPr>
        </p:nvSpPr>
        <p:spPr>
          <a:xfrm>
            <a:off x="4564794" y="1347788"/>
            <a:ext cx="4218460" cy="3083094"/>
          </a:xfrm>
          <a:prstGeom prst="rect">
            <a:avLst/>
          </a:prstGeom>
        </p:spPr>
        <p:txBody>
          <a:bodyPr lIns="91420" tIns="45710" rIns="91420" bIns="45710">
            <a:noAutofit/>
          </a:bodyPr>
          <a:lstStyle>
            <a:lvl1pPr marL="228555" indent="-171415">
              <a:lnSpc>
                <a:spcPct val="95000"/>
              </a:lnSpc>
              <a:spcBef>
                <a:spcPts val="1110"/>
              </a:spcBef>
              <a:buClr>
                <a:schemeClr val="tx2"/>
              </a:buClr>
              <a:buSzPct val="80000"/>
              <a:buFont typeface="Arial"/>
              <a:buChar char="•"/>
              <a:defRPr sz="2000" b="0" i="0" baseline="0">
                <a:solidFill>
                  <a:srgbClr val="004C69"/>
                </a:solidFill>
                <a:latin typeface="+mn-lt"/>
                <a:cs typeface="CiscoSans ExtraLight"/>
              </a:defRPr>
            </a:lvl1pPr>
            <a:lvl2pPr marL="457105" indent="-215855">
              <a:lnSpc>
                <a:spcPct val="95000"/>
              </a:lnSpc>
              <a:spcBef>
                <a:spcPts val="450"/>
              </a:spcBef>
              <a:buClr>
                <a:schemeClr val="tx2"/>
              </a:buClr>
              <a:buSzPct val="80000"/>
              <a:buFont typeface="Arial"/>
              <a:buChar char="•"/>
              <a:defRPr sz="1800" b="0" i="0">
                <a:solidFill>
                  <a:srgbClr val="004C69"/>
                </a:solidFill>
                <a:latin typeface="+mn-lt"/>
                <a:cs typeface="CiscoSans ExtraLight"/>
              </a:defRPr>
            </a:lvl2pPr>
            <a:lvl3pPr marL="628520" indent="-171415">
              <a:buClr>
                <a:schemeClr val="tx2"/>
              </a:buClr>
              <a:buSzPct val="80000"/>
              <a:buFont typeface="Arial"/>
              <a:buChar char="•"/>
              <a:defRPr sz="1600" b="0" i="0">
                <a:solidFill>
                  <a:srgbClr val="004C69"/>
                </a:solidFill>
                <a:latin typeface="+mn-lt"/>
                <a:cs typeface="CiscoSans ExtraLight"/>
              </a:defRPr>
            </a:lvl3pPr>
            <a:lvl4pPr marL="799934" indent="-171415">
              <a:buClr>
                <a:schemeClr val="tx2"/>
              </a:buClr>
              <a:buSzPct val="80000"/>
              <a:buFont typeface="Arial"/>
              <a:buChar char="•"/>
              <a:defRPr sz="1400" b="0" i="0">
                <a:solidFill>
                  <a:srgbClr val="004C69"/>
                </a:solidFill>
                <a:latin typeface="+mn-lt"/>
                <a:cs typeface="CiscoSans ExtraLight"/>
              </a:defRPr>
            </a:lvl4pPr>
            <a:lvl5pPr marL="971347" indent="-171415">
              <a:buClr>
                <a:schemeClr val="tx2"/>
              </a:buClr>
              <a:buSzPct val="80000"/>
              <a:buFont typeface="Arial"/>
              <a:buChar char="•"/>
              <a:defRPr sz="1200" b="0" i="0">
                <a:solidFill>
                  <a:srgbClr val="004C69"/>
                </a:solidFill>
                <a:latin typeface="+mn-lt"/>
                <a:cs typeface="CiscoSans ExtraLigh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4069940689"/>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482EFC-E81A-4C44-8A10-D1C0258C4C70}"/>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1221" y="0"/>
            <a:ext cx="9132780" cy="5143499"/>
          </a:xfrm>
          <a:prstGeom prst="rect">
            <a:avLst/>
          </a:prstGeom>
        </p:spPr>
      </p:pic>
      <p:pic>
        <p:nvPicPr>
          <p:cNvPr id="3" name="Picture 2">
            <a:extLst>
              <a:ext uri="{FF2B5EF4-FFF2-40B4-BE49-F238E27FC236}">
                <a16:creationId xmlns:a16="http://schemas.microsoft.com/office/drawing/2014/main" id="{A66DCA83-4AE9-8942-9646-D383DBA7B6EA}"/>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63292" y="363258"/>
            <a:ext cx="2119240" cy="534313"/>
          </a:xfrm>
          <a:prstGeom prst="rect">
            <a:avLst/>
          </a:prstGeom>
        </p:spPr>
      </p:pic>
      <p:sp>
        <p:nvSpPr>
          <p:cNvPr id="16" name="Subtitle 2"/>
          <p:cNvSpPr>
            <a:spLocks noGrp="1"/>
          </p:cNvSpPr>
          <p:nvPr>
            <p:ph type="subTitle" idx="1" hasCustomPrompt="1"/>
          </p:nvPr>
        </p:nvSpPr>
        <p:spPr>
          <a:xfrm>
            <a:off x="469497" y="3856736"/>
            <a:ext cx="6117482" cy="288131"/>
          </a:xfrm>
          <a:prstGeom prst="rect">
            <a:avLst/>
          </a:prstGeom>
        </p:spPr>
        <p:txBody>
          <a:bodyPr lIns="91420" tIns="45710" rIns="91420" bIns="45710" anchor="b" anchorCtr="0">
            <a:noAutofit/>
          </a:bodyPr>
          <a:lstStyle>
            <a:lvl1pPr marL="0" indent="0" algn="l">
              <a:buNone/>
              <a:defRPr sz="1800" b="0" i="0">
                <a:solidFill>
                  <a:schemeClr val="bg1">
                    <a:lumMod val="75000"/>
                  </a:schemeClr>
                </a:solidFill>
                <a:latin typeface="+mn-lt"/>
                <a:cs typeface="CiscoSansTT ExtraLight"/>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GB" dirty="0"/>
              <a:t>Speaker Name</a:t>
            </a:r>
            <a:endParaRPr lang="en-US" dirty="0"/>
          </a:p>
        </p:txBody>
      </p:sp>
      <p:sp>
        <p:nvSpPr>
          <p:cNvPr id="17" name="Text Placeholder 38"/>
          <p:cNvSpPr>
            <a:spLocks noGrp="1"/>
          </p:cNvSpPr>
          <p:nvPr>
            <p:ph type="body" sz="quarter" idx="11" hasCustomPrompt="1"/>
          </p:nvPr>
        </p:nvSpPr>
        <p:spPr>
          <a:xfrm>
            <a:off x="469497" y="4072669"/>
            <a:ext cx="6117482" cy="288131"/>
          </a:xfrm>
          <a:prstGeom prst="rect">
            <a:avLst/>
          </a:prstGeom>
        </p:spPr>
        <p:txBody>
          <a:bodyPr lIns="91420" tIns="45710" rIns="91420" bIns="45710"/>
          <a:lstStyle>
            <a:lvl1pPr marL="0" indent="0" algn="l">
              <a:buFontTx/>
              <a:buNone/>
              <a:defRPr lang="en-US" sz="1800" b="0" i="0" kern="1200" dirty="0" smtClean="0">
                <a:solidFill>
                  <a:schemeClr val="bg1">
                    <a:lumMod val="75000"/>
                  </a:schemeClr>
                </a:solidFill>
                <a:latin typeface="+mn-lt"/>
                <a:ea typeface="+mn-ea"/>
                <a:cs typeface="CiscoSansTT ExtraLight"/>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GB" dirty="0"/>
              <a:t>Speaker Title</a:t>
            </a:r>
          </a:p>
        </p:txBody>
      </p:sp>
      <p:sp>
        <p:nvSpPr>
          <p:cNvPr id="18" name="Text Placeholder 40"/>
          <p:cNvSpPr>
            <a:spLocks noGrp="1"/>
          </p:cNvSpPr>
          <p:nvPr>
            <p:ph type="body" sz="quarter" idx="12" hasCustomPrompt="1"/>
          </p:nvPr>
        </p:nvSpPr>
        <p:spPr>
          <a:xfrm>
            <a:off x="469497" y="4348762"/>
            <a:ext cx="6117482" cy="288131"/>
          </a:xfrm>
          <a:prstGeom prst="rect">
            <a:avLst/>
          </a:prstGeom>
        </p:spPr>
        <p:txBody>
          <a:bodyPr lIns="91420" tIns="45710" rIns="91420" bIns="45710"/>
          <a:lstStyle>
            <a:lvl1pPr marL="0" indent="0" algn="l">
              <a:buFontTx/>
              <a:buNone/>
              <a:defRPr lang="en-US" sz="1800" b="0" i="0" kern="1200" dirty="0" smtClean="0">
                <a:solidFill>
                  <a:schemeClr val="bg1">
                    <a:lumMod val="75000"/>
                  </a:schemeClr>
                </a:solidFill>
                <a:latin typeface="+mn-lt"/>
                <a:ea typeface="+mn-ea"/>
                <a:cs typeface="CiscoSansTT ExtraLight"/>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GB" dirty="0"/>
              <a:t>Date</a:t>
            </a:r>
          </a:p>
        </p:txBody>
      </p:sp>
      <p:sp>
        <p:nvSpPr>
          <p:cNvPr id="19" name="Text Placeholder 2"/>
          <p:cNvSpPr>
            <a:spLocks noGrp="1"/>
          </p:cNvSpPr>
          <p:nvPr>
            <p:ph type="body" sz="quarter" idx="13" hasCustomPrompt="1"/>
          </p:nvPr>
        </p:nvSpPr>
        <p:spPr>
          <a:xfrm>
            <a:off x="463293" y="3043653"/>
            <a:ext cx="6123686" cy="299001"/>
          </a:xfrm>
          <a:prstGeom prst="rect">
            <a:avLst/>
          </a:prstGeom>
        </p:spPr>
        <p:txBody>
          <a:bodyPr lIns="91420" tIns="45710" rIns="91420" bIns="45710"/>
          <a:lstStyle>
            <a:lvl1pPr marL="0" indent="0">
              <a:buFont typeface="Arial" panose="020B0604020202020204" pitchFamily="34" charset="0"/>
              <a:buNone/>
              <a:defRPr sz="2200" b="0" i="0" baseline="0">
                <a:solidFill>
                  <a:schemeClr val="bg1">
                    <a:lumMod val="75000"/>
                  </a:schemeClr>
                </a:solidFill>
                <a:latin typeface="+mj-lt"/>
                <a:cs typeface="CiscoSansTT ExtraLight"/>
              </a:defRPr>
            </a:lvl1pPr>
            <a:lvl2pPr marL="304781" indent="0">
              <a:buNone/>
              <a:defRPr/>
            </a:lvl2pPr>
            <a:lvl3pPr marL="427401" indent="0">
              <a:buNone/>
              <a:defRPr/>
            </a:lvl3pPr>
            <a:lvl4pPr marL="516694" indent="0">
              <a:buNone/>
              <a:defRPr/>
            </a:lvl4pPr>
            <a:lvl5pPr marL="601221" indent="0">
              <a:buNone/>
              <a:defRPr/>
            </a:lvl5pPr>
          </a:lstStyle>
          <a:p>
            <a:pPr lvl="0"/>
            <a:r>
              <a:rPr lang="en-GB" dirty="0"/>
              <a:t>Subtitle Goes Here</a:t>
            </a:r>
          </a:p>
        </p:txBody>
      </p:sp>
      <p:sp>
        <p:nvSpPr>
          <p:cNvPr id="20" name="Title 1"/>
          <p:cNvSpPr>
            <a:spLocks noGrp="1"/>
          </p:cNvSpPr>
          <p:nvPr>
            <p:ph type="ctrTitle" hasCustomPrompt="1"/>
          </p:nvPr>
        </p:nvSpPr>
        <p:spPr>
          <a:xfrm>
            <a:off x="425764" y="2472167"/>
            <a:ext cx="6165769" cy="644730"/>
          </a:xfrm>
          <a:prstGeom prst="rect">
            <a:avLst/>
          </a:prstGeom>
        </p:spPr>
        <p:txBody>
          <a:bodyPr anchor="b"/>
          <a:lstStyle>
            <a:lvl1pPr marL="0" indent="0" algn="l">
              <a:lnSpc>
                <a:spcPct val="90000"/>
              </a:lnSpc>
              <a:buFont typeface="Arial" panose="020B0604020202020204" pitchFamily="34" charset="0"/>
              <a:buNone/>
              <a:defRPr sz="4000" b="0" i="0" spc="0" baseline="0">
                <a:solidFill>
                  <a:schemeClr val="bg1">
                    <a:lumMod val="75000"/>
                  </a:schemeClr>
                </a:solidFill>
                <a:latin typeface="+mj-lt"/>
                <a:cs typeface="CiscoSansTT ExtraLight"/>
              </a:defRPr>
            </a:lvl1pPr>
          </a:lstStyle>
          <a:p>
            <a:r>
              <a:rPr lang="en-GB" dirty="0"/>
              <a:t>Presentation Title Goes Here</a:t>
            </a:r>
            <a:endParaRPr lang="en-US" dirty="0"/>
          </a:p>
        </p:txBody>
      </p:sp>
    </p:spTree>
    <p:extLst>
      <p:ext uri="{BB962C8B-B14F-4D97-AF65-F5344CB8AC3E}">
        <p14:creationId xmlns:p14="http://schemas.microsoft.com/office/powerpoint/2010/main" val="4001291849"/>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chemeClr val="accent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58233CC-CA47-3842-944B-E605F64CE078}"/>
              </a:ext>
            </a:extLst>
          </p:cNvPr>
          <p:cNvPicPr>
            <a:picLocks noChangeAspect="1"/>
          </p:cNvPicPr>
          <p:nvPr userDrawn="1"/>
        </p:nvPicPr>
        <p:blipFill>
          <a:blip r:embed="rId2"/>
          <a:stretch>
            <a:fillRect/>
          </a:stretch>
        </p:blipFill>
        <p:spPr>
          <a:xfrm>
            <a:off x="11220" y="0"/>
            <a:ext cx="9132780" cy="5137188"/>
          </a:xfrm>
          <a:prstGeom prst="rect">
            <a:avLst/>
          </a:prstGeom>
        </p:spPr>
      </p:pic>
      <p:sp>
        <p:nvSpPr>
          <p:cNvPr id="16" name="Subtitle 2"/>
          <p:cNvSpPr>
            <a:spLocks noGrp="1"/>
          </p:cNvSpPr>
          <p:nvPr>
            <p:ph type="subTitle" idx="1" hasCustomPrompt="1"/>
          </p:nvPr>
        </p:nvSpPr>
        <p:spPr>
          <a:xfrm>
            <a:off x="469497" y="3868768"/>
            <a:ext cx="6081524" cy="288131"/>
          </a:xfrm>
          <a:prstGeom prst="rect">
            <a:avLst/>
          </a:prstGeom>
        </p:spPr>
        <p:txBody>
          <a:bodyPr lIns="91420" tIns="45710" rIns="91420" bIns="45710" anchor="b" anchorCtr="0">
            <a:noAutofit/>
          </a:bodyPr>
          <a:lstStyle>
            <a:lvl1pPr marL="0" indent="0" algn="l">
              <a:buNone/>
              <a:defRPr sz="1600" b="0" i="0">
                <a:solidFill>
                  <a:schemeClr val="tx2">
                    <a:lumMod val="75000"/>
                  </a:schemeClr>
                </a:solidFill>
                <a:latin typeface="+mn-lt"/>
                <a:cs typeface="CiscoSansTT ExtraLight"/>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GB" dirty="0"/>
              <a:t>Speaker Name</a:t>
            </a:r>
            <a:endParaRPr lang="en-US" dirty="0"/>
          </a:p>
        </p:txBody>
      </p:sp>
      <p:sp>
        <p:nvSpPr>
          <p:cNvPr id="17" name="Text Placeholder 38"/>
          <p:cNvSpPr>
            <a:spLocks noGrp="1"/>
          </p:cNvSpPr>
          <p:nvPr>
            <p:ph type="body" sz="quarter" idx="11" hasCustomPrompt="1"/>
          </p:nvPr>
        </p:nvSpPr>
        <p:spPr>
          <a:xfrm>
            <a:off x="469497" y="4108765"/>
            <a:ext cx="6081524" cy="288131"/>
          </a:xfrm>
          <a:prstGeom prst="rect">
            <a:avLst/>
          </a:prstGeom>
        </p:spPr>
        <p:txBody>
          <a:bodyPr lIns="91420" tIns="45710" rIns="91420" bIns="45710"/>
          <a:lstStyle>
            <a:lvl1pPr marL="0" indent="0" algn="l">
              <a:buFontTx/>
              <a:buNone/>
              <a:defRPr lang="en-US" sz="1600" b="0" i="0" kern="1200" dirty="0" smtClean="0">
                <a:solidFill>
                  <a:schemeClr val="tx2">
                    <a:lumMod val="75000"/>
                  </a:schemeClr>
                </a:solidFill>
                <a:latin typeface="+mn-lt"/>
                <a:ea typeface="+mn-ea"/>
                <a:cs typeface="CiscoSansTT ExtraLight"/>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GB" dirty="0"/>
              <a:t>Speaker Title</a:t>
            </a:r>
          </a:p>
        </p:txBody>
      </p:sp>
      <p:sp>
        <p:nvSpPr>
          <p:cNvPr id="18" name="Text Placeholder 40"/>
          <p:cNvSpPr>
            <a:spLocks noGrp="1"/>
          </p:cNvSpPr>
          <p:nvPr>
            <p:ph type="body" sz="quarter" idx="12" hasCustomPrompt="1"/>
          </p:nvPr>
        </p:nvSpPr>
        <p:spPr>
          <a:xfrm>
            <a:off x="469497" y="4348762"/>
            <a:ext cx="6081524" cy="288131"/>
          </a:xfrm>
          <a:prstGeom prst="rect">
            <a:avLst/>
          </a:prstGeom>
        </p:spPr>
        <p:txBody>
          <a:bodyPr lIns="91420" tIns="45710" rIns="91420" bIns="45710"/>
          <a:lstStyle>
            <a:lvl1pPr marL="0" indent="0" algn="l">
              <a:buFontTx/>
              <a:buNone/>
              <a:defRPr lang="en-US" sz="1600" b="0" i="0" kern="1200" dirty="0" smtClean="0">
                <a:solidFill>
                  <a:schemeClr val="tx2">
                    <a:lumMod val="75000"/>
                  </a:schemeClr>
                </a:solidFill>
                <a:latin typeface="+mn-lt"/>
                <a:ea typeface="+mn-ea"/>
                <a:cs typeface="CiscoSansTT ExtraLight"/>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GB" dirty="0"/>
              <a:t>Date</a:t>
            </a:r>
          </a:p>
        </p:txBody>
      </p:sp>
      <p:sp>
        <p:nvSpPr>
          <p:cNvPr id="19" name="Text Placeholder 2"/>
          <p:cNvSpPr>
            <a:spLocks noGrp="1"/>
          </p:cNvSpPr>
          <p:nvPr>
            <p:ph type="body" sz="quarter" idx="13" hasCustomPrompt="1"/>
          </p:nvPr>
        </p:nvSpPr>
        <p:spPr>
          <a:xfrm>
            <a:off x="463293" y="3211463"/>
            <a:ext cx="6086072" cy="299001"/>
          </a:xfrm>
          <a:prstGeom prst="rect">
            <a:avLst/>
          </a:prstGeom>
        </p:spPr>
        <p:txBody>
          <a:bodyPr lIns="91420" tIns="45710" rIns="91420" bIns="45710"/>
          <a:lstStyle>
            <a:lvl1pPr marL="0" indent="0">
              <a:buFont typeface="Arial" panose="020B0604020202020204" pitchFamily="34" charset="0"/>
              <a:buNone/>
              <a:defRPr sz="2200" b="0" i="0" baseline="0">
                <a:solidFill>
                  <a:schemeClr val="tx2">
                    <a:lumMod val="75000"/>
                  </a:schemeClr>
                </a:solidFill>
                <a:latin typeface="+mj-lt"/>
                <a:cs typeface="CiscoSansTT ExtraLight"/>
              </a:defRPr>
            </a:lvl1pPr>
            <a:lvl2pPr marL="304781" indent="0">
              <a:buNone/>
              <a:defRPr/>
            </a:lvl2pPr>
            <a:lvl3pPr marL="427401" indent="0">
              <a:buNone/>
              <a:defRPr/>
            </a:lvl3pPr>
            <a:lvl4pPr marL="516694" indent="0">
              <a:buNone/>
              <a:defRPr/>
            </a:lvl4pPr>
            <a:lvl5pPr marL="601221" indent="0">
              <a:buNone/>
              <a:defRPr/>
            </a:lvl5pPr>
          </a:lstStyle>
          <a:p>
            <a:pPr lvl="0"/>
            <a:r>
              <a:rPr lang="en-GB" dirty="0"/>
              <a:t>Subtitle Goes Here</a:t>
            </a:r>
          </a:p>
        </p:txBody>
      </p:sp>
      <p:sp>
        <p:nvSpPr>
          <p:cNvPr id="20" name="Title 1"/>
          <p:cNvSpPr>
            <a:spLocks noGrp="1"/>
          </p:cNvSpPr>
          <p:nvPr>
            <p:ph type="ctrTitle" hasCustomPrompt="1"/>
          </p:nvPr>
        </p:nvSpPr>
        <p:spPr>
          <a:xfrm>
            <a:off x="425765" y="2639977"/>
            <a:ext cx="6113580" cy="644730"/>
          </a:xfrm>
          <a:prstGeom prst="rect">
            <a:avLst/>
          </a:prstGeom>
        </p:spPr>
        <p:txBody>
          <a:bodyPr anchor="b"/>
          <a:lstStyle>
            <a:lvl1pPr marL="0" indent="0" algn="l">
              <a:lnSpc>
                <a:spcPct val="90000"/>
              </a:lnSpc>
              <a:buFont typeface="Arial" panose="020B0604020202020204" pitchFamily="34" charset="0"/>
              <a:buNone/>
              <a:defRPr sz="4000" b="0" i="0" spc="0" baseline="0">
                <a:solidFill>
                  <a:schemeClr val="tx2">
                    <a:lumMod val="75000"/>
                  </a:schemeClr>
                </a:solidFill>
                <a:latin typeface="+mj-lt"/>
                <a:cs typeface="CiscoSansTT ExtraLight"/>
              </a:defRPr>
            </a:lvl1pPr>
          </a:lstStyle>
          <a:p>
            <a:r>
              <a:rPr lang="en-GB" dirty="0"/>
              <a:t>Presentation Title Goes Here</a:t>
            </a:r>
            <a:endParaRPr lang="en-US" dirty="0"/>
          </a:p>
        </p:txBody>
      </p:sp>
      <p:pic>
        <p:nvPicPr>
          <p:cNvPr id="9" name="Picture 8">
            <a:extLst>
              <a:ext uri="{FF2B5EF4-FFF2-40B4-BE49-F238E27FC236}">
                <a16:creationId xmlns:a16="http://schemas.microsoft.com/office/drawing/2014/main" id="{92320C5F-0F53-6842-A11F-92876CF58F4A}"/>
              </a:ext>
            </a:extLst>
          </p:cNvPr>
          <p:cNvPicPr>
            <a:picLocks noChangeAspect="1"/>
          </p:cNvPicPr>
          <p:nvPr userDrawn="1"/>
        </p:nvPicPr>
        <p:blipFill>
          <a:blip r:embed="rId3"/>
          <a:stretch>
            <a:fillRect/>
          </a:stretch>
        </p:blipFill>
        <p:spPr>
          <a:xfrm>
            <a:off x="463293" y="363258"/>
            <a:ext cx="2119237" cy="534312"/>
          </a:xfrm>
          <a:prstGeom prst="rect">
            <a:avLst/>
          </a:prstGeom>
        </p:spPr>
      </p:pic>
    </p:spTree>
    <p:extLst>
      <p:ext uri="{BB962C8B-B14F-4D97-AF65-F5344CB8AC3E}">
        <p14:creationId xmlns:p14="http://schemas.microsoft.com/office/powerpoint/2010/main" val="21688847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Segue_White">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509C2E4-CBE9-FF4A-B277-B062E65CEB2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195"/>
            <a:ext cx="9144000" cy="5141108"/>
          </a:xfrm>
          <a:prstGeom prst="rect">
            <a:avLst/>
          </a:prstGeom>
        </p:spPr>
      </p:pic>
      <p:sp>
        <p:nvSpPr>
          <p:cNvPr id="7" name="Title 1"/>
          <p:cNvSpPr>
            <a:spLocks noGrp="1"/>
          </p:cNvSpPr>
          <p:nvPr>
            <p:ph type="ctrTitle" hasCustomPrompt="1"/>
          </p:nvPr>
        </p:nvSpPr>
        <p:spPr>
          <a:xfrm>
            <a:off x="416425" y="1286776"/>
            <a:ext cx="4699861" cy="2569946"/>
          </a:xfrm>
          <a:prstGeom prst="rect">
            <a:avLst/>
          </a:prstGeom>
          <a:noFill/>
        </p:spPr>
        <p:txBody>
          <a:bodyPr anchor="ctr">
            <a:noAutofit/>
          </a:bodyPr>
          <a:lstStyle>
            <a:lvl1pPr marL="0" indent="0" algn="l">
              <a:lnSpc>
                <a:spcPct val="90000"/>
              </a:lnSpc>
              <a:buFont typeface="Arial" panose="020B0604020202020204" pitchFamily="34" charset="0"/>
              <a:buNone/>
              <a:defRPr sz="4600" b="0" i="0" spc="0" baseline="0">
                <a:solidFill>
                  <a:schemeClr val="tx2"/>
                </a:solidFill>
                <a:latin typeface="+mj-lt"/>
                <a:ea typeface="CiscoSansTT Thin" charset="0"/>
                <a:cs typeface="CiscoSansTT Thin" charset="0"/>
              </a:defRPr>
            </a:lvl1pPr>
          </a:lstStyle>
          <a:p>
            <a:r>
              <a:rPr lang="en-GB" dirty="0"/>
              <a:t>Section Title Goes Here</a:t>
            </a:r>
            <a:endParaRPr lang="en-US" dirty="0"/>
          </a:p>
        </p:txBody>
      </p:sp>
    </p:spTree>
    <p:extLst>
      <p:ext uri="{BB962C8B-B14F-4D97-AF65-F5344CB8AC3E}">
        <p14:creationId xmlns:p14="http://schemas.microsoft.com/office/powerpoint/2010/main" val="2944685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Segue_White">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p:cNvSpPr>
            <a:spLocks noGrp="1"/>
          </p:cNvSpPr>
          <p:nvPr>
            <p:ph type="ctrTitle" hasCustomPrompt="1"/>
          </p:nvPr>
        </p:nvSpPr>
        <p:spPr>
          <a:xfrm>
            <a:off x="416425" y="1286777"/>
            <a:ext cx="4605517" cy="2569946"/>
          </a:xfrm>
          <a:prstGeom prst="rect">
            <a:avLst/>
          </a:prstGeom>
          <a:noFill/>
        </p:spPr>
        <p:txBody>
          <a:bodyPr anchor="ctr">
            <a:noAutofit/>
          </a:bodyPr>
          <a:lstStyle>
            <a:lvl1pPr marL="0" indent="0" algn="l">
              <a:lnSpc>
                <a:spcPct val="90000"/>
              </a:lnSpc>
              <a:buFont typeface="Arial" panose="020B0604020202020204" pitchFamily="34" charset="0"/>
              <a:buNone/>
              <a:defRPr sz="4600" b="0" i="0" spc="0" baseline="0">
                <a:solidFill>
                  <a:schemeClr val="tx2"/>
                </a:solidFill>
                <a:latin typeface="+mj-lt"/>
                <a:ea typeface="CiscoSansTT Thin" charset="0"/>
                <a:cs typeface="CiscoSansTT Thin" charset="0"/>
              </a:defRPr>
            </a:lvl1pPr>
          </a:lstStyle>
          <a:p>
            <a:r>
              <a:rPr lang="en-GB" dirty="0"/>
              <a:t>Section Title Goes Here</a:t>
            </a:r>
            <a:endParaRPr lang="en-US" dirty="0"/>
          </a:p>
        </p:txBody>
      </p:sp>
      <p:pic>
        <p:nvPicPr>
          <p:cNvPr id="5" name="Picture 4">
            <a:extLst>
              <a:ext uri="{FF2B5EF4-FFF2-40B4-BE49-F238E27FC236}">
                <a16:creationId xmlns:a16="http://schemas.microsoft.com/office/drawing/2014/main" id="{85220665-6C61-EE48-AB0A-37B1BFD5FBB3}"/>
              </a:ext>
            </a:extLst>
          </p:cNvPr>
          <p:cNvPicPr>
            <a:picLocks noChangeAspect="1"/>
          </p:cNvPicPr>
          <p:nvPr userDrawn="1"/>
        </p:nvPicPr>
        <p:blipFill>
          <a:blip r:embed="rId2"/>
          <a:stretch>
            <a:fillRect/>
          </a:stretch>
        </p:blipFill>
        <p:spPr>
          <a:xfrm>
            <a:off x="5264198" y="1148623"/>
            <a:ext cx="3068210" cy="2846255"/>
          </a:xfrm>
          <a:prstGeom prst="rect">
            <a:avLst/>
          </a:prstGeom>
        </p:spPr>
      </p:pic>
    </p:spTree>
    <p:extLst>
      <p:ext uri="{BB962C8B-B14F-4D97-AF65-F5344CB8AC3E}">
        <p14:creationId xmlns:p14="http://schemas.microsoft.com/office/powerpoint/2010/main" val="3004397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Segue_White">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p:cNvSpPr>
            <a:spLocks noGrp="1"/>
          </p:cNvSpPr>
          <p:nvPr>
            <p:ph type="ctrTitle" hasCustomPrompt="1"/>
          </p:nvPr>
        </p:nvSpPr>
        <p:spPr>
          <a:xfrm>
            <a:off x="416426" y="1286777"/>
            <a:ext cx="6013404" cy="2569946"/>
          </a:xfrm>
          <a:prstGeom prst="rect">
            <a:avLst/>
          </a:prstGeom>
          <a:noFill/>
        </p:spPr>
        <p:txBody>
          <a:bodyPr anchor="ctr">
            <a:noAutofit/>
          </a:bodyPr>
          <a:lstStyle>
            <a:lvl1pPr marL="0" indent="0" algn="l">
              <a:lnSpc>
                <a:spcPct val="90000"/>
              </a:lnSpc>
              <a:buFont typeface="Arial" panose="020B0604020202020204" pitchFamily="34" charset="0"/>
              <a:buNone/>
              <a:defRPr sz="4600" b="0" i="0" spc="0" baseline="0">
                <a:solidFill>
                  <a:schemeClr val="tx2"/>
                </a:solidFill>
                <a:latin typeface="+mj-lt"/>
                <a:ea typeface="CiscoSansTT Thin" charset="0"/>
                <a:cs typeface="CiscoSansTT Thin" charset="0"/>
              </a:defRPr>
            </a:lvl1pPr>
          </a:lstStyle>
          <a:p>
            <a:r>
              <a:rPr lang="en-GB" dirty="0"/>
              <a:t>Section Title Goes Here</a:t>
            </a:r>
            <a:endParaRPr lang="en-US" dirty="0"/>
          </a:p>
        </p:txBody>
      </p:sp>
      <p:pic>
        <p:nvPicPr>
          <p:cNvPr id="5" name="Picture 4">
            <a:extLst>
              <a:ext uri="{FF2B5EF4-FFF2-40B4-BE49-F238E27FC236}">
                <a16:creationId xmlns:a16="http://schemas.microsoft.com/office/drawing/2014/main" id="{80DDC7BF-B92F-F04E-879A-43BEF68CE37B}"/>
              </a:ext>
            </a:extLst>
          </p:cNvPr>
          <p:cNvPicPr>
            <a:picLocks noChangeAspect="1"/>
          </p:cNvPicPr>
          <p:nvPr userDrawn="1"/>
        </p:nvPicPr>
        <p:blipFill rotWithShape="1">
          <a:blip r:embed="rId2"/>
          <a:srcRect l="38189" r="1" b="10534"/>
          <a:stretch/>
        </p:blipFill>
        <p:spPr>
          <a:xfrm flipH="1">
            <a:off x="6534198" y="1165499"/>
            <a:ext cx="2609802" cy="2867005"/>
          </a:xfrm>
          <a:prstGeom prst="rect">
            <a:avLst/>
          </a:prstGeom>
        </p:spPr>
      </p:pic>
    </p:spTree>
    <p:extLst>
      <p:ext uri="{BB962C8B-B14F-4D97-AF65-F5344CB8AC3E}">
        <p14:creationId xmlns:p14="http://schemas.microsoft.com/office/powerpoint/2010/main" val="3525933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Quote Slide">
    <p:bg>
      <p:bgPr>
        <a:solidFill>
          <a:schemeClr val="accent5"/>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3" name="Text Placeholder 9"/>
          <p:cNvSpPr>
            <a:spLocks noGrp="1"/>
          </p:cNvSpPr>
          <p:nvPr>
            <p:ph type="body" sz="quarter" idx="11"/>
          </p:nvPr>
        </p:nvSpPr>
        <p:spPr>
          <a:xfrm>
            <a:off x="468313" y="3916058"/>
            <a:ext cx="7791858" cy="349356"/>
          </a:xfrm>
          <a:prstGeom prst="rect">
            <a:avLst/>
          </a:prstGeom>
        </p:spPr>
        <p:txBody>
          <a:bodyPr wrap="square" lIns="91420" tIns="45710" rIns="91420" bIns="45710" anchor="b" anchorCtr="0">
            <a:noAutofit/>
          </a:bodyPr>
          <a:lstStyle>
            <a:lvl1pPr marL="0" indent="0" algn="l" defTabSz="603575">
              <a:lnSpc>
                <a:spcPct val="100000"/>
              </a:lnSpc>
              <a:spcBef>
                <a:spcPct val="50000"/>
              </a:spcBef>
              <a:buNone/>
              <a:defRPr sz="2200" b="0" i="0">
                <a:solidFill>
                  <a:schemeClr val="tx1"/>
                </a:solidFill>
                <a:latin typeface="+mn-lt"/>
                <a:cs typeface="CiscoSans ExtraLight"/>
              </a:defRPr>
            </a:lvl1pPr>
            <a:lvl2pPr>
              <a:buFont typeface="Arial" pitchFamily="34" charset="0"/>
              <a:buNone/>
              <a:defRPr sz="1100"/>
            </a:lvl2pPr>
            <a:lvl3pPr>
              <a:buFont typeface="Arial" pitchFamily="34" charset="0"/>
              <a:buNone/>
              <a:defRPr sz="1100"/>
            </a:lvl3pPr>
            <a:lvl4pPr>
              <a:buFont typeface="Arial" pitchFamily="34" charset="0"/>
              <a:buNone/>
              <a:defRPr sz="1100"/>
            </a:lvl4pPr>
            <a:lvl5pPr>
              <a:buFont typeface="Arial" pitchFamily="34" charset="0"/>
              <a:buNone/>
              <a:defRPr sz="1100"/>
            </a:lvl5pPr>
          </a:lstStyle>
          <a:p>
            <a:pPr lvl="0"/>
            <a:r>
              <a:rPr lang="en-US"/>
              <a:t>Edit Master text styles</a:t>
            </a:r>
          </a:p>
        </p:txBody>
      </p:sp>
      <p:sp>
        <p:nvSpPr>
          <p:cNvPr id="4" name="Title 1"/>
          <p:cNvSpPr>
            <a:spLocks noGrp="1"/>
          </p:cNvSpPr>
          <p:nvPr>
            <p:ph type="ctrTitle"/>
          </p:nvPr>
        </p:nvSpPr>
        <p:spPr>
          <a:xfrm>
            <a:off x="287923" y="1540551"/>
            <a:ext cx="7972248" cy="2278837"/>
          </a:xfrm>
          <a:prstGeom prst="rect">
            <a:avLst/>
          </a:prstGeom>
        </p:spPr>
        <p:txBody>
          <a:bodyPr>
            <a:noAutofit/>
          </a:bodyPr>
          <a:lstStyle>
            <a:lvl1pPr marL="183600" indent="-399968" algn="l">
              <a:lnSpc>
                <a:spcPct val="90000"/>
              </a:lnSpc>
              <a:defRPr sz="4000" b="0" i="1" spc="0" baseline="0">
                <a:solidFill>
                  <a:schemeClr val="tx2"/>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422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Full Bleed Photo With Tex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9144000" cy="5143500"/>
          </a:xfrm>
          <a:prstGeom prst="rect">
            <a:avLst/>
          </a:prstGeom>
        </p:spPr>
        <p:txBody>
          <a:bodyPr vert="horz" lIns="91420" tIns="45710" rIns="91420" bIns="45710"/>
          <a:lstStyle>
            <a:lvl1pPr marL="0" indent="0" algn="ctr">
              <a:buNone/>
              <a:defRPr sz="2200" baseline="0">
                <a:solidFill>
                  <a:schemeClr val="tx1"/>
                </a:solidFill>
                <a:latin typeface="+mj-lt"/>
                <a:cs typeface="CiscoSans ExtraLight"/>
              </a:defRPr>
            </a:lvl1pPr>
          </a:lstStyle>
          <a:p>
            <a:pPr lvl="0"/>
            <a:r>
              <a:rPr lang="en-US" noProof="0"/>
              <a:t>Click icon to add picture</a:t>
            </a:r>
            <a:endParaRPr lang="en-US" noProof="0" dirty="0"/>
          </a:p>
        </p:txBody>
      </p:sp>
      <p:sp>
        <p:nvSpPr>
          <p:cNvPr id="6" name="Text Placeholder 2"/>
          <p:cNvSpPr>
            <a:spLocks noGrp="1"/>
          </p:cNvSpPr>
          <p:nvPr>
            <p:ph type="body" sz="quarter" idx="11"/>
          </p:nvPr>
        </p:nvSpPr>
        <p:spPr bwMode="auto">
          <a:xfrm>
            <a:off x="500063" y="3895662"/>
            <a:ext cx="8139112" cy="556563"/>
          </a:xfrm>
          <a:prstGeom prst="rect">
            <a:avLst/>
          </a:prstGeom>
          <a:noFill/>
        </p:spPr>
        <p:txBody>
          <a:bodyPr wrap="square" lIns="182880" tIns="91440" rIns="182880" bIns="91440" numCol="1" anchor="ctr" anchorCtr="0" compatLnSpc="1">
            <a:prstTxWarp prst="textNoShape">
              <a:avLst/>
            </a:prstTxWarp>
            <a:spAutoFit/>
          </a:bodyPr>
          <a:lstStyle>
            <a:lvl1pPr marL="0" indent="0" algn="ctr">
              <a:lnSpc>
                <a:spcPts val="2900"/>
              </a:lnSpc>
              <a:spcBef>
                <a:spcPts val="0"/>
              </a:spcBef>
              <a:buNone/>
              <a:defRPr sz="2400" i="0">
                <a:solidFill>
                  <a:schemeClr val="bg1"/>
                </a:solidFill>
              </a:defRPr>
            </a:lvl1pPr>
          </a:lstStyle>
          <a:p>
            <a:pPr lvl="0"/>
            <a:r>
              <a:rPr lang="en-US"/>
              <a:t>Edit Master text styles</a:t>
            </a:r>
          </a:p>
        </p:txBody>
      </p:sp>
    </p:spTree>
    <p:extLst>
      <p:ext uri="{BB962C8B-B14F-4D97-AF65-F5344CB8AC3E}">
        <p14:creationId xmlns:p14="http://schemas.microsoft.com/office/powerpoint/2010/main" val="4368936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Half Page Photo With Text">
    <p:bg>
      <p:bgPr>
        <a:solidFill>
          <a:schemeClr val="bg2"/>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9301163" cy="2843212"/>
          </a:xfrm>
          <a:prstGeom prst="rect">
            <a:avLst/>
          </a:prstGeom>
          <a:solidFill>
            <a:schemeClr val="bg2"/>
          </a:solidFill>
        </p:spPr>
        <p:txBody>
          <a:bodyPr vert="horz" lIns="91420" tIns="45710" rIns="91420" bIns="45710"/>
          <a:lstStyle>
            <a:lvl1pPr marL="0" indent="0" algn="ctr">
              <a:buNone/>
              <a:defRPr sz="2200" baseline="0">
                <a:solidFill>
                  <a:schemeClr val="tx1"/>
                </a:solidFill>
                <a:latin typeface="+mj-lt"/>
                <a:cs typeface="CiscoSans ExtraLight"/>
              </a:defRPr>
            </a:lvl1pPr>
          </a:lstStyle>
          <a:p>
            <a:pPr lvl="0"/>
            <a:r>
              <a:rPr lang="en-US" noProof="0"/>
              <a:t>Click icon to add picture</a:t>
            </a:r>
            <a:endParaRPr lang="en-US" noProof="0" dirty="0"/>
          </a:p>
        </p:txBody>
      </p:sp>
      <p:sp>
        <p:nvSpPr>
          <p:cNvPr id="4" name="Text Placeholder 3"/>
          <p:cNvSpPr>
            <a:spLocks noGrp="1"/>
          </p:cNvSpPr>
          <p:nvPr>
            <p:ph type="body" sz="quarter" idx="11"/>
          </p:nvPr>
        </p:nvSpPr>
        <p:spPr>
          <a:xfrm>
            <a:off x="448785" y="3054518"/>
            <a:ext cx="8364236" cy="564257"/>
          </a:xfrm>
          <a:prstGeom prst="rect">
            <a:avLst/>
          </a:prstGeom>
        </p:spPr>
        <p:txBody>
          <a:bodyPr vert="horz" wrap="square">
            <a:spAutoFit/>
          </a:bodyPr>
          <a:lstStyle>
            <a:lvl1pPr marL="0" indent="0">
              <a:buNone/>
              <a:defRPr sz="3200" baseline="0">
                <a:solidFill>
                  <a:schemeClr val="tx2"/>
                </a:solidFill>
                <a:latin typeface="+mj-lt"/>
              </a:defRPr>
            </a:lvl1pPr>
          </a:lstStyle>
          <a:p>
            <a:pPr lvl="0"/>
            <a:r>
              <a:rPr lang="en-US"/>
              <a:t>Edit Master text styles</a:t>
            </a:r>
          </a:p>
        </p:txBody>
      </p:sp>
    </p:spTree>
    <p:extLst>
      <p:ext uri="{BB962C8B-B14F-4D97-AF65-F5344CB8AC3E}">
        <p14:creationId xmlns:p14="http://schemas.microsoft.com/office/powerpoint/2010/main" val="4215889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Full bleed photo">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9147348" cy="5143500"/>
          </a:xfrm>
          <a:prstGeom prst="rect">
            <a:avLst/>
          </a:prstGeom>
        </p:spPr>
        <p:txBody>
          <a:bodyPr vert="horz" lIns="91420" tIns="45710" rIns="91420" bIns="45710"/>
          <a:lstStyle>
            <a:lvl1pPr marL="0" indent="0" algn="ctr">
              <a:buNone/>
              <a:defRPr sz="2200" baseline="0">
                <a:solidFill>
                  <a:schemeClr val="tx1"/>
                </a:solidFill>
                <a:latin typeface="+mj-lt"/>
                <a:cs typeface="CiscoSans Extra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3613832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Full bleed photo">
    <p:bg>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a:xfrm>
            <a:off x="0" y="0"/>
            <a:ext cx="90932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latin typeface="+mj-lt"/>
            </a:endParaRPr>
          </a:p>
        </p:txBody>
      </p:sp>
      <p:sp>
        <p:nvSpPr>
          <p:cNvPr id="5" name="Rectangle 4"/>
          <p:cNvSpPr>
            <a:spLocks noChangeArrowheads="1"/>
          </p:cNvSpPr>
          <p:nvPr userDrawn="1"/>
        </p:nvSpPr>
        <p:spPr bwMode="ltGray">
          <a:xfrm>
            <a:off x="477679" y="4741653"/>
            <a:ext cx="3466792"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
        <p:nvSpPr>
          <p:cNvPr id="3" name="Picture Placeholder 2"/>
          <p:cNvSpPr>
            <a:spLocks noGrp="1"/>
          </p:cNvSpPr>
          <p:nvPr>
            <p:ph type="pic" sz="quarter" idx="10"/>
          </p:nvPr>
        </p:nvSpPr>
        <p:spPr>
          <a:xfrm>
            <a:off x="308012" y="240631"/>
            <a:ext cx="8480388" cy="4266646"/>
          </a:xfrm>
          <a:prstGeom prst="rect">
            <a:avLst/>
          </a:prstGeom>
          <a:solidFill>
            <a:schemeClr val="bg2"/>
          </a:solidFill>
        </p:spPr>
        <p:txBody>
          <a:bodyPr vert="horz" lIns="91424" tIns="45712" rIns="91424" bIns="45712"/>
          <a:lstStyle>
            <a:lvl1pPr marL="0" indent="0" algn="ctr">
              <a:buNone/>
              <a:defRPr sz="1500" baseline="0">
                <a:solidFill>
                  <a:schemeClr val="tx1"/>
                </a:solidFill>
                <a:latin typeface="+mj-lt"/>
                <a:cs typeface="CiscoSans ExtraLight"/>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9203638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ullet">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62301" y="1201738"/>
            <a:ext cx="8277344" cy="3389312"/>
          </a:xfrm>
          <a:prstGeom prst="rect">
            <a:avLst/>
          </a:prstGeom>
        </p:spPr>
        <p:txBody>
          <a:bodyPr lIns="91420" tIns="45710" rIns="91420" bIns="45710">
            <a:noAutofit/>
          </a:bodyPr>
          <a:lstStyle>
            <a:lvl1pPr marL="228600" indent="-171450">
              <a:lnSpc>
                <a:spcPct val="95000"/>
              </a:lnSpc>
              <a:spcBef>
                <a:spcPts val="1110"/>
              </a:spcBef>
              <a:buClr>
                <a:schemeClr val="tx1"/>
              </a:buClr>
              <a:buSzPct val="80000"/>
              <a:buFont typeface="Arial"/>
              <a:buChar char="•"/>
              <a:defRPr sz="2000" b="0" i="0">
                <a:solidFill>
                  <a:schemeClr val="tx1"/>
                </a:solidFill>
                <a:latin typeface="+mn-lt"/>
                <a:ea typeface="CiscoSansTT Thin" charset="0"/>
                <a:cs typeface="CiscoSansTT Thin" charset="0"/>
              </a:defRPr>
            </a:lvl1pPr>
            <a:lvl2pPr marL="457200" indent="-165100">
              <a:lnSpc>
                <a:spcPct val="95000"/>
              </a:lnSpc>
              <a:spcBef>
                <a:spcPts val="450"/>
              </a:spcBef>
              <a:buClr>
                <a:schemeClr val="tx1"/>
              </a:buClr>
              <a:buSzPct val="80000"/>
              <a:buFont typeface="Arial"/>
              <a:buChar char="•"/>
              <a:defRPr sz="1800" b="0" i="0">
                <a:solidFill>
                  <a:schemeClr val="tx1"/>
                </a:solidFill>
                <a:latin typeface="+mn-lt"/>
                <a:ea typeface="CiscoSansTT Thin" charset="0"/>
                <a:cs typeface="CiscoSansTT Thin" charset="0"/>
              </a:defRPr>
            </a:lvl2pPr>
            <a:lvl3pPr marL="685800" indent="-109538">
              <a:buClr>
                <a:schemeClr val="tx1"/>
              </a:buClr>
              <a:buSzPct val="80000"/>
              <a:buFont typeface="Arial"/>
              <a:buChar char="•"/>
              <a:defRPr sz="1600" b="0" i="0">
                <a:solidFill>
                  <a:schemeClr val="tx1"/>
                </a:solidFill>
                <a:latin typeface="+mn-lt"/>
                <a:ea typeface="CiscoSansTT Thin" charset="0"/>
                <a:cs typeface="CiscoSansTT Thin" charset="0"/>
              </a:defRPr>
            </a:lvl3pPr>
            <a:lvl4pPr marL="911035" indent="-171415">
              <a:buClr>
                <a:schemeClr val="tx1"/>
              </a:buClr>
              <a:buSzPct val="80000"/>
              <a:buFont typeface="Arial"/>
              <a:buChar char="•"/>
              <a:defRPr sz="1400" b="0" i="0">
                <a:solidFill>
                  <a:schemeClr val="tx1"/>
                </a:solidFill>
                <a:latin typeface="+mn-lt"/>
                <a:ea typeface="CiscoSansTT Thin" charset="0"/>
                <a:cs typeface="CiscoSansTT Thin" charset="0"/>
              </a:defRPr>
            </a:lvl4pPr>
            <a:lvl5pPr marL="1082450" indent="-168240">
              <a:buClr>
                <a:schemeClr val="tx1"/>
              </a:buClr>
              <a:buSzPct val="80000"/>
              <a:buFont typeface="Arial"/>
              <a:buChar char="•"/>
              <a:defRPr sz="1200" b="0" i="0">
                <a:solidFill>
                  <a:schemeClr val="tx1"/>
                </a:solidFill>
                <a:latin typeface="+mn-lt"/>
                <a:ea typeface="CiscoSansTT Thin" charset="0"/>
                <a:cs typeface="CiscoSansTT Thin" charset="0"/>
              </a:defRPr>
            </a:lvl5pPr>
          </a:lstStyle>
          <a:p>
            <a:pPr lvl="0"/>
            <a:r>
              <a:rPr lang="en-GB" dirty="0"/>
              <a:t>First level</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defRPr sz="2800">
                <a:solidFill>
                  <a:schemeClr val="tx2"/>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36493758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ullet_Heavy Text">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533399" y="1205898"/>
            <a:ext cx="3886200" cy="3083094"/>
          </a:xfrm>
          <a:prstGeom prst="rect">
            <a:avLst/>
          </a:prstGeom>
        </p:spPr>
        <p:txBody>
          <a:bodyPr lIns="0" tIns="45710" rIns="0" bIns="45710">
            <a:noAutofit/>
          </a:bodyPr>
          <a:lstStyle>
            <a:lvl1pPr marL="174625" indent="-117475">
              <a:lnSpc>
                <a:spcPct val="95000"/>
              </a:lnSpc>
              <a:spcBef>
                <a:spcPts val="1110"/>
              </a:spcBef>
              <a:buClr>
                <a:schemeClr val="tx1"/>
              </a:buClr>
              <a:buSzPct val="60000"/>
              <a:buFont typeface="Arial"/>
              <a:buChar char="•"/>
              <a:defRPr sz="2000" b="0" i="0">
                <a:solidFill>
                  <a:schemeClr val="tx1"/>
                </a:solidFill>
                <a:latin typeface="+mn-lt"/>
                <a:cs typeface="CiscoSans ExtraLight"/>
              </a:defRPr>
            </a:lvl1pPr>
            <a:lvl2pPr marL="288925" indent="-114300">
              <a:lnSpc>
                <a:spcPct val="95000"/>
              </a:lnSpc>
              <a:spcBef>
                <a:spcPts val="450"/>
              </a:spcBef>
              <a:buClr>
                <a:schemeClr val="tx1"/>
              </a:buClr>
              <a:buSzPct val="60000"/>
              <a:buFont typeface="Arial"/>
              <a:buChar char="•"/>
              <a:defRPr sz="1800" b="0" i="0">
                <a:solidFill>
                  <a:schemeClr val="tx1"/>
                </a:solidFill>
                <a:latin typeface="+mn-lt"/>
                <a:cs typeface="CiscoSans ExtraLight"/>
              </a:defRPr>
            </a:lvl2pPr>
            <a:lvl3pPr marL="403225" indent="-114300">
              <a:buClr>
                <a:schemeClr val="tx1"/>
              </a:buClr>
              <a:buSzPct val="60000"/>
              <a:buFont typeface="Arial"/>
              <a:buChar char="•"/>
              <a:defRPr sz="1600" b="0" i="0">
                <a:solidFill>
                  <a:schemeClr val="tx1"/>
                </a:solidFill>
                <a:latin typeface="+mn-lt"/>
                <a:cs typeface="CiscoSans ExtraLight"/>
              </a:defRPr>
            </a:lvl3pPr>
            <a:lvl4pPr marL="517525" indent="-114300">
              <a:buClr>
                <a:schemeClr val="tx1"/>
              </a:buClr>
              <a:buSzPct val="60000"/>
              <a:buFont typeface="Arial"/>
              <a:buChar char="•"/>
              <a:defRPr sz="1400" b="0" i="0">
                <a:solidFill>
                  <a:schemeClr val="tx1"/>
                </a:solidFill>
                <a:latin typeface="+mn-lt"/>
                <a:cs typeface="CiscoSans ExtraLight"/>
              </a:defRPr>
            </a:lvl4pPr>
            <a:lvl5pPr marL="631825" indent="-114300">
              <a:buClr>
                <a:schemeClr val="tx1"/>
              </a:buClr>
              <a:buSzPct val="60000"/>
              <a:buFont typeface="Arial"/>
              <a:buChar char="•"/>
              <a:defRPr sz="1200" b="0" i="0">
                <a:solidFill>
                  <a:schemeClr val="tx1"/>
                </a:solidFill>
                <a:latin typeface="+mn-lt"/>
                <a:cs typeface="CiscoSans Extra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3"/>
          <p:cNvSpPr>
            <a:spLocks noGrp="1"/>
          </p:cNvSpPr>
          <p:nvPr>
            <p:ph type="body" sz="quarter" idx="11"/>
          </p:nvPr>
        </p:nvSpPr>
        <p:spPr>
          <a:xfrm>
            <a:off x="4755866" y="1205898"/>
            <a:ext cx="3886200" cy="3083094"/>
          </a:xfrm>
          <a:prstGeom prst="rect">
            <a:avLst/>
          </a:prstGeom>
        </p:spPr>
        <p:txBody>
          <a:bodyPr lIns="0" tIns="45710" rIns="0" bIns="45710">
            <a:noAutofit/>
          </a:bodyPr>
          <a:lstStyle>
            <a:lvl1pPr marL="174625" indent="-117475">
              <a:lnSpc>
                <a:spcPct val="95000"/>
              </a:lnSpc>
              <a:spcBef>
                <a:spcPts val="1110"/>
              </a:spcBef>
              <a:buClr>
                <a:schemeClr val="tx1"/>
              </a:buClr>
              <a:buSzPct val="60000"/>
              <a:buFont typeface="Arial"/>
              <a:buChar char="•"/>
              <a:defRPr sz="2000" b="0" i="0" baseline="0">
                <a:solidFill>
                  <a:schemeClr val="tx1"/>
                </a:solidFill>
                <a:latin typeface="+mn-lt"/>
                <a:cs typeface="CiscoSans ExtraLight"/>
              </a:defRPr>
            </a:lvl1pPr>
            <a:lvl2pPr marL="288925" indent="-114300">
              <a:lnSpc>
                <a:spcPct val="95000"/>
              </a:lnSpc>
              <a:spcBef>
                <a:spcPts val="450"/>
              </a:spcBef>
              <a:buClr>
                <a:schemeClr val="tx1"/>
              </a:buClr>
              <a:buSzPct val="60000"/>
              <a:buFont typeface="Arial"/>
              <a:buChar char="•"/>
              <a:defRPr sz="1800" b="0" i="0">
                <a:solidFill>
                  <a:schemeClr val="tx1"/>
                </a:solidFill>
                <a:latin typeface="+mn-lt"/>
                <a:cs typeface="CiscoSans ExtraLight"/>
              </a:defRPr>
            </a:lvl2pPr>
            <a:lvl3pPr marL="403225" indent="-114300">
              <a:buClr>
                <a:schemeClr val="tx1"/>
              </a:buClr>
              <a:buSzPct val="60000"/>
              <a:buFont typeface="Arial"/>
              <a:buChar char="•"/>
              <a:defRPr sz="1600" b="0" i="0">
                <a:solidFill>
                  <a:schemeClr val="tx1"/>
                </a:solidFill>
                <a:latin typeface="+mn-lt"/>
                <a:cs typeface="CiscoSans ExtraLight"/>
              </a:defRPr>
            </a:lvl3pPr>
            <a:lvl4pPr marL="517525" indent="-114300">
              <a:buClr>
                <a:schemeClr val="tx1"/>
              </a:buClr>
              <a:buSzPct val="60000"/>
              <a:buFont typeface="Arial"/>
              <a:buChar char="•"/>
              <a:defRPr sz="1400" b="0" i="0">
                <a:solidFill>
                  <a:schemeClr val="tx1"/>
                </a:solidFill>
                <a:latin typeface="+mn-lt"/>
                <a:cs typeface="CiscoSans ExtraLight"/>
              </a:defRPr>
            </a:lvl4pPr>
            <a:lvl5pPr marL="631825" indent="-114300">
              <a:buClr>
                <a:schemeClr val="tx1"/>
              </a:buClr>
              <a:buSzPct val="60000"/>
              <a:buFont typeface="Arial"/>
              <a:buChar char="•"/>
              <a:defRPr sz="1200" b="0" i="0">
                <a:solidFill>
                  <a:schemeClr val="tx1"/>
                </a:solidFill>
                <a:latin typeface="+mn-lt"/>
                <a:cs typeface="CiscoSans Extra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a:solidFill>
                  <a:schemeClr val="tx2"/>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25032746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ullet_Title only">
    <p:spTree>
      <p:nvGrpSpPr>
        <p:cNvPr id="1" name=""/>
        <p:cNvGrpSpPr/>
        <p:nvPr/>
      </p:nvGrpSpPr>
      <p:grpSpPr>
        <a:xfrm>
          <a:off x="0" y="0"/>
          <a:ext cx="0" cy="0"/>
          <a:chOff x="0" y="0"/>
          <a:chExt cx="0" cy="0"/>
        </a:xfrm>
      </p:grpSpPr>
      <p:sp>
        <p:nvSpPr>
          <p:cNvPr id="3"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defRPr sz="2800">
                <a:solidFill>
                  <a:schemeClr val="tx2"/>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1018431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10229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Title and Table">
    <p:spTree>
      <p:nvGrpSpPr>
        <p:cNvPr id="1" name=""/>
        <p:cNvGrpSpPr/>
        <p:nvPr/>
      </p:nvGrpSpPr>
      <p:grpSpPr>
        <a:xfrm>
          <a:off x="0" y="0"/>
          <a:ext cx="0" cy="0"/>
          <a:chOff x="0" y="0"/>
          <a:chExt cx="0" cy="0"/>
        </a:xfrm>
      </p:grpSpPr>
      <p:sp>
        <p:nvSpPr>
          <p:cNvPr id="12" name="Table Placeholder 11"/>
          <p:cNvSpPr>
            <a:spLocks noGrp="1"/>
          </p:cNvSpPr>
          <p:nvPr>
            <p:ph type="tbl" sz="quarter" idx="12"/>
          </p:nvPr>
        </p:nvSpPr>
        <p:spPr>
          <a:xfrm>
            <a:off x="533400" y="1347788"/>
            <a:ext cx="8115300" cy="2658728"/>
          </a:xfrm>
          <a:prstGeom prst="rect">
            <a:avLst/>
          </a:prstGeom>
        </p:spPr>
        <p:txBody>
          <a:bodyPr lIns="91420" tIns="45710" rIns="91420" bIns="45710">
            <a:noAutofit/>
          </a:bodyPr>
          <a:lstStyle>
            <a:lvl1pPr marL="0" indent="0" algn="ctr">
              <a:buNone/>
              <a:defRPr sz="2000" baseline="0">
                <a:solidFill>
                  <a:schemeClr val="tx1"/>
                </a:solidFill>
                <a:latin typeface="+mn-lt"/>
              </a:defRPr>
            </a:lvl1pPr>
          </a:lstStyle>
          <a:p>
            <a:pPr lvl="0"/>
            <a:r>
              <a:rPr lang="en-US" noProof="0"/>
              <a:t>Click icon to add table</a:t>
            </a:r>
            <a:endParaRPr lang="en-GB" noProof="0" dirty="0"/>
          </a:p>
        </p:txBody>
      </p:sp>
      <p:sp>
        <p:nvSpPr>
          <p:cNvPr id="6" name="Text Placeholder 9"/>
          <p:cNvSpPr>
            <a:spLocks noGrp="1"/>
          </p:cNvSpPr>
          <p:nvPr>
            <p:ph type="body" sz="quarter" idx="11"/>
          </p:nvPr>
        </p:nvSpPr>
        <p:spPr>
          <a:xfrm>
            <a:off x="437767" y="4148220"/>
            <a:ext cx="7180312" cy="326233"/>
          </a:xfrm>
          <a:prstGeom prst="rect">
            <a:avLst/>
          </a:prstGeom>
        </p:spPr>
        <p:txBody>
          <a:bodyPr wrap="square" lIns="91420" tIns="45710" rIns="91420" bIns="45710" anchor="b" anchorCtr="0">
            <a:noAutofit/>
          </a:bodyPr>
          <a:lstStyle>
            <a:lvl1pPr algn="l" defTabSz="603575">
              <a:lnSpc>
                <a:spcPct val="100000"/>
              </a:lnSpc>
              <a:spcBef>
                <a:spcPct val="50000"/>
              </a:spcBef>
              <a:buNone/>
              <a:defRPr sz="1400" b="0" i="0">
                <a:solidFill>
                  <a:schemeClr val="tx1"/>
                </a:solidFill>
                <a:latin typeface="+mn-lt"/>
                <a:cs typeface="CiscoSans ExtraLight"/>
              </a:defRPr>
            </a:lvl1pPr>
            <a:lvl2pPr>
              <a:buFont typeface="Arial" pitchFamily="34" charset="0"/>
              <a:buNone/>
              <a:defRPr sz="1100"/>
            </a:lvl2pPr>
            <a:lvl3pPr>
              <a:buFont typeface="Arial" pitchFamily="34" charset="0"/>
              <a:buNone/>
              <a:defRPr sz="1100"/>
            </a:lvl3pPr>
            <a:lvl4pPr>
              <a:buFont typeface="Arial" pitchFamily="34" charset="0"/>
              <a:buNone/>
              <a:defRPr sz="1100"/>
            </a:lvl4pPr>
            <a:lvl5pPr>
              <a:buFont typeface="Arial" pitchFamily="34" charset="0"/>
              <a:buNone/>
              <a:defRPr sz="1100"/>
            </a:lvl5pPr>
          </a:lstStyle>
          <a:p>
            <a:pPr lvl="0"/>
            <a:r>
              <a:rPr lang="en-US"/>
              <a:t>Edit Master text styles</a:t>
            </a:r>
          </a:p>
        </p:txBody>
      </p:sp>
      <p:sp>
        <p:nvSpPr>
          <p:cNvPr id="5"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a:solidFill>
                  <a:schemeClr val="tx2"/>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33404135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nd Chart">
    <p:spTree>
      <p:nvGrpSpPr>
        <p:cNvPr id="1" name=""/>
        <p:cNvGrpSpPr/>
        <p:nvPr/>
      </p:nvGrpSpPr>
      <p:grpSpPr>
        <a:xfrm>
          <a:off x="0" y="0"/>
          <a:ext cx="0" cy="0"/>
          <a:chOff x="0" y="0"/>
          <a:chExt cx="0" cy="0"/>
        </a:xfrm>
      </p:grpSpPr>
      <p:sp>
        <p:nvSpPr>
          <p:cNvPr id="6" name="Chart Placeholder 2"/>
          <p:cNvSpPr>
            <a:spLocks noGrp="1"/>
          </p:cNvSpPr>
          <p:nvPr>
            <p:ph type="chart" sz="quarter" idx="10"/>
          </p:nvPr>
        </p:nvSpPr>
        <p:spPr>
          <a:xfrm>
            <a:off x="533400" y="1201738"/>
            <a:ext cx="8115300" cy="2808287"/>
          </a:xfrm>
          <a:prstGeom prst="rect">
            <a:avLst/>
          </a:prstGeom>
        </p:spPr>
        <p:txBody>
          <a:bodyPr vert="horz" lIns="91420" tIns="45710" rIns="91420" bIns="45710">
            <a:noAutofit/>
          </a:bodyPr>
          <a:lstStyle>
            <a:lvl1pPr marL="0" indent="0" algn="ctr">
              <a:buNone/>
              <a:defRPr sz="2000" b="0" i="0">
                <a:solidFill>
                  <a:schemeClr val="tx1"/>
                </a:solidFill>
                <a:latin typeface="+mn-lt"/>
                <a:cs typeface="CiscoSans ExtraLight"/>
              </a:defRPr>
            </a:lvl1pPr>
          </a:lstStyle>
          <a:p>
            <a:pPr lvl="0"/>
            <a:r>
              <a:rPr lang="en-US" noProof="0"/>
              <a:t>Click icon to add chart</a:t>
            </a:r>
            <a:endParaRPr lang="en-US" noProof="0" dirty="0"/>
          </a:p>
        </p:txBody>
      </p:sp>
      <p:sp>
        <p:nvSpPr>
          <p:cNvPr id="7" name="Text Placeholder 9"/>
          <p:cNvSpPr>
            <a:spLocks noGrp="1"/>
          </p:cNvSpPr>
          <p:nvPr>
            <p:ph type="body" sz="quarter" idx="11"/>
          </p:nvPr>
        </p:nvSpPr>
        <p:spPr>
          <a:xfrm>
            <a:off x="437767" y="4148220"/>
            <a:ext cx="7180312" cy="326233"/>
          </a:xfrm>
          <a:prstGeom prst="rect">
            <a:avLst/>
          </a:prstGeom>
        </p:spPr>
        <p:txBody>
          <a:bodyPr wrap="square" lIns="91420" tIns="45710" rIns="91420" bIns="45710" anchor="b" anchorCtr="0">
            <a:noAutofit/>
          </a:bodyPr>
          <a:lstStyle>
            <a:lvl1pPr algn="l" defTabSz="603575">
              <a:lnSpc>
                <a:spcPct val="100000"/>
              </a:lnSpc>
              <a:spcBef>
                <a:spcPct val="50000"/>
              </a:spcBef>
              <a:buNone/>
              <a:defRPr sz="1400" b="0" i="0">
                <a:solidFill>
                  <a:schemeClr val="tx1"/>
                </a:solidFill>
                <a:latin typeface="+mn-lt"/>
                <a:cs typeface="CiscoSans ExtraLight"/>
              </a:defRPr>
            </a:lvl1pPr>
            <a:lvl2pPr>
              <a:buFont typeface="Arial" pitchFamily="34" charset="0"/>
              <a:buNone/>
              <a:defRPr sz="1100"/>
            </a:lvl2pPr>
            <a:lvl3pPr>
              <a:buFont typeface="Arial" pitchFamily="34" charset="0"/>
              <a:buNone/>
              <a:defRPr sz="1100"/>
            </a:lvl3pPr>
            <a:lvl4pPr>
              <a:buFont typeface="Arial" pitchFamily="34" charset="0"/>
              <a:buNone/>
              <a:defRPr sz="1100"/>
            </a:lvl4pPr>
            <a:lvl5pPr>
              <a:buFont typeface="Arial" pitchFamily="34" charset="0"/>
              <a:buNone/>
              <a:defRPr sz="1100"/>
            </a:lvl5pPr>
          </a:lstStyle>
          <a:p>
            <a:pPr lvl="0"/>
            <a:r>
              <a:rPr lang="en-US"/>
              <a:t>Edit Master text styles</a:t>
            </a:r>
          </a:p>
        </p:txBody>
      </p:sp>
      <p:sp>
        <p:nvSpPr>
          <p:cNvPr id="5"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2"/>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22559459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tx1"/>
                </a:solidFill>
                <a:latin typeface="+mn-lt"/>
                <a:cs typeface="CiscoSans ExtraLight"/>
              </a:defRPr>
            </a:lvl1pPr>
          </a:lstStyle>
          <a:p>
            <a:pPr lvl="0"/>
            <a:r>
              <a:rPr lang="en-US"/>
              <a:t>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2"/>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211745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Half_Page_Blank">
    <p:spTree>
      <p:nvGrpSpPr>
        <p:cNvPr id="1" name=""/>
        <p:cNvGrpSpPr/>
        <p:nvPr/>
      </p:nvGrpSpPr>
      <p:grpSpPr>
        <a:xfrm>
          <a:off x="0" y="0"/>
          <a:ext cx="0" cy="0"/>
          <a:chOff x="0" y="0"/>
          <a:chExt cx="0" cy="0"/>
        </a:xfrm>
      </p:grpSpPr>
      <p:sp>
        <p:nvSpPr>
          <p:cNvPr id="5" name="Rectangle 4"/>
          <p:cNvSpPr/>
          <p:nvPr userDrawn="1"/>
        </p:nvSpPr>
        <p:spPr>
          <a:xfrm>
            <a:off x="0" y="0"/>
            <a:ext cx="4580092"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endParaRPr>
          </a:p>
        </p:txBody>
      </p:sp>
      <p:sp>
        <p:nvSpPr>
          <p:cNvPr id="4" name="Text Placeholder 3"/>
          <p:cNvSpPr>
            <a:spLocks noGrp="1"/>
          </p:cNvSpPr>
          <p:nvPr>
            <p:ph type="body" sz="quarter" idx="10" hasCustomPrompt="1"/>
          </p:nvPr>
        </p:nvSpPr>
        <p:spPr>
          <a:xfrm>
            <a:off x="462301" y="1665182"/>
            <a:ext cx="3662024" cy="2925868"/>
          </a:xfrm>
          <a:prstGeom prst="rect">
            <a:avLst/>
          </a:prstGeom>
        </p:spPr>
        <p:txBody>
          <a:bodyPr lIns="91420" tIns="45710" rIns="91420" bIns="45710">
            <a:noAutofit/>
          </a:bodyPr>
          <a:lstStyle>
            <a:lvl1pPr marL="174625" indent="-117475">
              <a:lnSpc>
                <a:spcPct val="95000"/>
              </a:lnSpc>
              <a:spcBef>
                <a:spcPts val="1110"/>
              </a:spcBef>
              <a:buClr>
                <a:schemeClr val="tx2"/>
              </a:buClr>
              <a:buSzPct val="60000"/>
              <a:buFont typeface="Arial"/>
              <a:buChar char="•"/>
              <a:defRPr sz="2000" b="0" i="0">
                <a:solidFill>
                  <a:schemeClr val="bg1">
                    <a:lumMod val="75000"/>
                  </a:schemeClr>
                </a:solidFill>
                <a:latin typeface="+mn-lt"/>
                <a:ea typeface="CiscoSansTT Thin" charset="0"/>
                <a:cs typeface="CiscoSansTT Thin" charset="0"/>
              </a:defRPr>
            </a:lvl1pPr>
            <a:lvl2pPr marL="288925" indent="-114300">
              <a:lnSpc>
                <a:spcPct val="95000"/>
              </a:lnSpc>
              <a:spcBef>
                <a:spcPts val="450"/>
              </a:spcBef>
              <a:buClr>
                <a:schemeClr val="tx2"/>
              </a:buClr>
              <a:buSzPct val="60000"/>
              <a:buFont typeface="Arial"/>
              <a:buChar char="•"/>
              <a:defRPr sz="1800" b="0" i="0">
                <a:solidFill>
                  <a:schemeClr val="bg1">
                    <a:lumMod val="75000"/>
                  </a:schemeClr>
                </a:solidFill>
                <a:latin typeface="+mn-lt"/>
                <a:ea typeface="CiscoSansTT Thin" charset="0"/>
                <a:cs typeface="CiscoSansTT Thin" charset="0"/>
              </a:defRPr>
            </a:lvl2pPr>
            <a:lvl3pPr marL="403225" indent="-114300">
              <a:buClr>
                <a:schemeClr val="tx2"/>
              </a:buClr>
              <a:buSzPct val="60000"/>
              <a:buFont typeface="Arial"/>
              <a:buChar char="•"/>
              <a:defRPr sz="1600" b="0" i="0">
                <a:solidFill>
                  <a:schemeClr val="bg1">
                    <a:lumMod val="75000"/>
                  </a:schemeClr>
                </a:solidFill>
                <a:latin typeface="+mn-lt"/>
                <a:ea typeface="CiscoSansTT Thin" charset="0"/>
                <a:cs typeface="CiscoSansTT Thin" charset="0"/>
              </a:defRPr>
            </a:lvl3pPr>
            <a:lvl4pPr marL="517525" indent="-114300">
              <a:buClr>
                <a:schemeClr val="tx2"/>
              </a:buClr>
              <a:buSzPct val="60000"/>
              <a:buFont typeface="Arial"/>
              <a:buChar char="•"/>
              <a:defRPr sz="1400" b="0" i="0">
                <a:solidFill>
                  <a:schemeClr val="bg1">
                    <a:lumMod val="75000"/>
                  </a:schemeClr>
                </a:solidFill>
                <a:latin typeface="+mn-lt"/>
                <a:ea typeface="CiscoSansTT Thin" charset="0"/>
                <a:cs typeface="CiscoSansTT Thin" charset="0"/>
              </a:defRPr>
            </a:lvl4pPr>
            <a:lvl5pPr marL="631825" indent="-114300">
              <a:buClr>
                <a:schemeClr val="tx2"/>
              </a:buClr>
              <a:buSzPct val="60000"/>
              <a:buFont typeface="Arial"/>
              <a:buChar char="•"/>
              <a:defRPr sz="1200" b="0" i="0">
                <a:solidFill>
                  <a:schemeClr val="bg1">
                    <a:lumMod val="75000"/>
                  </a:schemeClr>
                </a:solidFill>
                <a:latin typeface="+mn-lt"/>
                <a:ea typeface="CiscoSansTT Thin" charset="0"/>
                <a:cs typeface="CiscoSansTT Thin" charset="0"/>
              </a:defRPr>
            </a:lvl5pPr>
          </a:lstStyle>
          <a:p>
            <a:pPr lvl="0"/>
            <a:r>
              <a:rPr lang="en-GB" dirty="0"/>
              <a:t>First level</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Title Placeholder 5"/>
          <p:cNvSpPr>
            <a:spLocks noGrp="1"/>
          </p:cNvSpPr>
          <p:nvPr>
            <p:ph type="title"/>
          </p:nvPr>
        </p:nvSpPr>
        <p:spPr bwMode="auto">
          <a:xfrm>
            <a:off x="437766" y="341313"/>
            <a:ext cx="3686559"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defRPr sz="3200">
                <a:solidFill>
                  <a:schemeClr val="bg1">
                    <a:lumMod val="75000"/>
                  </a:schemeClr>
                </a:solidFill>
              </a:defRPr>
            </a:lvl1pPr>
          </a:lstStyle>
          <a:p>
            <a:pPr lvl="0"/>
            <a:r>
              <a:rPr lang="en-US"/>
              <a:t>Click to edit Master title style</a:t>
            </a:r>
            <a:endParaRPr lang="en-GB" dirty="0"/>
          </a:p>
        </p:txBody>
      </p:sp>
      <p:sp>
        <p:nvSpPr>
          <p:cNvPr id="8" name="Rectangle 4"/>
          <p:cNvSpPr>
            <a:spLocks noChangeArrowheads="1"/>
          </p:cNvSpPr>
          <p:nvPr userDrawn="1"/>
        </p:nvSpPr>
        <p:spPr bwMode="ltGray">
          <a:xfrm>
            <a:off x="477679" y="4741653"/>
            <a:ext cx="3568392"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472642203"/>
      </p:ext>
    </p:extLst>
  </p:cSld>
  <p:clrMapOvr>
    <a:masterClrMapping/>
  </p:clrMapOvr>
  <p:extLst>
    <p:ext uri="{DCECCB84-F9BA-43D5-87BE-67443E8EF086}">
      <p15:sldGuideLst xmlns:p15="http://schemas.microsoft.com/office/powerpoint/2012/main">
        <p15:guide id="2" pos="288">
          <p15:clr>
            <a:srgbClr val="FBAE40"/>
          </p15:clr>
        </p15:guide>
        <p15:guide id="3" pos="259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Half_Page_Text">
    <p:spTree>
      <p:nvGrpSpPr>
        <p:cNvPr id="1" name=""/>
        <p:cNvGrpSpPr/>
        <p:nvPr/>
      </p:nvGrpSpPr>
      <p:grpSpPr>
        <a:xfrm>
          <a:off x="0" y="0"/>
          <a:ext cx="0" cy="0"/>
          <a:chOff x="0" y="0"/>
          <a:chExt cx="0" cy="0"/>
        </a:xfrm>
      </p:grpSpPr>
      <p:sp>
        <p:nvSpPr>
          <p:cNvPr id="4" name="Rectangle 3"/>
          <p:cNvSpPr/>
          <p:nvPr userDrawn="1"/>
        </p:nvSpPr>
        <p:spPr>
          <a:xfrm>
            <a:off x="0" y="0"/>
            <a:ext cx="4580092"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latin typeface="+mj-lt"/>
            </a:endParaRPr>
          </a:p>
        </p:txBody>
      </p:sp>
      <p:sp>
        <p:nvSpPr>
          <p:cNvPr id="3" name="Title Placeholder 5"/>
          <p:cNvSpPr>
            <a:spLocks noGrp="1"/>
          </p:cNvSpPr>
          <p:nvPr>
            <p:ph type="title"/>
          </p:nvPr>
        </p:nvSpPr>
        <p:spPr bwMode="auto">
          <a:xfrm>
            <a:off x="419100" y="1657350"/>
            <a:ext cx="3827463" cy="1828800"/>
          </a:xfrm>
          <a:prstGeom prst="rect">
            <a:avLst/>
          </a:prstGeom>
          <a:noFill/>
          <a:ln>
            <a:noFill/>
          </a:ln>
          <a:extLs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5000"/>
              </a:lnSpc>
              <a:spcBef>
                <a:spcPct val="0"/>
              </a:spcBef>
              <a:spcAft>
                <a:spcPct val="0"/>
              </a:spcAft>
              <a:defRPr lang="en-GB" sz="3200" kern="1200" dirty="0">
                <a:solidFill>
                  <a:schemeClr val="bg1">
                    <a:lumMod val="75000"/>
                  </a:schemeClr>
                </a:solidFill>
                <a:latin typeface="+mj-lt"/>
                <a:ea typeface="ＭＳ Ｐゴシック" charset="0"/>
                <a:cs typeface="Tipo de letra del sistema Fina" charset="0"/>
              </a:defRPr>
            </a:lvl1pPr>
          </a:lstStyle>
          <a:p>
            <a:pPr lvl="0"/>
            <a:r>
              <a:rPr lang="en-US"/>
              <a:t>Click to edit Master title style</a:t>
            </a:r>
            <a:endParaRPr lang="en-GB" dirty="0"/>
          </a:p>
        </p:txBody>
      </p:sp>
      <p:sp>
        <p:nvSpPr>
          <p:cNvPr id="6" name="Text Placeholder 5"/>
          <p:cNvSpPr>
            <a:spLocks noGrp="1"/>
          </p:cNvSpPr>
          <p:nvPr>
            <p:ph type="body" sz="quarter" idx="10"/>
          </p:nvPr>
        </p:nvSpPr>
        <p:spPr>
          <a:xfrm>
            <a:off x="5097463" y="531812"/>
            <a:ext cx="3551237" cy="4059237"/>
          </a:xfrm>
          <a:prstGeom prst="rect">
            <a:avLst/>
          </a:prstGeom>
        </p:spPr>
        <p:txBody>
          <a:bodyPr lIns="0" rIns="0" anchor="ctr" anchorCtr="0"/>
          <a:lstStyle>
            <a:lvl1pPr marL="169863" indent="-169863">
              <a:lnSpc>
                <a:spcPct val="100000"/>
              </a:lnSpc>
              <a:buClr>
                <a:schemeClr val="tx1"/>
              </a:buClr>
              <a:buSzPct val="60000"/>
              <a:buFont typeface="Arial" panose="020B0604020202020204" pitchFamily="34" charset="0"/>
              <a:buChar char="•"/>
              <a:tabLst>
                <a:tab pos="228600" algn="l"/>
              </a:tabLst>
              <a:defRPr sz="2400"/>
            </a:lvl1pPr>
            <a:lvl2pPr marL="346075" indent="-171450">
              <a:lnSpc>
                <a:spcPct val="100000"/>
              </a:lnSpc>
              <a:buClr>
                <a:schemeClr val="tx1"/>
              </a:buClr>
              <a:buSzPct val="60000"/>
              <a:buFont typeface="Arial" panose="020B0604020202020204" pitchFamily="34" charset="0"/>
              <a:buChar char="•"/>
              <a:defRPr sz="2400"/>
            </a:lvl2pPr>
            <a:lvl3pPr marL="457200" indent="-117475">
              <a:lnSpc>
                <a:spcPct val="100000"/>
              </a:lnSpc>
              <a:buClr>
                <a:schemeClr val="tx1"/>
              </a:buClr>
              <a:buSzPct val="60000"/>
              <a:buFont typeface="Arial" panose="020B0604020202020204" pitchFamily="34" charset="0"/>
              <a:buChar char="•"/>
              <a:defRPr sz="2000"/>
            </a:lvl3pPr>
            <a:lvl4pPr marL="574675" indent="-117475">
              <a:lnSpc>
                <a:spcPct val="100000"/>
              </a:lnSpc>
              <a:buClr>
                <a:schemeClr val="tx1"/>
              </a:buClr>
              <a:buSzPct val="60000"/>
              <a:buFont typeface="Arial" panose="020B0604020202020204" pitchFamily="34" charset="0"/>
              <a:buChar char="•"/>
              <a:tabLst/>
              <a:defRPr sz="1800"/>
            </a:lvl4pPr>
            <a:lvl5pPr marL="744538" indent="-112713">
              <a:lnSpc>
                <a:spcPct val="100000"/>
              </a:lnSpc>
              <a:buClr>
                <a:schemeClr val="tx1"/>
              </a:buClr>
              <a:buSzPct val="60000"/>
              <a:buFont typeface="Arial" panose="020B0604020202020204" pitchFamily="34" charset="0"/>
              <a:buChar cha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4"/>
          <p:cNvSpPr>
            <a:spLocks noChangeArrowheads="1"/>
          </p:cNvSpPr>
          <p:nvPr userDrawn="1"/>
        </p:nvSpPr>
        <p:spPr bwMode="ltGray">
          <a:xfrm>
            <a:off x="477679" y="4741653"/>
            <a:ext cx="3466792"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3007413924"/>
      </p:ext>
    </p:extLst>
  </p:cSld>
  <p:clrMapOvr>
    <a:masterClrMapping/>
  </p:clrMapOvr>
  <p:extLst>
    <p:ext uri="{DCECCB84-F9BA-43D5-87BE-67443E8EF086}">
      <p15:sldGuideLst xmlns:p15="http://schemas.microsoft.com/office/powerpoint/2012/main">
        <p15:guide id="1" orient="horz" pos="1044">
          <p15:clr>
            <a:srgbClr val="FBAE40"/>
          </p15:clr>
        </p15:guide>
        <p15:guide id="2" pos="264">
          <p15:clr>
            <a:srgbClr val="FBAE40"/>
          </p15:clr>
        </p15:guide>
        <p15:guide id="3" orient="horz" pos="2196">
          <p15:clr>
            <a:srgbClr val="FBAE40"/>
          </p15:clr>
        </p15:guide>
        <p15:guide id="4" pos="267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Half_Page_Text_2 column">
    <p:spTree>
      <p:nvGrpSpPr>
        <p:cNvPr id="1" name=""/>
        <p:cNvGrpSpPr/>
        <p:nvPr/>
      </p:nvGrpSpPr>
      <p:grpSpPr>
        <a:xfrm>
          <a:off x="0" y="0"/>
          <a:ext cx="0" cy="0"/>
          <a:chOff x="0" y="0"/>
          <a:chExt cx="0" cy="0"/>
        </a:xfrm>
      </p:grpSpPr>
      <p:sp>
        <p:nvSpPr>
          <p:cNvPr id="4" name="Rectangle 3"/>
          <p:cNvSpPr/>
          <p:nvPr userDrawn="1"/>
        </p:nvSpPr>
        <p:spPr>
          <a:xfrm>
            <a:off x="0" y="0"/>
            <a:ext cx="4580092"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latin typeface="+mj-lt"/>
            </a:endParaRPr>
          </a:p>
        </p:txBody>
      </p:sp>
      <p:sp>
        <p:nvSpPr>
          <p:cNvPr id="3" name="Title Placeholder 5"/>
          <p:cNvSpPr>
            <a:spLocks noGrp="1"/>
          </p:cNvSpPr>
          <p:nvPr>
            <p:ph type="title"/>
          </p:nvPr>
        </p:nvSpPr>
        <p:spPr bwMode="auto">
          <a:xfrm>
            <a:off x="437766" y="510540"/>
            <a:ext cx="3808797" cy="655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t" anchorCtr="0" compatLnSpc="1">
            <a:prstTxWarp prst="textNoShape">
              <a:avLst/>
            </a:prstTxWarp>
          </a:bodyPr>
          <a:lstStyle>
            <a:lvl1pPr algn="l" defTabSz="684213" rtl="0" eaLnBrk="1" fontAlgn="base" hangingPunct="1">
              <a:lnSpc>
                <a:spcPct val="85000"/>
              </a:lnSpc>
              <a:spcBef>
                <a:spcPct val="0"/>
              </a:spcBef>
              <a:spcAft>
                <a:spcPct val="0"/>
              </a:spcAft>
              <a:defRPr lang="en-GB" sz="3200" kern="1200" dirty="0">
                <a:solidFill>
                  <a:schemeClr val="bg1">
                    <a:lumMod val="75000"/>
                  </a:schemeClr>
                </a:solidFill>
                <a:latin typeface="+mj-lt"/>
                <a:ea typeface="ＭＳ Ｐゴシック" charset="0"/>
                <a:cs typeface="Tipo de letra del sistema Fina" charset="0"/>
              </a:defRPr>
            </a:lvl1pPr>
          </a:lstStyle>
          <a:p>
            <a:pPr lvl="0"/>
            <a:r>
              <a:rPr lang="en-US"/>
              <a:t>Click to edit Master title style</a:t>
            </a:r>
            <a:endParaRPr lang="en-GB" dirty="0"/>
          </a:p>
        </p:txBody>
      </p:sp>
      <p:sp>
        <p:nvSpPr>
          <p:cNvPr id="6" name="Text Placeholder 5"/>
          <p:cNvSpPr>
            <a:spLocks noGrp="1"/>
          </p:cNvSpPr>
          <p:nvPr>
            <p:ph type="body" sz="quarter" idx="10"/>
          </p:nvPr>
        </p:nvSpPr>
        <p:spPr>
          <a:xfrm>
            <a:off x="5097463" y="510540"/>
            <a:ext cx="3551237" cy="4080510"/>
          </a:xfrm>
          <a:prstGeom prst="rect">
            <a:avLst/>
          </a:prstGeom>
        </p:spPr>
        <p:txBody>
          <a:bodyPr lIns="0" rIns="0"/>
          <a:lstStyle>
            <a:lvl1pPr marL="114300" indent="-114300">
              <a:lnSpc>
                <a:spcPct val="100000"/>
              </a:lnSpc>
              <a:buClr>
                <a:schemeClr val="tx1"/>
              </a:buClr>
              <a:buSzPct val="60000"/>
              <a:defRPr sz="2000"/>
            </a:lvl1pPr>
            <a:lvl2pPr marL="228600" indent="-114300">
              <a:lnSpc>
                <a:spcPct val="100000"/>
              </a:lnSpc>
              <a:buClr>
                <a:schemeClr val="tx1"/>
              </a:buClr>
              <a:buSzPct val="60000"/>
              <a:defRPr sz="2000"/>
            </a:lvl2pPr>
            <a:lvl3pPr marL="342900" indent="-114300">
              <a:lnSpc>
                <a:spcPct val="100000"/>
              </a:lnSpc>
              <a:buClr>
                <a:schemeClr val="tx1"/>
              </a:buClr>
              <a:buSzPct val="60000"/>
              <a:defRPr sz="1800"/>
            </a:lvl3pPr>
            <a:lvl4pPr marL="457200" indent="-123825">
              <a:lnSpc>
                <a:spcPct val="100000"/>
              </a:lnSpc>
              <a:buClr>
                <a:schemeClr val="tx1"/>
              </a:buClr>
              <a:buSzPct val="60000"/>
              <a:defRPr sz="1600"/>
            </a:lvl4pPr>
            <a:lvl5pPr marL="574675" indent="-117475">
              <a:lnSpc>
                <a:spcPct val="100000"/>
              </a:lnSpc>
              <a:buClr>
                <a:schemeClr val="tx1"/>
              </a:buClr>
              <a:buSzPct val="60000"/>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p:cNvSpPr>
            <a:spLocks noGrp="1"/>
          </p:cNvSpPr>
          <p:nvPr>
            <p:ph type="body" sz="quarter" idx="11"/>
          </p:nvPr>
        </p:nvSpPr>
        <p:spPr>
          <a:xfrm>
            <a:off x="437766" y="1659842"/>
            <a:ext cx="3808797" cy="2931208"/>
          </a:xfrm>
          <a:prstGeom prst="rect">
            <a:avLst/>
          </a:prstGeom>
        </p:spPr>
        <p:txBody>
          <a:bodyPr/>
          <a:lstStyle>
            <a:lvl1pPr marL="114300" indent="-114300">
              <a:buClr>
                <a:schemeClr val="tx2"/>
              </a:buClr>
              <a:buSzPct val="60000"/>
              <a:defRPr lang="en-US" sz="2000" kern="1200" dirty="0" smtClean="0">
                <a:solidFill>
                  <a:schemeClr val="bg1">
                    <a:lumMod val="75000"/>
                  </a:schemeClr>
                </a:solidFill>
                <a:latin typeface="+mn-lt"/>
                <a:ea typeface="ＭＳ Ｐゴシック" charset="0"/>
                <a:cs typeface="CiscoSans"/>
              </a:defRPr>
            </a:lvl1pPr>
            <a:lvl2pPr marL="228600" indent="-114300">
              <a:buClr>
                <a:schemeClr val="tx2"/>
              </a:buClr>
              <a:buSzPct val="60000"/>
              <a:defRPr sz="2000">
                <a:solidFill>
                  <a:schemeClr val="bg1">
                    <a:lumMod val="75000"/>
                  </a:schemeClr>
                </a:solidFill>
              </a:defRPr>
            </a:lvl2pPr>
            <a:lvl3pPr marL="342900" indent="-114300">
              <a:buClr>
                <a:schemeClr val="tx2"/>
              </a:buClr>
              <a:buSzPct val="60000"/>
              <a:defRPr sz="1800">
                <a:solidFill>
                  <a:schemeClr val="bg1">
                    <a:lumMod val="75000"/>
                  </a:schemeClr>
                </a:solidFill>
              </a:defRPr>
            </a:lvl3pPr>
            <a:lvl4pPr marL="457200" indent="-123825">
              <a:buClr>
                <a:schemeClr val="tx2"/>
              </a:buClr>
              <a:buSzPct val="60000"/>
              <a:defRPr sz="1600">
                <a:solidFill>
                  <a:schemeClr val="bg1">
                    <a:lumMod val="75000"/>
                  </a:schemeClr>
                </a:solidFill>
              </a:defRPr>
            </a:lvl4pPr>
            <a:lvl5pPr marL="574675" indent="-117475">
              <a:buClr>
                <a:schemeClr val="tx2"/>
              </a:buClr>
              <a:buSzPct val="60000"/>
              <a:defRPr sz="1600">
                <a:solidFill>
                  <a:schemeClr val="bg1">
                    <a:lumMod val="7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4"/>
          <p:cNvSpPr>
            <a:spLocks noChangeArrowheads="1"/>
          </p:cNvSpPr>
          <p:nvPr userDrawn="1"/>
        </p:nvSpPr>
        <p:spPr bwMode="ltGray">
          <a:xfrm>
            <a:off x="477678" y="4741653"/>
            <a:ext cx="3359215"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926469318"/>
      </p:ext>
    </p:extLst>
  </p:cSld>
  <p:clrMapOvr>
    <a:masterClrMapping/>
  </p:clrMapOvr>
  <p:extLst>
    <p:ext uri="{DCECCB84-F9BA-43D5-87BE-67443E8EF086}">
      <p15:sldGuideLst xmlns:p15="http://schemas.microsoft.com/office/powerpoint/2012/main">
        <p15:guide id="4" pos="267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Half_Page_Picture_Caption">
    <p:spTree>
      <p:nvGrpSpPr>
        <p:cNvPr id="1" name=""/>
        <p:cNvGrpSpPr/>
        <p:nvPr/>
      </p:nvGrpSpPr>
      <p:grpSpPr>
        <a:xfrm>
          <a:off x="0" y="0"/>
          <a:ext cx="0" cy="0"/>
          <a:chOff x="0" y="0"/>
          <a:chExt cx="0" cy="0"/>
        </a:xfrm>
      </p:grpSpPr>
      <p:sp>
        <p:nvSpPr>
          <p:cNvPr id="4" name="Rectangle 3"/>
          <p:cNvSpPr/>
          <p:nvPr userDrawn="1"/>
        </p:nvSpPr>
        <p:spPr>
          <a:xfrm>
            <a:off x="0" y="0"/>
            <a:ext cx="4580092"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3" name="Title Placeholder 5"/>
          <p:cNvSpPr>
            <a:spLocks noGrp="1"/>
          </p:cNvSpPr>
          <p:nvPr>
            <p:ph type="title"/>
          </p:nvPr>
        </p:nvSpPr>
        <p:spPr bwMode="auto">
          <a:xfrm>
            <a:off x="437766" y="1659731"/>
            <a:ext cx="3808797" cy="1824038"/>
          </a:xfrm>
          <a:prstGeom prst="rect">
            <a:avLst/>
          </a:prstGeom>
          <a:noFill/>
          <a:ln>
            <a:noFill/>
          </a:ln>
          <a:extLs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5000"/>
              </a:lnSpc>
              <a:spcBef>
                <a:spcPct val="0"/>
              </a:spcBef>
              <a:spcAft>
                <a:spcPct val="0"/>
              </a:spcAft>
              <a:defRPr lang="en-GB" sz="3200" kern="1200" dirty="0">
                <a:solidFill>
                  <a:schemeClr val="bg1">
                    <a:lumMod val="75000"/>
                  </a:schemeClr>
                </a:solidFill>
                <a:latin typeface="+mj-lt"/>
                <a:ea typeface="ＭＳ Ｐゴシック" charset="0"/>
                <a:cs typeface="Tipo de letra del sistema Fina" charset="0"/>
              </a:defRPr>
            </a:lvl1pPr>
          </a:lstStyle>
          <a:p>
            <a:pPr lvl="0"/>
            <a:r>
              <a:rPr lang="en-US"/>
              <a:t>Click to edit Master title style</a:t>
            </a:r>
            <a:endParaRPr lang="en-GB" dirty="0"/>
          </a:p>
        </p:txBody>
      </p:sp>
      <p:sp>
        <p:nvSpPr>
          <p:cNvPr id="7" name="Picture Placeholder 6"/>
          <p:cNvSpPr>
            <a:spLocks noGrp="1"/>
          </p:cNvSpPr>
          <p:nvPr>
            <p:ph type="pic" sz="quarter" idx="10"/>
          </p:nvPr>
        </p:nvSpPr>
        <p:spPr>
          <a:xfrm>
            <a:off x="5089525" y="531813"/>
            <a:ext cx="3559175" cy="3364846"/>
          </a:xfrm>
          <a:prstGeom prst="rect">
            <a:avLst/>
          </a:prstGeom>
        </p:spPr>
        <p:txBody>
          <a:bodyPr anchor="ctr" anchorCtr="0"/>
          <a:lstStyle>
            <a:lvl1pPr marL="0" indent="0" algn="ctr">
              <a:buNone/>
              <a:defRPr/>
            </a:lvl1pPr>
          </a:lstStyle>
          <a:p>
            <a:r>
              <a:rPr lang="en-US"/>
              <a:t>Click icon to add picture</a:t>
            </a:r>
            <a:endParaRPr lang="en-US" dirty="0"/>
          </a:p>
        </p:txBody>
      </p:sp>
      <p:sp>
        <p:nvSpPr>
          <p:cNvPr id="9" name="Text Placeholder 8"/>
          <p:cNvSpPr>
            <a:spLocks noGrp="1"/>
          </p:cNvSpPr>
          <p:nvPr>
            <p:ph type="body" sz="quarter" idx="11"/>
          </p:nvPr>
        </p:nvSpPr>
        <p:spPr>
          <a:xfrm>
            <a:off x="5089525" y="4062350"/>
            <a:ext cx="3559175" cy="525145"/>
          </a:xfrm>
          <a:prstGeom prst="rect">
            <a:avLst/>
          </a:prstGeom>
        </p:spPr>
        <p:txBody>
          <a:bodyPr lIns="0" tIns="0" rIns="0" bIns="0"/>
          <a:lstStyle>
            <a:lvl1pPr marL="0" indent="0">
              <a:buNone/>
              <a:defRPr sz="1400"/>
            </a:lvl1pPr>
          </a:lstStyle>
          <a:p>
            <a:pPr lvl="0"/>
            <a:r>
              <a:rPr lang="en-US"/>
              <a:t>Edit Master text styles</a:t>
            </a:r>
          </a:p>
        </p:txBody>
      </p:sp>
      <p:sp>
        <p:nvSpPr>
          <p:cNvPr id="10" name="Rectangle 4"/>
          <p:cNvSpPr>
            <a:spLocks noChangeArrowheads="1"/>
          </p:cNvSpPr>
          <p:nvPr userDrawn="1"/>
        </p:nvSpPr>
        <p:spPr bwMode="ltGray">
          <a:xfrm>
            <a:off x="477679" y="4741653"/>
            <a:ext cx="2863168"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3394177267"/>
      </p:ext>
    </p:extLst>
  </p:cSld>
  <p:clrMapOvr>
    <a:masterClrMapping/>
  </p:clrMapOvr>
  <p:extLst>
    <p:ext uri="{DCECCB84-F9BA-43D5-87BE-67443E8EF086}">
      <p15:sldGuideLst xmlns:p15="http://schemas.microsoft.com/office/powerpoint/2012/main">
        <p15:guide id="1" orient="horz" pos="1044">
          <p15:clr>
            <a:srgbClr val="FBAE40"/>
          </p15:clr>
        </p15:guide>
        <p15:guide id="2" pos="264">
          <p15:clr>
            <a:srgbClr val="FBAE40"/>
          </p15:clr>
        </p15:guide>
        <p15:guide id="3" orient="horz" pos="2193">
          <p15:clr>
            <a:srgbClr val="FBAE40"/>
          </p15:clr>
        </p15:guide>
        <p15:guide id="4" pos="2675">
          <p15:clr>
            <a:srgbClr val="FBAE40"/>
          </p15:clr>
        </p15:guide>
        <p15:guide id="7" pos="320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Half_Page_Picture">
    <p:spTree>
      <p:nvGrpSpPr>
        <p:cNvPr id="1" name=""/>
        <p:cNvGrpSpPr/>
        <p:nvPr/>
      </p:nvGrpSpPr>
      <p:grpSpPr>
        <a:xfrm>
          <a:off x="0" y="0"/>
          <a:ext cx="0" cy="0"/>
          <a:chOff x="0" y="0"/>
          <a:chExt cx="0" cy="0"/>
        </a:xfrm>
      </p:grpSpPr>
      <p:sp>
        <p:nvSpPr>
          <p:cNvPr id="4" name="Rectangle 3"/>
          <p:cNvSpPr/>
          <p:nvPr userDrawn="1"/>
        </p:nvSpPr>
        <p:spPr>
          <a:xfrm>
            <a:off x="0" y="0"/>
            <a:ext cx="4580092"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2"/>
              </a:solidFill>
            </a:endParaRPr>
          </a:p>
        </p:txBody>
      </p:sp>
      <p:sp>
        <p:nvSpPr>
          <p:cNvPr id="3" name="Title Placeholder 5"/>
          <p:cNvSpPr>
            <a:spLocks noGrp="1"/>
          </p:cNvSpPr>
          <p:nvPr>
            <p:ph type="title"/>
          </p:nvPr>
        </p:nvSpPr>
        <p:spPr bwMode="auto">
          <a:xfrm>
            <a:off x="437766" y="1659731"/>
            <a:ext cx="3808797" cy="1824038"/>
          </a:xfrm>
          <a:prstGeom prst="rect">
            <a:avLst/>
          </a:prstGeom>
          <a:noFill/>
          <a:ln>
            <a:noFill/>
          </a:ln>
          <a:extLs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5000"/>
              </a:lnSpc>
              <a:spcBef>
                <a:spcPct val="0"/>
              </a:spcBef>
              <a:spcAft>
                <a:spcPct val="0"/>
              </a:spcAft>
              <a:defRPr lang="en-GB" sz="3200" kern="1200" dirty="0">
                <a:solidFill>
                  <a:schemeClr val="bg1">
                    <a:lumMod val="75000"/>
                  </a:schemeClr>
                </a:solidFill>
                <a:latin typeface="+mj-lt"/>
                <a:ea typeface="ＭＳ Ｐゴシック" charset="0"/>
                <a:cs typeface="Tipo de letra del sistema Fina" charset="0"/>
              </a:defRPr>
            </a:lvl1pPr>
          </a:lstStyle>
          <a:p>
            <a:pPr lvl="0"/>
            <a:r>
              <a:rPr lang="en-US"/>
              <a:t>Click to edit Master title style</a:t>
            </a:r>
            <a:endParaRPr lang="en-GB" dirty="0"/>
          </a:p>
        </p:txBody>
      </p:sp>
      <p:sp>
        <p:nvSpPr>
          <p:cNvPr id="7" name="Picture Placeholder 6"/>
          <p:cNvSpPr>
            <a:spLocks noGrp="1"/>
          </p:cNvSpPr>
          <p:nvPr>
            <p:ph type="pic" sz="quarter" idx="10"/>
          </p:nvPr>
        </p:nvSpPr>
        <p:spPr>
          <a:xfrm>
            <a:off x="5089525" y="531813"/>
            <a:ext cx="3559175" cy="4059236"/>
          </a:xfrm>
          <a:prstGeom prst="rect">
            <a:avLst/>
          </a:prstGeom>
        </p:spPr>
        <p:txBody>
          <a:bodyPr anchor="ctr" anchorCtr="0"/>
          <a:lstStyle>
            <a:lvl1pPr marL="0" indent="0" algn="ctr">
              <a:buNone/>
              <a:defRPr/>
            </a:lvl1pPr>
          </a:lstStyle>
          <a:p>
            <a:r>
              <a:rPr lang="en-US"/>
              <a:t>Click icon to add picture</a:t>
            </a:r>
            <a:endParaRPr lang="en-US" dirty="0"/>
          </a:p>
        </p:txBody>
      </p:sp>
      <p:sp>
        <p:nvSpPr>
          <p:cNvPr id="8" name="Rectangle 4"/>
          <p:cNvSpPr>
            <a:spLocks noChangeArrowheads="1"/>
          </p:cNvSpPr>
          <p:nvPr userDrawn="1"/>
        </p:nvSpPr>
        <p:spPr bwMode="ltGray">
          <a:xfrm>
            <a:off x="477679" y="4741653"/>
            <a:ext cx="3263592"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632878341"/>
      </p:ext>
    </p:extLst>
  </p:cSld>
  <p:clrMapOvr>
    <a:masterClrMapping/>
  </p:clrMapOvr>
  <p:extLst>
    <p:ext uri="{DCECCB84-F9BA-43D5-87BE-67443E8EF086}">
      <p15:sldGuideLst xmlns:p15="http://schemas.microsoft.com/office/powerpoint/2012/main">
        <p15:guide id="1" orient="horz" pos="1044">
          <p15:clr>
            <a:srgbClr val="FBAE40"/>
          </p15:clr>
        </p15:guide>
        <p15:guide id="2" pos="264">
          <p15:clr>
            <a:srgbClr val="FBAE40"/>
          </p15:clr>
        </p15:guide>
        <p15:guide id="3" orient="horz" pos="2193">
          <p15:clr>
            <a:srgbClr val="FBAE40"/>
          </p15:clr>
        </p15:guide>
        <p15:guide id="4" pos="2675">
          <p15:clr>
            <a:srgbClr val="FBAE40"/>
          </p15:clr>
        </p15:guide>
        <p15:guide id="7" pos="320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Half_Page_Headline Only">
    <p:spTree>
      <p:nvGrpSpPr>
        <p:cNvPr id="1" name=""/>
        <p:cNvGrpSpPr/>
        <p:nvPr/>
      </p:nvGrpSpPr>
      <p:grpSpPr>
        <a:xfrm>
          <a:off x="0" y="0"/>
          <a:ext cx="0" cy="0"/>
          <a:chOff x="0" y="0"/>
          <a:chExt cx="0" cy="0"/>
        </a:xfrm>
      </p:grpSpPr>
      <p:sp>
        <p:nvSpPr>
          <p:cNvPr id="4" name="Rectangle 3"/>
          <p:cNvSpPr/>
          <p:nvPr userDrawn="1"/>
        </p:nvSpPr>
        <p:spPr>
          <a:xfrm>
            <a:off x="0" y="0"/>
            <a:ext cx="4580092"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bg1"/>
              </a:solidFill>
            </a:endParaRPr>
          </a:p>
        </p:txBody>
      </p:sp>
      <p:sp>
        <p:nvSpPr>
          <p:cNvPr id="3" name="Title Placeholder 5"/>
          <p:cNvSpPr>
            <a:spLocks noGrp="1"/>
          </p:cNvSpPr>
          <p:nvPr>
            <p:ph type="title"/>
          </p:nvPr>
        </p:nvSpPr>
        <p:spPr bwMode="auto">
          <a:xfrm>
            <a:off x="437766" y="1659731"/>
            <a:ext cx="3808797" cy="1824038"/>
          </a:xfrm>
          <a:prstGeom prst="rect">
            <a:avLst/>
          </a:prstGeom>
          <a:noFill/>
          <a:ln>
            <a:noFill/>
          </a:ln>
          <a:extLs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5000"/>
              </a:lnSpc>
              <a:spcBef>
                <a:spcPct val="0"/>
              </a:spcBef>
              <a:spcAft>
                <a:spcPct val="0"/>
              </a:spcAft>
              <a:defRPr lang="en-GB" sz="3200" kern="1200" dirty="0">
                <a:solidFill>
                  <a:schemeClr val="bg1">
                    <a:lumMod val="75000"/>
                  </a:schemeClr>
                </a:solidFill>
                <a:latin typeface="+mj-lt"/>
                <a:ea typeface="ＭＳ Ｐゴシック" charset="0"/>
                <a:cs typeface="Tipo de letra del sistema Fina" charset="0"/>
              </a:defRPr>
            </a:lvl1pPr>
          </a:lstStyle>
          <a:p>
            <a:pPr lvl="0"/>
            <a:r>
              <a:rPr lang="en-US"/>
              <a:t>Click to edit Master title style</a:t>
            </a:r>
            <a:endParaRPr lang="en-GB" dirty="0"/>
          </a:p>
        </p:txBody>
      </p:sp>
      <p:sp>
        <p:nvSpPr>
          <p:cNvPr id="8" name="Rectangle 4"/>
          <p:cNvSpPr>
            <a:spLocks noChangeArrowheads="1"/>
          </p:cNvSpPr>
          <p:nvPr userDrawn="1"/>
        </p:nvSpPr>
        <p:spPr bwMode="ltGray">
          <a:xfrm>
            <a:off x="477678" y="4741653"/>
            <a:ext cx="2946839"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2086816333"/>
      </p:ext>
    </p:extLst>
  </p:cSld>
  <p:clrMapOvr>
    <a:masterClrMapping/>
  </p:clrMapOvr>
  <p:extLst>
    <p:ext uri="{DCECCB84-F9BA-43D5-87BE-67443E8EF086}">
      <p15:sldGuideLst xmlns:p15="http://schemas.microsoft.com/office/powerpoint/2012/main">
        <p15:guide id="1" orient="horz" pos="1044">
          <p15:clr>
            <a:srgbClr val="FBAE40"/>
          </p15:clr>
        </p15:guide>
        <p15:guide id="3" orient="horz" pos="2193">
          <p15:clr>
            <a:srgbClr val="FBAE40"/>
          </p15:clr>
        </p15:guide>
        <p15:guide id="4" pos="2675">
          <p15:clr>
            <a:srgbClr val="FBAE40"/>
          </p15:clr>
        </p15:guide>
        <p15:guide id="7" pos="320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_Half_Page_Picture_Full">
    <p:spTree>
      <p:nvGrpSpPr>
        <p:cNvPr id="1" name=""/>
        <p:cNvGrpSpPr/>
        <p:nvPr/>
      </p:nvGrpSpPr>
      <p:grpSpPr>
        <a:xfrm>
          <a:off x="0" y="0"/>
          <a:ext cx="0" cy="0"/>
          <a:chOff x="0" y="0"/>
          <a:chExt cx="0" cy="0"/>
        </a:xfrm>
      </p:grpSpPr>
      <p:sp>
        <p:nvSpPr>
          <p:cNvPr id="4" name="Rectangle 3"/>
          <p:cNvSpPr/>
          <p:nvPr userDrawn="1"/>
        </p:nvSpPr>
        <p:spPr>
          <a:xfrm>
            <a:off x="0" y="0"/>
            <a:ext cx="4580092"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3" name="Title Placeholder 5"/>
          <p:cNvSpPr>
            <a:spLocks noGrp="1"/>
          </p:cNvSpPr>
          <p:nvPr>
            <p:ph type="title"/>
          </p:nvPr>
        </p:nvSpPr>
        <p:spPr bwMode="auto">
          <a:xfrm>
            <a:off x="437766" y="1659731"/>
            <a:ext cx="3808797" cy="182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5000"/>
              </a:lnSpc>
              <a:spcBef>
                <a:spcPct val="0"/>
              </a:spcBef>
              <a:spcAft>
                <a:spcPct val="0"/>
              </a:spcAft>
              <a:defRPr lang="en-GB" sz="3200" kern="1200" dirty="0">
                <a:solidFill>
                  <a:schemeClr val="bg1">
                    <a:lumMod val="75000"/>
                  </a:schemeClr>
                </a:solidFill>
                <a:latin typeface="+mj-lt"/>
                <a:ea typeface="ＭＳ Ｐゴシック" charset="0"/>
                <a:cs typeface="Tipo de letra del sistema Fina" charset="0"/>
              </a:defRPr>
            </a:lvl1pPr>
          </a:lstStyle>
          <a:p>
            <a:pPr lvl="0"/>
            <a:r>
              <a:rPr lang="en-US"/>
              <a:t>Click to edit Master title style</a:t>
            </a:r>
            <a:endParaRPr lang="en-GB" dirty="0"/>
          </a:p>
        </p:txBody>
      </p:sp>
      <p:sp>
        <p:nvSpPr>
          <p:cNvPr id="7" name="Picture Placeholder 6"/>
          <p:cNvSpPr>
            <a:spLocks noGrp="1"/>
          </p:cNvSpPr>
          <p:nvPr>
            <p:ph type="pic" sz="quarter" idx="10"/>
          </p:nvPr>
        </p:nvSpPr>
        <p:spPr>
          <a:xfrm>
            <a:off x="4580092" y="0"/>
            <a:ext cx="4563907" cy="5143500"/>
          </a:xfrm>
          <a:prstGeom prst="rect">
            <a:avLst/>
          </a:prstGeom>
        </p:spPr>
        <p:txBody>
          <a:bodyPr anchor="ctr" anchorCtr="0"/>
          <a:lstStyle>
            <a:lvl1pPr marL="0" indent="0" algn="ctr">
              <a:buNone/>
              <a:defRPr/>
            </a:lvl1pPr>
          </a:lstStyle>
          <a:p>
            <a:r>
              <a:rPr lang="en-US"/>
              <a:t>Click icon to add picture</a:t>
            </a:r>
            <a:endParaRPr lang="en-US" dirty="0"/>
          </a:p>
        </p:txBody>
      </p:sp>
      <p:sp>
        <p:nvSpPr>
          <p:cNvPr id="8" name="Rectangle 4"/>
          <p:cNvSpPr>
            <a:spLocks noChangeArrowheads="1"/>
          </p:cNvSpPr>
          <p:nvPr userDrawn="1"/>
        </p:nvSpPr>
        <p:spPr bwMode="ltGray">
          <a:xfrm>
            <a:off x="477679" y="4741653"/>
            <a:ext cx="3299450"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988274230"/>
      </p:ext>
    </p:extLst>
  </p:cSld>
  <p:clrMapOvr>
    <a:masterClrMapping/>
  </p:clrMapOvr>
  <p:extLst>
    <p:ext uri="{DCECCB84-F9BA-43D5-87BE-67443E8EF086}">
      <p15:sldGuideLst xmlns:p15="http://schemas.microsoft.com/office/powerpoint/2012/main">
        <p15:guide id="1" orient="horz" pos="1044">
          <p15:clr>
            <a:srgbClr val="FBAE40"/>
          </p15:clr>
        </p15:guide>
        <p15:guide id="3" orient="horz" pos="2193">
          <p15:clr>
            <a:srgbClr val="FBAE40"/>
          </p15:clr>
        </p15:guide>
        <p15:guide id="4" pos="2675">
          <p15:clr>
            <a:srgbClr val="FBAE40"/>
          </p15:clr>
        </p15:guide>
        <p15:guide id="7" pos="320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8_Half_Page_Chart">
    <p:spTree>
      <p:nvGrpSpPr>
        <p:cNvPr id="1" name=""/>
        <p:cNvGrpSpPr/>
        <p:nvPr/>
      </p:nvGrpSpPr>
      <p:grpSpPr>
        <a:xfrm>
          <a:off x="0" y="0"/>
          <a:ext cx="0" cy="0"/>
          <a:chOff x="0" y="0"/>
          <a:chExt cx="0" cy="0"/>
        </a:xfrm>
      </p:grpSpPr>
      <p:sp>
        <p:nvSpPr>
          <p:cNvPr id="4" name="Rectangle 3"/>
          <p:cNvSpPr/>
          <p:nvPr userDrawn="1"/>
        </p:nvSpPr>
        <p:spPr>
          <a:xfrm>
            <a:off x="0" y="0"/>
            <a:ext cx="4580092"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3" name="Title Placeholder 5"/>
          <p:cNvSpPr>
            <a:spLocks noGrp="1"/>
          </p:cNvSpPr>
          <p:nvPr>
            <p:ph type="title"/>
          </p:nvPr>
        </p:nvSpPr>
        <p:spPr bwMode="auto">
          <a:xfrm>
            <a:off x="437766" y="1659731"/>
            <a:ext cx="3808797" cy="182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5000"/>
              </a:lnSpc>
              <a:spcBef>
                <a:spcPct val="0"/>
              </a:spcBef>
              <a:spcAft>
                <a:spcPct val="0"/>
              </a:spcAft>
              <a:defRPr lang="en-GB" sz="3200" kern="1200" dirty="0">
                <a:solidFill>
                  <a:schemeClr val="bg1">
                    <a:lumMod val="75000"/>
                  </a:schemeClr>
                </a:solidFill>
                <a:latin typeface="+mj-lt"/>
                <a:ea typeface="ＭＳ Ｐゴシック" charset="0"/>
                <a:cs typeface="Tipo de letra del sistema Fina" charset="0"/>
              </a:defRPr>
            </a:lvl1pPr>
          </a:lstStyle>
          <a:p>
            <a:pPr lvl="0"/>
            <a:r>
              <a:rPr lang="en-US"/>
              <a:t>Click to edit Master title style</a:t>
            </a:r>
            <a:endParaRPr lang="en-GB" dirty="0"/>
          </a:p>
        </p:txBody>
      </p:sp>
      <p:sp>
        <p:nvSpPr>
          <p:cNvPr id="6" name="Chart Placeholder 5"/>
          <p:cNvSpPr>
            <a:spLocks noGrp="1"/>
          </p:cNvSpPr>
          <p:nvPr>
            <p:ph type="chart" sz="quarter" idx="10"/>
          </p:nvPr>
        </p:nvSpPr>
        <p:spPr>
          <a:xfrm>
            <a:off x="5089525" y="503238"/>
            <a:ext cx="3559175" cy="4087812"/>
          </a:xfrm>
          <a:prstGeom prst="rect">
            <a:avLst/>
          </a:prstGeom>
        </p:spPr>
        <p:txBody>
          <a:bodyPr anchor="ctr" anchorCtr="0"/>
          <a:lstStyle>
            <a:lvl1pPr marL="0" indent="0" algn="ctr">
              <a:buNone/>
              <a:defRPr/>
            </a:lvl1pPr>
          </a:lstStyle>
          <a:p>
            <a:r>
              <a:rPr lang="en-US"/>
              <a:t>Click icon to add chart</a:t>
            </a:r>
          </a:p>
        </p:txBody>
      </p:sp>
      <p:sp>
        <p:nvSpPr>
          <p:cNvPr id="8" name="Rectangle 4"/>
          <p:cNvSpPr>
            <a:spLocks noChangeArrowheads="1"/>
          </p:cNvSpPr>
          <p:nvPr userDrawn="1"/>
        </p:nvSpPr>
        <p:spPr bwMode="ltGray">
          <a:xfrm>
            <a:off x="477678" y="4741653"/>
            <a:ext cx="3179921"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4232907138"/>
      </p:ext>
    </p:extLst>
  </p:cSld>
  <p:clrMapOvr>
    <a:masterClrMapping/>
  </p:clrMapOvr>
  <p:extLst>
    <p:ext uri="{DCECCB84-F9BA-43D5-87BE-67443E8EF086}">
      <p15:sldGuideLst xmlns:p15="http://schemas.microsoft.com/office/powerpoint/2012/main">
        <p15:guide id="3" orient="horz" pos="2196">
          <p15:clr>
            <a:srgbClr val="FBAE40"/>
          </p15:clr>
        </p15:guide>
        <p15:guide id="4" pos="2675">
          <p15:clr>
            <a:srgbClr val="FBAE40"/>
          </p15:clr>
        </p15:guide>
        <p15:guide id="7" pos="320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Half_Page_Table">
    <p:spTree>
      <p:nvGrpSpPr>
        <p:cNvPr id="1" name=""/>
        <p:cNvGrpSpPr/>
        <p:nvPr/>
      </p:nvGrpSpPr>
      <p:grpSpPr>
        <a:xfrm>
          <a:off x="0" y="0"/>
          <a:ext cx="0" cy="0"/>
          <a:chOff x="0" y="0"/>
          <a:chExt cx="0" cy="0"/>
        </a:xfrm>
      </p:grpSpPr>
      <p:sp>
        <p:nvSpPr>
          <p:cNvPr id="4" name="Rectangle 3"/>
          <p:cNvSpPr/>
          <p:nvPr userDrawn="1"/>
        </p:nvSpPr>
        <p:spPr>
          <a:xfrm>
            <a:off x="0" y="0"/>
            <a:ext cx="4580092"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p>
        </p:txBody>
      </p:sp>
      <p:sp>
        <p:nvSpPr>
          <p:cNvPr id="3" name="Title Placeholder 5"/>
          <p:cNvSpPr>
            <a:spLocks noGrp="1"/>
          </p:cNvSpPr>
          <p:nvPr>
            <p:ph type="title"/>
          </p:nvPr>
        </p:nvSpPr>
        <p:spPr bwMode="auto">
          <a:xfrm>
            <a:off x="437766" y="1659731"/>
            <a:ext cx="3808797" cy="182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5000"/>
              </a:lnSpc>
              <a:spcBef>
                <a:spcPct val="0"/>
              </a:spcBef>
              <a:spcAft>
                <a:spcPct val="0"/>
              </a:spcAft>
              <a:defRPr lang="en-GB" sz="3200" kern="1200" dirty="0">
                <a:solidFill>
                  <a:schemeClr val="bg1">
                    <a:lumMod val="75000"/>
                  </a:schemeClr>
                </a:solidFill>
                <a:latin typeface="+mj-lt"/>
                <a:ea typeface="ＭＳ Ｐゴシック" charset="0"/>
                <a:cs typeface="Tipo de letra del sistema Fina" charset="0"/>
              </a:defRPr>
            </a:lvl1pPr>
          </a:lstStyle>
          <a:p>
            <a:pPr lvl="0"/>
            <a:r>
              <a:rPr lang="en-US"/>
              <a:t>Click to edit Master title style</a:t>
            </a:r>
            <a:endParaRPr lang="en-GB" dirty="0"/>
          </a:p>
        </p:txBody>
      </p:sp>
      <p:sp>
        <p:nvSpPr>
          <p:cNvPr id="7" name="Table Placeholder 6"/>
          <p:cNvSpPr>
            <a:spLocks noGrp="1"/>
          </p:cNvSpPr>
          <p:nvPr>
            <p:ph type="tbl" sz="quarter" idx="10"/>
          </p:nvPr>
        </p:nvSpPr>
        <p:spPr>
          <a:xfrm>
            <a:off x="5089525" y="503238"/>
            <a:ext cx="3559175" cy="4087812"/>
          </a:xfrm>
          <a:prstGeom prst="rect">
            <a:avLst/>
          </a:prstGeom>
        </p:spPr>
        <p:txBody>
          <a:bodyPr anchor="ctr" anchorCtr="0"/>
          <a:lstStyle>
            <a:lvl1pPr marL="0" indent="0" algn="ctr">
              <a:buNone/>
              <a:defRPr/>
            </a:lvl1pPr>
          </a:lstStyle>
          <a:p>
            <a:r>
              <a:rPr lang="en-US"/>
              <a:t>Click icon to add table</a:t>
            </a:r>
          </a:p>
        </p:txBody>
      </p:sp>
      <p:sp>
        <p:nvSpPr>
          <p:cNvPr id="8" name="Rectangle 4"/>
          <p:cNvSpPr>
            <a:spLocks noChangeArrowheads="1"/>
          </p:cNvSpPr>
          <p:nvPr userDrawn="1"/>
        </p:nvSpPr>
        <p:spPr bwMode="ltGray">
          <a:xfrm>
            <a:off x="477678" y="4741653"/>
            <a:ext cx="3407027"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2062946693"/>
      </p:ext>
    </p:extLst>
  </p:cSld>
  <p:clrMapOvr>
    <a:masterClrMapping/>
  </p:clrMapOvr>
  <p:extLst>
    <p:ext uri="{DCECCB84-F9BA-43D5-87BE-67443E8EF086}">
      <p15:sldGuideLst xmlns:p15="http://schemas.microsoft.com/office/powerpoint/2012/main">
        <p15:guide id="1" orient="horz" pos="1044">
          <p15:clr>
            <a:srgbClr val="FBAE40"/>
          </p15:clr>
        </p15:guide>
        <p15:guide id="3" orient="horz" pos="2196">
          <p15:clr>
            <a:srgbClr val="FBAE40"/>
          </p15:clr>
        </p15:guide>
        <p15:guide id="4" pos="2675">
          <p15:clr>
            <a:srgbClr val="FBAE40"/>
          </p15:clr>
        </p15:guide>
        <p15:guide id="7" pos="320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098F9D-1121-3D42-8845-722C8B659D10}"/>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5" name="Freeform 6"/>
          <p:cNvSpPr>
            <a:spLocks noChangeAspect="1" noEditPoints="1"/>
          </p:cNvSpPr>
          <p:nvPr userDrawn="1"/>
        </p:nvSpPr>
        <p:spPr bwMode="auto">
          <a:xfrm>
            <a:off x="3762994" y="2129076"/>
            <a:ext cx="1618012" cy="859571"/>
          </a:xfrm>
          <a:custGeom>
            <a:avLst/>
            <a:gdLst>
              <a:gd name="T0" fmla="*/ 2671 w 3456"/>
              <a:gd name="T1" fmla="*/ 1521 h 1834"/>
              <a:gd name="T2" fmla="*/ 2857 w 3456"/>
              <a:gd name="T3" fmla="*/ 1677 h 1834"/>
              <a:gd name="T4" fmla="*/ 2975 w 3456"/>
              <a:gd name="T5" fmla="*/ 1465 h 1834"/>
              <a:gd name="T6" fmla="*/ 1129 w 3456"/>
              <a:gd name="T7" fmla="*/ 1823 h 1834"/>
              <a:gd name="T8" fmla="*/ 3082 w 3456"/>
              <a:gd name="T9" fmla="*/ 1330 h 1834"/>
              <a:gd name="T10" fmla="*/ 3082 w 3456"/>
              <a:gd name="T11" fmla="*/ 1712 h 1834"/>
              <a:gd name="T12" fmla="*/ 2700 w 3456"/>
              <a:gd name="T13" fmla="*/ 1809 h 1834"/>
              <a:gd name="T14" fmla="*/ 2513 w 3456"/>
              <a:gd name="T15" fmla="*/ 1479 h 1834"/>
              <a:gd name="T16" fmla="*/ 2783 w 3456"/>
              <a:gd name="T17" fmla="*/ 1211 h 1834"/>
              <a:gd name="T18" fmla="*/ 2351 w 3456"/>
              <a:gd name="T19" fmla="*/ 1392 h 1834"/>
              <a:gd name="T20" fmla="*/ 2136 w 3456"/>
              <a:gd name="T21" fmla="*/ 1381 h 1834"/>
              <a:gd name="T22" fmla="*/ 2093 w 3456"/>
              <a:gd name="T23" fmla="*/ 1625 h 1834"/>
              <a:gd name="T24" fmla="*/ 2335 w 3456"/>
              <a:gd name="T25" fmla="*/ 1658 h 1834"/>
              <a:gd name="T26" fmla="*/ 2174 w 3456"/>
              <a:gd name="T27" fmla="*/ 1832 h 1834"/>
              <a:gd name="T28" fmla="*/ 1903 w 3456"/>
              <a:gd name="T29" fmla="*/ 1605 h 1834"/>
              <a:gd name="T30" fmla="*/ 2047 w 3456"/>
              <a:gd name="T31" fmla="*/ 1249 h 1834"/>
              <a:gd name="T32" fmla="*/ 748 w 3456"/>
              <a:gd name="T33" fmla="*/ 1223 h 1834"/>
              <a:gd name="T34" fmla="*/ 642 w 3456"/>
              <a:gd name="T35" fmla="*/ 1359 h 1834"/>
              <a:gd name="T36" fmla="*/ 479 w 3456"/>
              <a:gd name="T37" fmla="*/ 1550 h 1834"/>
              <a:gd name="T38" fmla="*/ 697 w 3456"/>
              <a:gd name="T39" fmla="*/ 1676 h 1834"/>
              <a:gd name="T40" fmla="*/ 692 w 3456"/>
              <a:gd name="T41" fmla="*/ 1830 h 1834"/>
              <a:gd name="T42" fmla="*/ 370 w 3456"/>
              <a:gd name="T43" fmla="*/ 1710 h 1834"/>
              <a:gd name="T44" fmla="*/ 375 w 3456"/>
              <a:gd name="T45" fmla="*/ 1326 h 1834"/>
              <a:gd name="T46" fmla="*/ 1610 w 3456"/>
              <a:gd name="T47" fmla="*/ 1211 h 1834"/>
              <a:gd name="T48" fmla="*/ 1679 w 3456"/>
              <a:gd name="T49" fmla="*/ 1350 h 1834"/>
              <a:gd name="T50" fmla="*/ 1494 w 3456"/>
              <a:gd name="T51" fmla="*/ 1373 h 1834"/>
              <a:gd name="T52" fmla="*/ 1634 w 3456"/>
              <a:gd name="T53" fmla="*/ 1470 h 1834"/>
              <a:gd name="T54" fmla="*/ 1737 w 3456"/>
              <a:gd name="T55" fmla="*/ 1694 h 1834"/>
              <a:gd name="T56" fmla="*/ 1524 w 3456"/>
              <a:gd name="T57" fmla="*/ 1833 h 1834"/>
              <a:gd name="T58" fmla="*/ 1334 w 3456"/>
              <a:gd name="T59" fmla="*/ 1678 h 1834"/>
              <a:gd name="T60" fmla="*/ 1552 w 3456"/>
              <a:gd name="T61" fmla="*/ 1690 h 1834"/>
              <a:gd name="T62" fmla="*/ 1520 w 3456"/>
              <a:gd name="T63" fmla="*/ 1584 h 1834"/>
              <a:gd name="T64" fmla="*/ 1350 w 3456"/>
              <a:gd name="T65" fmla="*/ 1473 h 1834"/>
              <a:gd name="T66" fmla="*/ 1446 w 3456"/>
              <a:gd name="T67" fmla="*/ 1227 h 1834"/>
              <a:gd name="T68" fmla="*/ 3456 w 3456"/>
              <a:gd name="T69" fmla="*/ 569 h 1834"/>
              <a:gd name="T70" fmla="*/ 3328 w 3456"/>
              <a:gd name="T71" fmla="*/ 780 h 1834"/>
              <a:gd name="T72" fmla="*/ 3381 w 3456"/>
              <a:gd name="T73" fmla="*/ 493 h 1834"/>
              <a:gd name="T74" fmla="*/ 1793 w 3456"/>
              <a:gd name="T75" fmla="*/ 766 h 1834"/>
              <a:gd name="T76" fmla="*/ 1653 w 3456"/>
              <a:gd name="T77" fmla="*/ 727 h 1834"/>
              <a:gd name="T78" fmla="*/ 113 w 3456"/>
              <a:gd name="T79" fmla="*/ 503 h 1834"/>
              <a:gd name="T80" fmla="*/ 95 w 3456"/>
              <a:gd name="T81" fmla="*/ 801 h 1834"/>
              <a:gd name="T82" fmla="*/ 10 w 3456"/>
              <a:gd name="T83" fmla="*/ 531 h 1834"/>
              <a:gd name="T84" fmla="*/ 3040 w 3456"/>
              <a:gd name="T85" fmla="*/ 340 h 1834"/>
              <a:gd name="T86" fmla="*/ 2929 w 3456"/>
              <a:gd name="T87" fmla="*/ 793 h 1834"/>
              <a:gd name="T88" fmla="*/ 2947 w 3456"/>
              <a:gd name="T89" fmla="*/ 287 h 1834"/>
              <a:gd name="T90" fmla="*/ 2214 w 3456"/>
              <a:gd name="T91" fmla="*/ 748 h 1834"/>
              <a:gd name="T92" fmla="*/ 2069 w 3456"/>
              <a:gd name="T93" fmla="*/ 748 h 1834"/>
              <a:gd name="T94" fmla="*/ 1335 w 3456"/>
              <a:gd name="T95" fmla="*/ 287 h 1834"/>
              <a:gd name="T96" fmla="*/ 1353 w 3456"/>
              <a:gd name="T97" fmla="*/ 793 h 1834"/>
              <a:gd name="T98" fmla="*/ 1242 w 3456"/>
              <a:gd name="T99" fmla="*/ 340 h 1834"/>
              <a:gd name="T100" fmla="*/ 553 w 3456"/>
              <a:gd name="T101" fmla="*/ 322 h 1834"/>
              <a:gd name="T102" fmla="*/ 468 w 3456"/>
              <a:gd name="T103" fmla="*/ 801 h 1834"/>
              <a:gd name="T104" fmla="*/ 450 w 3456"/>
              <a:gd name="T105" fmla="*/ 295 h 1834"/>
              <a:gd name="T106" fmla="*/ 2630 w 3456"/>
              <a:gd name="T107" fmla="*/ 879 h 1834"/>
              <a:gd name="T108" fmla="*/ 2490 w 3456"/>
              <a:gd name="T109" fmla="*/ 917 h 1834"/>
              <a:gd name="T110" fmla="*/ 902 w 3456"/>
              <a:gd name="T111" fmla="*/ 0 h 1834"/>
              <a:gd name="T112" fmla="*/ 955 w 3456"/>
              <a:gd name="T113" fmla="*/ 931 h 1834"/>
              <a:gd name="T114" fmla="*/ 826 w 3456"/>
              <a:gd name="T115" fmla="*/ 75 h 1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456" h="1834">
                <a:moveTo>
                  <a:pt x="2828" y="1362"/>
                </a:moveTo>
                <a:lnTo>
                  <a:pt x="2798" y="1364"/>
                </a:lnTo>
                <a:lnTo>
                  <a:pt x="2771" y="1371"/>
                </a:lnTo>
                <a:lnTo>
                  <a:pt x="2747" y="1384"/>
                </a:lnTo>
                <a:lnTo>
                  <a:pt x="2725" y="1400"/>
                </a:lnTo>
                <a:lnTo>
                  <a:pt x="2706" y="1419"/>
                </a:lnTo>
                <a:lnTo>
                  <a:pt x="2691" y="1441"/>
                </a:lnTo>
                <a:lnTo>
                  <a:pt x="2680" y="1465"/>
                </a:lnTo>
                <a:lnTo>
                  <a:pt x="2674" y="1492"/>
                </a:lnTo>
                <a:lnTo>
                  <a:pt x="2671" y="1521"/>
                </a:lnTo>
                <a:lnTo>
                  <a:pt x="2674" y="1549"/>
                </a:lnTo>
                <a:lnTo>
                  <a:pt x="2680" y="1577"/>
                </a:lnTo>
                <a:lnTo>
                  <a:pt x="2691" y="1601"/>
                </a:lnTo>
                <a:lnTo>
                  <a:pt x="2706" y="1623"/>
                </a:lnTo>
                <a:lnTo>
                  <a:pt x="2725" y="1642"/>
                </a:lnTo>
                <a:lnTo>
                  <a:pt x="2747" y="1658"/>
                </a:lnTo>
                <a:lnTo>
                  <a:pt x="2771" y="1669"/>
                </a:lnTo>
                <a:lnTo>
                  <a:pt x="2798" y="1677"/>
                </a:lnTo>
                <a:lnTo>
                  <a:pt x="2828" y="1680"/>
                </a:lnTo>
                <a:lnTo>
                  <a:pt x="2857" y="1677"/>
                </a:lnTo>
                <a:lnTo>
                  <a:pt x="2883" y="1669"/>
                </a:lnTo>
                <a:lnTo>
                  <a:pt x="2908" y="1658"/>
                </a:lnTo>
                <a:lnTo>
                  <a:pt x="2930" y="1642"/>
                </a:lnTo>
                <a:lnTo>
                  <a:pt x="2948" y="1623"/>
                </a:lnTo>
                <a:lnTo>
                  <a:pt x="2964" y="1601"/>
                </a:lnTo>
                <a:lnTo>
                  <a:pt x="2975" y="1577"/>
                </a:lnTo>
                <a:lnTo>
                  <a:pt x="2982" y="1549"/>
                </a:lnTo>
                <a:lnTo>
                  <a:pt x="2985" y="1521"/>
                </a:lnTo>
                <a:lnTo>
                  <a:pt x="2982" y="1492"/>
                </a:lnTo>
                <a:lnTo>
                  <a:pt x="2975" y="1465"/>
                </a:lnTo>
                <a:lnTo>
                  <a:pt x="2964" y="1441"/>
                </a:lnTo>
                <a:lnTo>
                  <a:pt x="2948" y="1419"/>
                </a:lnTo>
                <a:lnTo>
                  <a:pt x="2930" y="1400"/>
                </a:lnTo>
                <a:lnTo>
                  <a:pt x="2908" y="1384"/>
                </a:lnTo>
                <a:lnTo>
                  <a:pt x="2883" y="1371"/>
                </a:lnTo>
                <a:lnTo>
                  <a:pt x="2857" y="1364"/>
                </a:lnTo>
                <a:lnTo>
                  <a:pt x="2828" y="1362"/>
                </a:lnTo>
                <a:close/>
                <a:moveTo>
                  <a:pt x="977" y="1218"/>
                </a:moveTo>
                <a:lnTo>
                  <a:pt x="1129" y="1218"/>
                </a:lnTo>
                <a:lnTo>
                  <a:pt x="1129" y="1823"/>
                </a:lnTo>
                <a:lnTo>
                  <a:pt x="977" y="1823"/>
                </a:lnTo>
                <a:lnTo>
                  <a:pt x="977" y="1218"/>
                </a:lnTo>
                <a:close/>
                <a:moveTo>
                  <a:pt x="2828" y="1208"/>
                </a:moveTo>
                <a:lnTo>
                  <a:pt x="2873" y="1211"/>
                </a:lnTo>
                <a:lnTo>
                  <a:pt x="2916" y="1219"/>
                </a:lnTo>
                <a:lnTo>
                  <a:pt x="2955" y="1232"/>
                </a:lnTo>
                <a:lnTo>
                  <a:pt x="2992" y="1251"/>
                </a:lnTo>
                <a:lnTo>
                  <a:pt x="3026" y="1273"/>
                </a:lnTo>
                <a:lnTo>
                  <a:pt x="3056" y="1299"/>
                </a:lnTo>
                <a:lnTo>
                  <a:pt x="3082" y="1330"/>
                </a:lnTo>
                <a:lnTo>
                  <a:pt x="3104" y="1363"/>
                </a:lnTo>
                <a:lnTo>
                  <a:pt x="3121" y="1398"/>
                </a:lnTo>
                <a:lnTo>
                  <a:pt x="3134" y="1437"/>
                </a:lnTo>
                <a:lnTo>
                  <a:pt x="3142" y="1479"/>
                </a:lnTo>
                <a:lnTo>
                  <a:pt x="3145" y="1521"/>
                </a:lnTo>
                <a:lnTo>
                  <a:pt x="3142" y="1563"/>
                </a:lnTo>
                <a:lnTo>
                  <a:pt x="3134" y="1604"/>
                </a:lnTo>
                <a:lnTo>
                  <a:pt x="3121" y="1642"/>
                </a:lnTo>
                <a:lnTo>
                  <a:pt x="3104" y="1679"/>
                </a:lnTo>
                <a:lnTo>
                  <a:pt x="3082" y="1712"/>
                </a:lnTo>
                <a:lnTo>
                  <a:pt x="3056" y="1742"/>
                </a:lnTo>
                <a:lnTo>
                  <a:pt x="3026" y="1769"/>
                </a:lnTo>
                <a:lnTo>
                  <a:pt x="2992" y="1791"/>
                </a:lnTo>
                <a:lnTo>
                  <a:pt x="2955" y="1809"/>
                </a:lnTo>
                <a:lnTo>
                  <a:pt x="2916" y="1822"/>
                </a:lnTo>
                <a:lnTo>
                  <a:pt x="2873" y="1831"/>
                </a:lnTo>
                <a:lnTo>
                  <a:pt x="2828" y="1834"/>
                </a:lnTo>
                <a:lnTo>
                  <a:pt x="2783" y="1831"/>
                </a:lnTo>
                <a:lnTo>
                  <a:pt x="2740" y="1822"/>
                </a:lnTo>
                <a:lnTo>
                  <a:pt x="2700" y="1809"/>
                </a:lnTo>
                <a:lnTo>
                  <a:pt x="2663" y="1791"/>
                </a:lnTo>
                <a:lnTo>
                  <a:pt x="2630" y="1769"/>
                </a:lnTo>
                <a:lnTo>
                  <a:pt x="2599" y="1742"/>
                </a:lnTo>
                <a:lnTo>
                  <a:pt x="2573" y="1712"/>
                </a:lnTo>
                <a:lnTo>
                  <a:pt x="2551" y="1679"/>
                </a:lnTo>
                <a:lnTo>
                  <a:pt x="2534" y="1642"/>
                </a:lnTo>
                <a:lnTo>
                  <a:pt x="2521" y="1604"/>
                </a:lnTo>
                <a:lnTo>
                  <a:pt x="2513" y="1563"/>
                </a:lnTo>
                <a:lnTo>
                  <a:pt x="2510" y="1521"/>
                </a:lnTo>
                <a:lnTo>
                  <a:pt x="2513" y="1479"/>
                </a:lnTo>
                <a:lnTo>
                  <a:pt x="2521" y="1437"/>
                </a:lnTo>
                <a:lnTo>
                  <a:pt x="2534" y="1398"/>
                </a:lnTo>
                <a:lnTo>
                  <a:pt x="2551" y="1363"/>
                </a:lnTo>
                <a:lnTo>
                  <a:pt x="2573" y="1330"/>
                </a:lnTo>
                <a:lnTo>
                  <a:pt x="2599" y="1299"/>
                </a:lnTo>
                <a:lnTo>
                  <a:pt x="2630" y="1273"/>
                </a:lnTo>
                <a:lnTo>
                  <a:pt x="2663" y="1251"/>
                </a:lnTo>
                <a:lnTo>
                  <a:pt x="2700" y="1232"/>
                </a:lnTo>
                <a:lnTo>
                  <a:pt x="2740" y="1219"/>
                </a:lnTo>
                <a:lnTo>
                  <a:pt x="2783" y="1211"/>
                </a:lnTo>
                <a:lnTo>
                  <a:pt x="2828" y="1208"/>
                </a:lnTo>
                <a:close/>
                <a:moveTo>
                  <a:pt x="2213" y="1208"/>
                </a:moveTo>
                <a:lnTo>
                  <a:pt x="2242" y="1209"/>
                </a:lnTo>
                <a:lnTo>
                  <a:pt x="2268" y="1211"/>
                </a:lnTo>
                <a:lnTo>
                  <a:pt x="2292" y="1215"/>
                </a:lnTo>
                <a:lnTo>
                  <a:pt x="2312" y="1219"/>
                </a:lnTo>
                <a:lnTo>
                  <a:pt x="2329" y="1223"/>
                </a:lnTo>
                <a:lnTo>
                  <a:pt x="2343" y="1227"/>
                </a:lnTo>
                <a:lnTo>
                  <a:pt x="2351" y="1230"/>
                </a:lnTo>
                <a:lnTo>
                  <a:pt x="2351" y="1392"/>
                </a:lnTo>
                <a:lnTo>
                  <a:pt x="2346" y="1389"/>
                </a:lnTo>
                <a:lnTo>
                  <a:pt x="2335" y="1384"/>
                </a:lnTo>
                <a:lnTo>
                  <a:pt x="2321" y="1377"/>
                </a:lnTo>
                <a:lnTo>
                  <a:pt x="2302" y="1371"/>
                </a:lnTo>
                <a:lnTo>
                  <a:pt x="2279" y="1365"/>
                </a:lnTo>
                <a:lnTo>
                  <a:pt x="2253" y="1360"/>
                </a:lnTo>
                <a:lnTo>
                  <a:pt x="2223" y="1359"/>
                </a:lnTo>
                <a:lnTo>
                  <a:pt x="2192" y="1362"/>
                </a:lnTo>
                <a:lnTo>
                  <a:pt x="2163" y="1369"/>
                </a:lnTo>
                <a:lnTo>
                  <a:pt x="2136" y="1381"/>
                </a:lnTo>
                <a:lnTo>
                  <a:pt x="2113" y="1396"/>
                </a:lnTo>
                <a:lnTo>
                  <a:pt x="2095" y="1415"/>
                </a:lnTo>
                <a:lnTo>
                  <a:pt x="2079" y="1437"/>
                </a:lnTo>
                <a:lnTo>
                  <a:pt x="2067" y="1463"/>
                </a:lnTo>
                <a:lnTo>
                  <a:pt x="2060" y="1490"/>
                </a:lnTo>
                <a:lnTo>
                  <a:pt x="2058" y="1521"/>
                </a:lnTo>
                <a:lnTo>
                  <a:pt x="2060" y="1550"/>
                </a:lnTo>
                <a:lnTo>
                  <a:pt x="2066" y="1578"/>
                </a:lnTo>
                <a:lnTo>
                  <a:pt x="2078" y="1602"/>
                </a:lnTo>
                <a:lnTo>
                  <a:pt x="2093" y="1625"/>
                </a:lnTo>
                <a:lnTo>
                  <a:pt x="2112" y="1644"/>
                </a:lnTo>
                <a:lnTo>
                  <a:pt x="2135" y="1660"/>
                </a:lnTo>
                <a:lnTo>
                  <a:pt x="2162" y="1672"/>
                </a:lnTo>
                <a:lnTo>
                  <a:pt x="2191" y="1679"/>
                </a:lnTo>
                <a:lnTo>
                  <a:pt x="2223" y="1682"/>
                </a:lnTo>
                <a:lnTo>
                  <a:pt x="2253" y="1680"/>
                </a:lnTo>
                <a:lnTo>
                  <a:pt x="2279" y="1676"/>
                </a:lnTo>
                <a:lnTo>
                  <a:pt x="2301" y="1671"/>
                </a:lnTo>
                <a:lnTo>
                  <a:pt x="2321" y="1664"/>
                </a:lnTo>
                <a:lnTo>
                  <a:pt x="2335" y="1658"/>
                </a:lnTo>
                <a:lnTo>
                  <a:pt x="2346" y="1653"/>
                </a:lnTo>
                <a:lnTo>
                  <a:pt x="2351" y="1649"/>
                </a:lnTo>
                <a:lnTo>
                  <a:pt x="2351" y="1812"/>
                </a:lnTo>
                <a:lnTo>
                  <a:pt x="2339" y="1816"/>
                </a:lnTo>
                <a:lnTo>
                  <a:pt x="2322" y="1820"/>
                </a:lnTo>
                <a:lnTo>
                  <a:pt x="2300" y="1826"/>
                </a:lnTo>
                <a:lnTo>
                  <a:pt x="2275" y="1830"/>
                </a:lnTo>
                <a:lnTo>
                  <a:pt x="2245" y="1833"/>
                </a:lnTo>
                <a:lnTo>
                  <a:pt x="2213" y="1834"/>
                </a:lnTo>
                <a:lnTo>
                  <a:pt x="2174" y="1832"/>
                </a:lnTo>
                <a:lnTo>
                  <a:pt x="2136" y="1826"/>
                </a:lnTo>
                <a:lnTo>
                  <a:pt x="2100" y="1815"/>
                </a:lnTo>
                <a:lnTo>
                  <a:pt x="2065" y="1801"/>
                </a:lnTo>
                <a:lnTo>
                  <a:pt x="2033" y="1783"/>
                </a:lnTo>
                <a:lnTo>
                  <a:pt x="2002" y="1762"/>
                </a:lnTo>
                <a:lnTo>
                  <a:pt x="1975" y="1737"/>
                </a:lnTo>
                <a:lnTo>
                  <a:pt x="1952" y="1710"/>
                </a:lnTo>
                <a:lnTo>
                  <a:pt x="1931" y="1678"/>
                </a:lnTo>
                <a:lnTo>
                  <a:pt x="1915" y="1643"/>
                </a:lnTo>
                <a:lnTo>
                  <a:pt x="1903" y="1605"/>
                </a:lnTo>
                <a:lnTo>
                  <a:pt x="1896" y="1564"/>
                </a:lnTo>
                <a:lnTo>
                  <a:pt x="1892" y="1521"/>
                </a:lnTo>
                <a:lnTo>
                  <a:pt x="1896" y="1477"/>
                </a:lnTo>
                <a:lnTo>
                  <a:pt x="1904" y="1434"/>
                </a:lnTo>
                <a:lnTo>
                  <a:pt x="1917" y="1395"/>
                </a:lnTo>
                <a:lnTo>
                  <a:pt x="1934" y="1359"/>
                </a:lnTo>
                <a:lnTo>
                  <a:pt x="1957" y="1326"/>
                </a:lnTo>
                <a:lnTo>
                  <a:pt x="1984" y="1296"/>
                </a:lnTo>
                <a:lnTo>
                  <a:pt x="2014" y="1271"/>
                </a:lnTo>
                <a:lnTo>
                  <a:pt x="2047" y="1249"/>
                </a:lnTo>
                <a:lnTo>
                  <a:pt x="2085" y="1231"/>
                </a:lnTo>
                <a:lnTo>
                  <a:pt x="2125" y="1218"/>
                </a:lnTo>
                <a:lnTo>
                  <a:pt x="2168" y="1211"/>
                </a:lnTo>
                <a:lnTo>
                  <a:pt x="2213" y="1208"/>
                </a:lnTo>
                <a:close/>
                <a:moveTo>
                  <a:pt x="630" y="1208"/>
                </a:moveTo>
                <a:lnTo>
                  <a:pt x="660" y="1209"/>
                </a:lnTo>
                <a:lnTo>
                  <a:pt x="687" y="1211"/>
                </a:lnTo>
                <a:lnTo>
                  <a:pt x="711" y="1215"/>
                </a:lnTo>
                <a:lnTo>
                  <a:pt x="731" y="1219"/>
                </a:lnTo>
                <a:lnTo>
                  <a:pt x="748" y="1223"/>
                </a:lnTo>
                <a:lnTo>
                  <a:pt x="760" y="1227"/>
                </a:lnTo>
                <a:lnTo>
                  <a:pt x="769" y="1230"/>
                </a:lnTo>
                <a:lnTo>
                  <a:pt x="769" y="1392"/>
                </a:lnTo>
                <a:lnTo>
                  <a:pt x="763" y="1389"/>
                </a:lnTo>
                <a:lnTo>
                  <a:pt x="754" y="1384"/>
                </a:lnTo>
                <a:lnTo>
                  <a:pt x="739" y="1377"/>
                </a:lnTo>
                <a:lnTo>
                  <a:pt x="721" y="1371"/>
                </a:lnTo>
                <a:lnTo>
                  <a:pt x="697" y="1365"/>
                </a:lnTo>
                <a:lnTo>
                  <a:pt x="671" y="1360"/>
                </a:lnTo>
                <a:lnTo>
                  <a:pt x="642" y="1359"/>
                </a:lnTo>
                <a:lnTo>
                  <a:pt x="611" y="1362"/>
                </a:lnTo>
                <a:lnTo>
                  <a:pt x="581" y="1369"/>
                </a:lnTo>
                <a:lnTo>
                  <a:pt x="555" y="1381"/>
                </a:lnTo>
                <a:lnTo>
                  <a:pt x="532" y="1396"/>
                </a:lnTo>
                <a:lnTo>
                  <a:pt x="513" y="1415"/>
                </a:lnTo>
                <a:lnTo>
                  <a:pt x="497" y="1437"/>
                </a:lnTo>
                <a:lnTo>
                  <a:pt x="485" y="1463"/>
                </a:lnTo>
                <a:lnTo>
                  <a:pt x="479" y="1490"/>
                </a:lnTo>
                <a:lnTo>
                  <a:pt x="475" y="1521"/>
                </a:lnTo>
                <a:lnTo>
                  <a:pt x="479" y="1550"/>
                </a:lnTo>
                <a:lnTo>
                  <a:pt x="485" y="1578"/>
                </a:lnTo>
                <a:lnTo>
                  <a:pt x="496" y="1602"/>
                </a:lnTo>
                <a:lnTo>
                  <a:pt x="512" y="1625"/>
                </a:lnTo>
                <a:lnTo>
                  <a:pt x="531" y="1644"/>
                </a:lnTo>
                <a:lnTo>
                  <a:pt x="554" y="1660"/>
                </a:lnTo>
                <a:lnTo>
                  <a:pt x="580" y="1672"/>
                </a:lnTo>
                <a:lnTo>
                  <a:pt x="610" y="1679"/>
                </a:lnTo>
                <a:lnTo>
                  <a:pt x="642" y="1682"/>
                </a:lnTo>
                <a:lnTo>
                  <a:pt x="671" y="1680"/>
                </a:lnTo>
                <a:lnTo>
                  <a:pt x="697" y="1676"/>
                </a:lnTo>
                <a:lnTo>
                  <a:pt x="719" y="1671"/>
                </a:lnTo>
                <a:lnTo>
                  <a:pt x="738" y="1664"/>
                </a:lnTo>
                <a:lnTo>
                  <a:pt x="753" y="1658"/>
                </a:lnTo>
                <a:lnTo>
                  <a:pt x="763" y="1653"/>
                </a:lnTo>
                <a:lnTo>
                  <a:pt x="769" y="1649"/>
                </a:lnTo>
                <a:lnTo>
                  <a:pt x="769" y="1812"/>
                </a:lnTo>
                <a:lnTo>
                  <a:pt x="757" y="1816"/>
                </a:lnTo>
                <a:lnTo>
                  <a:pt x="740" y="1820"/>
                </a:lnTo>
                <a:lnTo>
                  <a:pt x="718" y="1826"/>
                </a:lnTo>
                <a:lnTo>
                  <a:pt x="692" y="1830"/>
                </a:lnTo>
                <a:lnTo>
                  <a:pt x="663" y="1833"/>
                </a:lnTo>
                <a:lnTo>
                  <a:pt x="630" y="1834"/>
                </a:lnTo>
                <a:lnTo>
                  <a:pt x="592" y="1832"/>
                </a:lnTo>
                <a:lnTo>
                  <a:pt x="554" y="1826"/>
                </a:lnTo>
                <a:lnTo>
                  <a:pt x="518" y="1815"/>
                </a:lnTo>
                <a:lnTo>
                  <a:pt x="484" y="1801"/>
                </a:lnTo>
                <a:lnTo>
                  <a:pt x="451" y="1783"/>
                </a:lnTo>
                <a:lnTo>
                  <a:pt x="421" y="1762"/>
                </a:lnTo>
                <a:lnTo>
                  <a:pt x="394" y="1737"/>
                </a:lnTo>
                <a:lnTo>
                  <a:pt x="370" y="1710"/>
                </a:lnTo>
                <a:lnTo>
                  <a:pt x="350" y="1678"/>
                </a:lnTo>
                <a:lnTo>
                  <a:pt x="333" y="1643"/>
                </a:lnTo>
                <a:lnTo>
                  <a:pt x="322" y="1605"/>
                </a:lnTo>
                <a:lnTo>
                  <a:pt x="314" y="1564"/>
                </a:lnTo>
                <a:lnTo>
                  <a:pt x="311" y="1521"/>
                </a:lnTo>
                <a:lnTo>
                  <a:pt x="314" y="1477"/>
                </a:lnTo>
                <a:lnTo>
                  <a:pt x="323" y="1434"/>
                </a:lnTo>
                <a:lnTo>
                  <a:pt x="335" y="1395"/>
                </a:lnTo>
                <a:lnTo>
                  <a:pt x="353" y="1359"/>
                </a:lnTo>
                <a:lnTo>
                  <a:pt x="375" y="1326"/>
                </a:lnTo>
                <a:lnTo>
                  <a:pt x="402" y="1296"/>
                </a:lnTo>
                <a:lnTo>
                  <a:pt x="433" y="1271"/>
                </a:lnTo>
                <a:lnTo>
                  <a:pt x="466" y="1249"/>
                </a:lnTo>
                <a:lnTo>
                  <a:pt x="503" y="1231"/>
                </a:lnTo>
                <a:lnTo>
                  <a:pt x="544" y="1218"/>
                </a:lnTo>
                <a:lnTo>
                  <a:pt x="585" y="1211"/>
                </a:lnTo>
                <a:lnTo>
                  <a:pt x="630" y="1208"/>
                </a:lnTo>
                <a:close/>
                <a:moveTo>
                  <a:pt x="1556" y="1208"/>
                </a:moveTo>
                <a:lnTo>
                  <a:pt x="1583" y="1209"/>
                </a:lnTo>
                <a:lnTo>
                  <a:pt x="1610" y="1211"/>
                </a:lnTo>
                <a:lnTo>
                  <a:pt x="1634" y="1213"/>
                </a:lnTo>
                <a:lnTo>
                  <a:pt x="1656" y="1217"/>
                </a:lnTo>
                <a:lnTo>
                  <a:pt x="1675" y="1220"/>
                </a:lnTo>
                <a:lnTo>
                  <a:pt x="1689" y="1223"/>
                </a:lnTo>
                <a:lnTo>
                  <a:pt x="1699" y="1226"/>
                </a:lnTo>
                <a:lnTo>
                  <a:pt x="1704" y="1227"/>
                </a:lnTo>
                <a:lnTo>
                  <a:pt x="1704" y="1356"/>
                </a:lnTo>
                <a:lnTo>
                  <a:pt x="1700" y="1355"/>
                </a:lnTo>
                <a:lnTo>
                  <a:pt x="1691" y="1353"/>
                </a:lnTo>
                <a:lnTo>
                  <a:pt x="1679" y="1350"/>
                </a:lnTo>
                <a:lnTo>
                  <a:pt x="1663" y="1347"/>
                </a:lnTo>
                <a:lnTo>
                  <a:pt x="1645" y="1343"/>
                </a:lnTo>
                <a:lnTo>
                  <a:pt x="1625" y="1340"/>
                </a:lnTo>
                <a:lnTo>
                  <a:pt x="1605" y="1338"/>
                </a:lnTo>
                <a:lnTo>
                  <a:pt x="1586" y="1337"/>
                </a:lnTo>
                <a:lnTo>
                  <a:pt x="1557" y="1339"/>
                </a:lnTo>
                <a:lnTo>
                  <a:pt x="1534" y="1344"/>
                </a:lnTo>
                <a:lnTo>
                  <a:pt x="1515" y="1351"/>
                </a:lnTo>
                <a:lnTo>
                  <a:pt x="1502" y="1362"/>
                </a:lnTo>
                <a:lnTo>
                  <a:pt x="1494" y="1373"/>
                </a:lnTo>
                <a:lnTo>
                  <a:pt x="1491" y="1387"/>
                </a:lnTo>
                <a:lnTo>
                  <a:pt x="1494" y="1402"/>
                </a:lnTo>
                <a:lnTo>
                  <a:pt x="1501" y="1413"/>
                </a:lnTo>
                <a:lnTo>
                  <a:pt x="1511" y="1423"/>
                </a:lnTo>
                <a:lnTo>
                  <a:pt x="1523" y="1430"/>
                </a:lnTo>
                <a:lnTo>
                  <a:pt x="1536" y="1436"/>
                </a:lnTo>
                <a:lnTo>
                  <a:pt x="1549" y="1441"/>
                </a:lnTo>
                <a:lnTo>
                  <a:pt x="1560" y="1445"/>
                </a:lnTo>
                <a:lnTo>
                  <a:pt x="1602" y="1458"/>
                </a:lnTo>
                <a:lnTo>
                  <a:pt x="1634" y="1470"/>
                </a:lnTo>
                <a:lnTo>
                  <a:pt x="1661" y="1484"/>
                </a:lnTo>
                <a:lnTo>
                  <a:pt x="1684" y="1501"/>
                </a:lnTo>
                <a:lnTo>
                  <a:pt x="1703" y="1519"/>
                </a:lnTo>
                <a:lnTo>
                  <a:pt x="1719" y="1539"/>
                </a:lnTo>
                <a:lnTo>
                  <a:pt x="1731" y="1560"/>
                </a:lnTo>
                <a:lnTo>
                  <a:pt x="1740" y="1583"/>
                </a:lnTo>
                <a:lnTo>
                  <a:pt x="1745" y="1606"/>
                </a:lnTo>
                <a:lnTo>
                  <a:pt x="1746" y="1630"/>
                </a:lnTo>
                <a:lnTo>
                  <a:pt x="1744" y="1664"/>
                </a:lnTo>
                <a:lnTo>
                  <a:pt x="1737" y="1694"/>
                </a:lnTo>
                <a:lnTo>
                  <a:pt x="1727" y="1720"/>
                </a:lnTo>
                <a:lnTo>
                  <a:pt x="1712" y="1744"/>
                </a:lnTo>
                <a:lnTo>
                  <a:pt x="1696" y="1764"/>
                </a:lnTo>
                <a:lnTo>
                  <a:pt x="1676" y="1781"/>
                </a:lnTo>
                <a:lnTo>
                  <a:pt x="1654" y="1796"/>
                </a:lnTo>
                <a:lnTo>
                  <a:pt x="1630" y="1809"/>
                </a:lnTo>
                <a:lnTo>
                  <a:pt x="1604" y="1818"/>
                </a:lnTo>
                <a:lnTo>
                  <a:pt x="1578" y="1826"/>
                </a:lnTo>
                <a:lnTo>
                  <a:pt x="1551" y="1830"/>
                </a:lnTo>
                <a:lnTo>
                  <a:pt x="1524" y="1833"/>
                </a:lnTo>
                <a:lnTo>
                  <a:pt x="1498" y="1834"/>
                </a:lnTo>
                <a:lnTo>
                  <a:pt x="1467" y="1833"/>
                </a:lnTo>
                <a:lnTo>
                  <a:pt x="1439" y="1832"/>
                </a:lnTo>
                <a:lnTo>
                  <a:pt x="1412" y="1829"/>
                </a:lnTo>
                <a:lnTo>
                  <a:pt x="1388" y="1827"/>
                </a:lnTo>
                <a:lnTo>
                  <a:pt x="1368" y="1823"/>
                </a:lnTo>
                <a:lnTo>
                  <a:pt x="1351" y="1820"/>
                </a:lnTo>
                <a:lnTo>
                  <a:pt x="1339" y="1818"/>
                </a:lnTo>
                <a:lnTo>
                  <a:pt x="1334" y="1817"/>
                </a:lnTo>
                <a:lnTo>
                  <a:pt x="1334" y="1678"/>
                </a:lnTo>
                <a:lnTo>
                  <a:pt x="1343" y="1680"/>
                </a:lnTo>
                <a:lnTo>
                  <a:pt x="1356" y="1684"/>
                </a:lnTo>
                <a:lnTo>
                  <a:pt x="1375" y="1688"/>
                </a:lnTo>
                <a:lnTo>
                  <a:pt x="1397" y="1693"/>
                </a:lnTo>
                <a:lnTo>
                  <a:pt x="1422" y="1697"/>
                </a:lnTo>
                <a:lnTo>
                  <a:pt x="1448" y="1700"/>
                </a:lnTo>
                <a:lnTo>
                  <a:pt x="1477" y="1701"/>
                </a:lnTo>
                <a:lnTo>
                  <a:pt x="1507" y="1699"/>
                </a:lnTo>
                <a:lnTo>
                  <a:pt x="1531" y="1696"/>
                </a:lnTo>
                <a:lnTo>
                  <a:pt x="1552" y="1690"/>
                </a:lnTo>
                <a:lnTo>
                  <a:pt x="1568" y="1681"/>
                </a:lnTo>
                <a:lnTo>
                  <a:pt x="1578" y="1671"/>
                </a:lnTo>
                <a:lnTo>
                  <a:pt x="1585" y="1658"/>
                </a:lnTo>
                <a:lnTo>
                  <a:pt x="1587" y="1644"/>
                </a:lnTo>
                <a:lnTo>
                  <a:pt x="1585" y="1629"/>
                </a:lnTo>
                <a:lnTo>
                  <a:pt x="1578" y="1618"/>
                </a:lnTo>
                <a:lnTo>
                  <a:pt x="1567" y="1607"/>
                </a:lnTo>
                <a:lnTo>
                  <a:pt x="1553" y="1598"/>
                </a:lnTo>
                <a:lnTo>
                  <a:pt x="1537" y="1590"/>
                </a:lnTo>
                <a:lnTo>
                  <a:pt x="1520" y="1584"/>
                </a:lnTo>
                <a:lnTo>
                  <a:pt x="1509" y="1581"/>
                </a:lnTo>
                <a:lnTo>
                  <a:pt x="1498" y="1577"/>
                </a:lnTo>
                <a:lnTo>
                  <a:pt x="1487" y="1574"/>
                </a:lnTo>
                <a:lnTo>
                  <a:pt x="1462" y="1565"/>
                </a:lnTo>
                <a:lnTo>
                  <a:pt x="1439" y="1555"/>
                </a:lnTo>
                <a:lnTo>
                  <a:pt x="1416" y="1542"/>
                </a:lnTo>
                <a:lnTo>
                  <a:pt x="1396" y="1528"/>
                </a:lnTo>
                <a:lnTo>
                  <a:pt x="1378" y="1512"/>
                </a:lnTo>
                <a:lnTo>
                  <a:pt x="1363" y="1494"/>
                </a:lnTo>
                <a:lnTo>
                  <a:pt x="1350" y="1473"/>
                </a:lnTo>
                <a:lnTo>
                  <a:pt x="1341" y="1451"/>
                </a:lnTo>
                <a:lnTo>
                  <a:pt x="1334" y="1425"/>
                </a:lnTo>
                <a:lnTo>
                  <a:pt x="1332" y="1396"/>
                </a:lnTo>
                <a:lnTo>
                  <a:pt x="1334" y="1364"/>
                </a:lnTo>
                <a:lnTo>
                  <a:pt x="1342" y="1333"/>
                </a:lnTo>
                <a:lnTo>
                  <a:pt x="1354" y="1306"/>
                </a:lnTo>
                <a:lnTo>
                  <a:pt x="1371" y="1281"/>
                </a:lnTo>
                <a:lnTo>
                  <a:pt x="1392" y="1259"/>
                </a:lnTo>
                <a:lnTo>
                  <a:pt x="1417" y="1241"/>
                </a:lnTo>
                <a:lnTo>
                  <a:pt x="1446" y="1227"/>
                </a:lnTo>
                <a:lnTo>
                  <a:pt x="1479" y="1216"/>
                </a:lnTo>
                <a:lnTo>
                  <a:pt x="1515" y="1210"/>
                </a:lnTo>
                <a:lnTo>
                  <a:pt x="1556" y="1208"/>
                </a:lnTo>
                <a:close/>
                <a:moveTo>
                  <a:pt x="3381" y="493"/>
                </a:moveTo>
                <a:lnTo>
                  <a:pt x="3400" y="496"/>
                </a:lnTo>
                <a:lnTo>
                  <a:pt x="3418" y="503"/>
                </a:lnTo>
                <a:lnTo>
                  <a:pt x="3434" y="515"/>
                </a:lnTo>
                <a:lnTo>
                  <a:pt x="3446" y="531"/>
                </a:lnTo>
                <a:lnTo>
                  <a:pt x="3453" y="548"/>
                </a:lnTo>
                <a:lnTo>
                  <a:pt x="3456" y="569"/>
                </a:lnTo>
                <a:lnTo>
                  <a:pt x="3456" y="727"/>
                </a:lnTo>
                <a:lnTo>
                  <a:pt x="3453" y="748"/>
                </a:lnTo>
                <a:lnTo>
                  <a:pt x="3446" y="766"/>
                </a:lnTo>
                <a:lnTo>
                  <a:pt x="3434" y="780"/>
                </a:lnTo>
                <a:lnTo>
                  <a:pt x="3418" y="793"/>
                </a:lnTo>
                <a:lnTo>
                  <a:pt x="3400" y="801"/>
                </a:lnTo>
                <a:lnTo>
                  <a:pt x="3381" y="803"/>
                </a:lnTo>
                <a:lnTo>
                  <a:pt x="3361" y="801"/>
                </a:lnTo>
                <a:lnTo>
                  <a:pt x="3343" y="793"/>
                </a:lnTo>
                <a:lnTo>
                  <a:pt x="3328" y="780"/>
                </a:lnTo>
                <a:lnTo>
                  <a:pt x="3316" y="766"/>
                </a:lnTo>
                <a:lnTo>
                  <a:pt x="3308" y="748"/>
                </a:lnTo>
                <a:lnTo>
                  <a:pt x="3306" y="727"/>
                </a:lnTo>
                <a:lnTo>
                  <a:pt x="3306" y="569"/>
                </a:lnTo>
                <a:lnTo>
                  <a:pt x="3308" y="548"/>
                </a:lnTo>
                <a:lnTo>
                  <a:pt x="3316" y="531"/>
                </a:lnTo>
                <a:lnTo>
                  <a:pt x="3328" y="515"/>
                </a:lnTo>
                <a:lnTo>
                  <a:pt x="3343" y="503"/>
                </a:lnTo>
                <a:lnTo>
                  <a:pt x="3361" y="496"/>
                </a:lnTo>
                <a:lnTo>
                  <a:pt x="3381" y="493"/>
                </a:lnTo>
                <a:close/>
                <a:moveTo>
                  <a:pt x="1728" y="493"/>
                </a:moveTo>
                <a:lnTo>
                  <a:pt x="1748" y="496"/>
                </a:lnTo>
                <a:lnTo>
                  <a:pt x="1766" y="503"/>
                </a:lnTo>
                <a:lnTo>
                  <a:pt x="1781" y="515"/>
                </a:lnTo>
                <a:lnTo>
                  <a:pt x="1793" y="531"/>
                </a:lnTo>
                <a:lnTo>
                  <a:pt x="1800" y="548"/>
                </a:lnTo>
                <a:lnTo>
                  <a:pt x="1803" y="569"/>
                </a:lnTo>
                <a:lnTo>
                  <a:pt x="1803" y="727"/>
                </a:lnTo>
                <a:lnTo>
                  <a:pt x="1800" y="748"/>
                </a:lnTo>
                <a:lnTo>
                  <a:pt x="1793" y="766"/>
                </a:lnTo>
                <a:lnTo>
                  <a:pt x="1781" y="780"/>
                </a:lnTo>
                <a:lnTo>
                  <a:pt x="1766" y="793"/>
                </a:lnTo>
                <a:lnTo>
                  <a:pt x="1748" y="801"/>
                </a:lnTo>
                <a:lnTo>
                  <a:pt x="1728" y="803"/>
                </a:lnTo>
                <a:lnTo>
                  <a:pt x="1708" y="801"/>
                </a:lnTo>
                <a:lnTo>
                  <a:pt x="1690" y="793"/>
                </a:lnTo>
                <a:lnTo>
                  <a:pt x="1675" y="780"/>
                </a:lnTo>
                <a:lnTo>
                  <a:pt x="1663" y="766"/>
                </a:lnTo>
                <a:lnTo>
                  <a:pt x="1656" y="748"/>
                </a:lnTo>
                <a:lnTo>
                  <a:pt x="1653" y="727"/>
                </a:lnTo>
                <a:lnTo>
                  <a:pt x="1653" y="569"/>
                </a:lnTo>
                <a:lnTo>
                  <a:pt x="1656" y="548"/>
                </a:lnTo>
                <a:lnTo>
                  <a:pt x="1663" y="531"/>
                </a:lnTo>
                <a:lnTo>
                  <a:pt x="1675" y="515"/>
                </a:lnTo>
                <a:lnTo>
                  <a:pt x="1690" y="503"/>
                </a:lnTo>
                <a:lnTo>
                  <a:pt x="1708" y="496"/>
                </a:lnTo>
                <a:lnTo>
                  <a:pt x="1728" y="493"/>
                </a:lnTo>
                <a:close/>
                <a:moveTo>
                  <a:pt x="75" y="493"/>
                </a:moveTo>
                <a:lnTo>
                  <a:pt x="95" y="496"/>
                </a:lnTo>
                <a:lnTo>
                  <a:pt x="113" y="503"/>
                </a:lnTo>
                <a:lnTo>
                  <a:pt x="129" y="515"/>
                </a:lnTo>
                <a:lnTo>
                  <a:pt x="140" y="531"/>
                </a:lnTo>
                <a:lnTo>
                  <a:pt x="148" y="548"/>
                </a:lnTo>
                <a:lnTo>
                  <a:pt x="151" y="569"/>
                </a:lnTo>
                <a:lnTo>
                  <a:pt x="151" y="727"/>
                </a:lnTo>
                <a:lnTo>
                  <a:pt x="148" y="748"/>
                </a:lnTo>
                <a:lnTo>
                  <a:pt x="140" y="766"/>
                </a:lnTo>
                <a:lnTo>
                  <a:pt x="129" y="780"/>
                </a:lnTo>
                <a:lnTo>
                  <a:pt x="113" y="793"/>
                </a:lnTo>
                <a:lnTo>
                  <a:pt x="95" y="801"/>
                </a:lnTo>
                <a:lnTo>
                  <a:pt x="75" y="803"/>
                </a:lnTo>
                <a:lnTo>
                  <a:pt x="56" y="801"/>
                </a:lnTo>
                <a:lnTo>
                  <a:pt x="38" y="793"/>
                </a:lnTo>
                <a:lnTo>
                  <a:pt x="22" y="780"/>
                </a:lnTo>
                <a:lnTo>
                  <a:pt x="10" y="766"/>
                </a:lnTo>
                <a:lnTo>
                  <a:pt x="3" y="748"/>
                </a:lnTo>
                <a:lnTo>
                  <a:pt x="0" y="727"/>
                </a:lnTo>
                <a:lnTo>
                  <a:pt x="0" y="569"/>
                </a:lnTo>
                <a:lnTo>
                  <a:pt x="3" y="548"/>
                </a:lnTo>
                <a:lnTo>
                  <a:pt x="10" y="531"/>
                </a:lnTo>
                <a:lnTo>
                  <a:pt x="22" y="515"/>
                </a:lnTo>
                <a:lnTo>
                  <a:pt x="38" y="503"/>
                </a:lnTo>
                <a:lnTo>
                  <a:pt x="56" y="496"/>
                </a:lnTo>
                <a:lnTo>
                  <a:pt x="75" y="493"/>
                </a:lnTo>
                <a:close/>
                <a:moveTo>
                  <a:pt x="2968" y="285"/>
                </a:moveTo>
                <a:lnTo>
                  <a:pt x="2988" y="287"/>
                </a:lnTo>
                <a:lnTo>
                  <a:pt x="3006" y="295"/>
                </a:lnTo>
                <a:lnTo>
                  <a:pt x="3021" y="307"/>
                </a:lnTo>
                <a:lnTo>
                  <a:pt x="3033" y="322"/>
                </a:lnTo>
                <a:lnTo>
                  <a:pt x="3040" y="340"/>
                </a:lnTo>
                <a:lnTo>
                  <a:pt x="3043" y="360"/>
                </a:lnTo>
                <a:lnTo>
                  <a:pt x="3043" y="727"/>
                </a:lnTo>
                <a:lnTo>
                  <a:pt x="3040" y="748"/>
                </a:lnTo>
                <a:lnTo>
                  <a:pt x="3033" y="766"/>
                </a:lnTo>
                <a:lnTo>
                  <a:pt x="3021" y="780"/>
                </a:lnTo>
                <a:lnTo>
                  <a:pt x="3006" y="793"/>
                </a:lnTo>
                <a:lnTo>
                  <a:pt x="2988" y="801"/>
                </a:lnTo>
                <a:lnTo>
                  <a:pt x="2968" y="803"/>
                </a:lnTo>
                <a:lnTo>
                  <a:pt x="2947" y="801"/>
                </a:lnTo>
                <a:lnTo>
                  <a:pt x="2929" y="793"/>
                </a:lnTo>
                <a:lnTo>
                  <a:pt x="2915" y="780"/>
                </a:lnTo>
                <a:lnTo>
                  <a:pt x="2903" y="766"/>
                </a:lnTo>
                <a:lnTo>
                  <a:pt x="2895" y="748"/>
                </a:lnTo>
                <a:lnTo>
                  <a:pt x="2893" y="727"/>
                </a:lnTo>
                <a:lnTo>
                  <a:pt x="2893" y="360"/>
                </a:lnTo>
                <a:lnTo>
                  <a:pt x="2895" y="340"/>
                </a:lnTo>
                <a:lnTo>
                  <a:pt x="2903" y="322"/>
                </a:lnTo>
                <a:lnTo>
                  <a:pt x="2915" y="307"/>
                </a:lnTo>
                <a:lnTo>
                  <a:pt x="2929" y="295"/>
                </a:lnTo>
                <a:lnTo>
                  <a:pt x="2947" y="287"/>
                </a:lnTo>
                <a:lnTo>
                  <a:pt x="2968" y="285"/>
                </a:lnTo>
                <a:close/>
                <a:moveTo>
                  <a:pt x="2142" y="285"/>
                </a:moveTo>
                <a:lnTo>
                  <a:pt x="2162" y="287"/>
                </a:lnTo>
                <a:lnTo>
                  <a:pt x="2179" y="295"/>
                </a:lnTo>
                <a:lnTo>
                  <a:pt x="2194" y="307"/>
                </a:lnTo>
                <a:lnTo>
                  <a:pt x="2207" y="322"/>
                </a:lnTo>
                <a:lnTo>
                  <a:pt x="2214" y="340"/>
                </a:lnTo>
                <a:lnTo>
                  <a:pt x="2216" y="360"/>
                </a:lnTo>
                <a:lnTo>
                  <a:pt x="2216" y="727"/>
                </a:lnTo>
                <a:lnTo>
                  <a:pt x="2214" y="748"/>
                </a:lnTo>
                <a:lnTo>
                  <a:pt x="2207" y="766"/>
                </a:lnTo>
                <a:lnTo>
                  <a:pt x="2194" y="780"/>
                </a:lnTo>
                <a:lnTo>
                  <a:pt x="2179" y="793"/>
                </a:lnTo>
                <a:lnTo>
                  <a:pt x="2162" y="801"/>
                </a:lnTo>
                <a:lnTo>
                  <a:pt x="2142" y="803"/>
                </a:lnTo>
                <a:lnTo>
                  <a:pt x="2122" y="801"/>
                </a:lnTo>
                <a:lnTo>
                  <a:pt x="2104" y="793"/>
                </a:lnTo>
                <a:lnTo>
                  <a:pt x="2088" y="780"/>
                </a:lnTo>
                <a:lnTo>
                  <a:pt x="2077" y="766"/>
                </a:lnTo>
                <a:lnTo>
                  <a:pt x="2069" y="748"/>
                </a:lnTo>
                <a:lnTo>
                  <a:pt x="2066" y="727"/>
                </a:lnTo>
                <a:lnTo>
                  <a:pt x="2066" y="360"/>
                </a:lnTo>
                <a:lnTo>
                  <a:pt x="2069" y="340"/>
                </a:lnTo>
                <a:lnTo>
                  <a:pt x="2077" y="322"/>
                </a:lnTo>
                <a:lnTo>
                  <a:pt x="2088" y="307"/>
                </a:lnTo>
                <a:lnTo>
                  <a:pt x="2104" y="295"/>
                </a:lnTo>
                <a:lnTo>
                  <a:pt x="2122" y="287"/>
                </a:lnTo>
                <a:lnTo>
                  <a:pt x="2142" y="285"/>
                </a:lnTo>
                <a:close/>
                <a:moveTo>
                  <a:pt x="1315" y="285"/>
                </a:moveTo>
                <a:lnTo>
                  <a:pt x="1335" y="287"/>
                </a:lnTo>
                <a:lnTo>
                  <a:pt x="1353" y="295"/>
                </a:lnTo>
                <a:lnTo>
                  <a:pt x="1368" y="307"/>
                </a:lnTo>
                <a:lnTo>
                  <a:pt x="1380" y="322"/>
                </a:lnTo>
                <a:lnTo>
                  <a:pt x="1388" y="340"/>
                </a:lnTo>
                <a:lnTo>
                  <a:pt x="1390" y="360"/>
                </a:lnTo>
                <a:lnTo>
                  <a:pt x="1390" y="727"/>
                </a:lnTo>
                <a:lnTo>
                  <a:pt x="1388" y="748"/>
                </a:lnTo>
                <a:lnTo>
                  <a:pt x="1380" y="766"/>
                </a:lnTo>
                <a:lnTo>
                  <a:pt x="1368" y="780"/>
                </a:lnTo>
                <a:lnTo>
                  <a:pt x="1353" y="793"/>
                </a:lnTo>
                <a:lnTo>
                  <a:pt x="1335" y="801"/>
                </a:lnTo>
                <a:lnTo>
                  <a:pt x="1315" y="803"/>
                </a:lnTo>
                <a:lnTo>
                  <a:pt x="1295" y="801"/>
                </a:lnTo>
                <a:lnTo>
                  <a:pt x="1277" y="793"/>
                </a:lnTo>
                <a:lnTo>
                  <a:pt x="1262" y="780"/>
                </a:lnTo>
                <a:lnTo>
                  <a:pt x="1250" y="766"/>
                </a:lnTo>
                <a:lnTo>
                  <a:pt x="1242" y="748"/>
                </a:lnTo>
                <a:lnTo>
                  <a:pt x="1240" y="727"/>
                </a:lnTo>
                <a:lnTo>
                  <a:pt x="1240" y="360"/>
                </a:lnTo>
                <a:lnTo>
                  <a:pt x="1242" y="340"/>
                </a:lnTo>
                <a:lnTo>
                  <a:pt x="1250" y="322"/>
                </a:lnTo>
                <a:lnTo>
                  <a:pt x="1262" y="307"/>
                </a:lnTo>
                <a:lnTo>
                  <a:pt x="1277" y="295"/>
                </a:lnTo>
                <a:lnTo>
                  <a:pt x="1295" y="287"/>
                </a:lnTo>
                <a:lnTo>
                  <a:pt x="1315" y="285"/>
                </a:lnTo>
                <a:close/>
                <a:moveTo>
                  <a:pt x="488" y="285"/>
                </a:moveTo>
                <a:lnTo>
                  <a:pt x="508" y="287"/>
                </a:lnTo>
                <a:lnTo>
                  <a:pt x="527" y="295"/>
                </a:lnTo>
                <a:lnTo>
                  <a:pt x="541" y="307"/>
                </a:lnTo>
                <a:lnTo>
                  <a:pt x="553" y="322"/>
                </a:lnTo>
                <a:lnTo>
                  <a:pt x="561" y="340"/>
                </a:lnTo>
                <a:lnTo>
                  <a:pt x="563" y="360"/>
                </a:lnTo>
                <a:lnTo>
                  <a:pt x="563" y="727"/>
                </a:lnTo>
                <a:lnTo>
                  <a:pt x="561" y="748"/>
                </a:lnTo>
                <a:lnTo>
                  <a:pt x="553" y="766"/>
                </a:lnTo>
                <a:lnTo>
                  <a:pt x="541" y="780"/>
                </a:lnTo>
                <a:lnTo>
                  <a:pt x="527" y="793"/>
                </a:lnTo>
                <a:lnTo>
                  <a:pt x="508" y="801"/>
                </a:lnTo>
                <a:lnTo>
                  <a:pt x="488" y="803"/>
                </a:lnTo>
                <a:lnTo>
                  <a:pt x="468" y="801"/>
                </a:lnTo>
                <a:lnTo>
                  <a:pt x="450" y="793"/>
                </a:lnTo>
                <a:lnTo>
                  <a:pt x="436" y="780"/>
                </a:lnTo>
                <a:lnTo>
                  <a:pt x="423" y="766"/>
                </a:lnTo>
                <a:lnTo>
                  <a:pt x="416" y="748"/>
                </a:lnTo>
                <a:lnTo>
                  <a:pt x="414" y="727"/>
                </a:lnTo>
                <a:lnTo>
                  <a:pt x="414" y="360"/>
                </a:lnTo>
                <a:lnTo>
                  <a:pt x="416" y="340"/>
                </a:lnTo>
                <a:lnTo>
                  <a:pt x="423" y="322"/>
                </a:lnTo>
                <a:lnTo>
                  <a:pt x="436" y="307"/>
                </a:lnTo>
                <a:lnTo>
                  <a:pt x="450" y="295"/>
                </a:lnTo>
                <a:lnTo>
                  <a:pt x="468" y="287"/>
                </a:lnTo>
                <a:lnTo>
                  <a:pt x="488" y="285"/>
                </a:lnTo>
                <a:close/>
                <a:moveTo>
                  <a:pt x="2555" y="0"/>
                </a:moveTo>
                <a:lnTo>
                  <a:pt x="2575" y="2"/>
                </a:lnTo>
                <a:lnTo>
                  <a:pt x="2593" y="10"/>
                </a:lnTo>
                <a:lnTo>
                  <a:pt x="2608" y="22"/>
                </a:lnTo>
                <a:lnTo>
                  <a:pt x="2619" y="37"/>
                </a:lnTo>
                <a:lnTo>
                  <a:pt x="2628" y="55"/>
                </a:lnTo>
                <a:lnTo>
                  <a:pt x="2630" y="75"/>
                </a:lnTo>
                <a:lnTo>
                  <a:pt x="2630" y="879"/>
                </a:lnTo>
                <a:lnTo>
                  <a:pt x="2628" y="899"/>
                </a:lnTo>
                <a:lnTo>
                  <a:pt x="2619" y="917"/>
                </a:lnTo>
                <a:lnTo>
                  <a:pt x="2608" y="931"/>
                </a:lnTo>
                <a:lnTo>
                  <a:pt x="2593" y="944"/>
                </a:lnTo>
                <a:lnTo>
                  <a:pt x="2575" y="951"/>
                </a:lnTo>
                <a:lnTo>
                  <a:pt x="2555" y="953"/>
                </a:lnTo>
                <a:lnTo>
                  <a:pt x="2535" y="951"/>
                </a:lnTo>
                <a:lnTo>
                  <a:pt x="2517" y="944"/>
                </a:lnTo>
                <a:lnTo>
                  <a:pt x="2502" y="931"/>
                </a:lnTo>
                <a:lnTo>
                  <a:pt x="2490" y="917"/>
                </a:lnTo>
                <a:lnTo>
                  <a:pt x="2483" y="899"/>
                </a:lnTo>
                <a:lnTo>
                  <a:pt x="2480" y="879"/>
                </a:lnTo>
                <a:lnTo>
                  <a:pt x="2480" y="75"/>
                </a:lnTo>
                <a:lnTo>
                  <a:pt x="2483" y="55"/>
                </a:lnTo>
                <a:lnTo>
                  <a:pt x="2490" y="37"/>
                </a:lnTo>
                <a:lnTo>
                  <a:pt x="2502" y="22"/>
                </a:lnTo>
                <a:lnTo>
                  <a:pt x="2517" y="10"/>
                </a:lnTo>
                <a:lnTo>
                  <a:pt x="2535" y="2"/>
                </a:lnTo>
                <a:lnTo>
                  <a:pt x="2555" y="0"/>
                </a:lnTo>
                <a:close/>
                <a:moveTo>
                  <a:pt x="902" y="0"/>
                </a:moveTo>
                <a:lnTo>
                  <a:pt x="922" y="2"/>
                </a:lnTo>
                <a:lnTo>
                  <a:pt x="939" y="10"/>
                </a:lnTo>
                <a:lnTo>
                  <a:pt x="955" y="22"/>
                </a:lnTo>
                <a:lnTo>
                  <a:pt x="967" y="37"/>
                </a:lnTo>
                <a:lnTo>
                  <a:pt x="974" y="55"/>
                </a:lnTo>
                <a:lnTo>
                  <a:pt x="977" y="75"/>
                </a:lnTo>
                <a:lnTo>
                  <a:pt x="977" y="879"/>
                </a:lnTo>
                <a:lnTo>
                  <a:pt x="974" y="899"/>
                </a:lnTo>
                <a:lnTo>
                  <a:pt x="967" y="917"/>
                </a:lnTo>
                <a:lnTo>
                  <a:pt x="955" y="931"/>
                </a:lnTo>
                <a:lnTo>
                  <a:pt x="939" y="944"/>
                </a:lnTo>
                <a:lnTo>
                  <a:pt x="922" y="951"/>
                </a:lnTo>
                <a:lnTo>
                  <a:pt x="902" y="953"/>
                </a:lnTo>
                <a:lnTo>
                  <a:pt x="882" y="951"/>
                </a:lnTo>
                <a:lnTo>
                  <a:pt x="864" y="944"/>
                </a:lnTo>
                <a:lnTo>
                  <a:pt x="848" y="931"/>
                </a:lnTo>
                <a:lnTo>
                  <a:pt x="837" y="917"/>
                </a:lnTo>
                <a:lnTo>
                  <a:pt x="829" y="899"/>
                </a:lnTo>
                <a:lnTo>
                  <a:pt x="826" y="879"/>
                </a:lnTo>
                <a:lnTo>
                  <a:pt x="826" y="75"/>
                </a:lnTo>
                <a:lnTo>
                  <a:pt x="829" y="55"/>
                </a:lnTo>
                <a:lnTo>
                  <a:pt x="837" y="37"/>
                </a:lnTo>
                <a:lnTo>
                  <a:pt x="848" y="22"/>
                </a:lnTo>
                <a:lnTo>
                  <a:pt x="864" y="10"/>
                </a:lnTo>
                <a:lnTo>
                  <a:pt x="882" y="2"/>
                </a:lnTo>
                <a:lnTo>
                  <a:pt x="902" y="0"/>
                </a:lnTo>
                <a:close/>
              </a:path>
            </a:pathLst>
          </a:custGeom>
          <a:solidFill>
            <a:schemeClr val="bg1">
              <a:lumMod val="75000"/>
            </a:schemeClr>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Tree>
    <p:extLst>
      <p:ext uri="{BB962C8B-B14F-4D97-AF65-F5344CB8AC3E}">
        <p14:creationId xmlns:p14="http://schemas.microsoft.com/office/powerpoint/2010/main" val="1637783676"/>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79D8D2A-D2A5-CA4E-B972-B2CDE61D6D57}"/>
              </a:ext>
            </a:extLst>
          </p:cNvPr>
          <p:cNvPicPr>
            <a:picLocks noChangeAspect="1"/>
          </p:cNvPicPr>
          <p:nvPr userDrawn="1"/>
        </p:nvPicPr>
        <p:blipFill>
          <a:blip r:embed="rId2"/>
          <a:stretch>
            <a:fillRect/>
          </a:stretch>
        </p:blipFill>
        <p:spPr>
          <a:xfrm>
            <a:off x="0" y="0"/>
            <a:ext cx="9144000" cy="5143500"/>
          </a:xfrm>
          <a:prstGeom prst="rect">
            <a:avLst/>
          </a:prstGeom>
        </p:spPr>
      </p:pic>
      <p:pic>
        <p:nvPicPr>
          <p:cNvPr id="4" name="Picture 3">
            <a:extLst>
              <a:ext uri="{FF2B5EF4-FFF2-40B4-BE49-F238E27FC236}">
                <a16:creationId xmlns:a16="http://schemas.microsoft.com/office/drawing/2014/main" id="{4038DE46-3909-AF4F-AFE9-3D5BEDE404A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424790" y="2089257"/>
            <a:ext cx="4294420" cy="1082729"/>
          </a:xfrm>
          <a:prstGeom prst="rect">
            <a:avLst/>
          </a:prstGeom>
        </p:spPr>
      </p:pic>
    </p:spTree>
    <p:extLst>
      <p:ext uri="{BB962C8B-B14F-4D97-AF65-F5344CB8AC3E}">
        <p14:creationId xmlns:p14="http://schemas.microsoft.com/office/powerpoint/2010/main" val="377538192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rgbClr val="000000"/>
                </a:solidFill>
                <a:latin typeface="+mn-lt"/>
                <a:ea typeface="+mn-ea"/>
                <a:cs typeface="CiscoSans Thin"/>
              </a:rPr>
              <a:pPr algn="r" defTabSz="610744" fontAlgn="auto">
                <a:spcBef>
                  <a:spcPts val="0"/>
                </a:spcBef>
                <a:spcAft>
                  <a:spcPts val="0"/>
                </a:spcAft>
                <a:defRPr/>
              </a:pPr>
              <a:t>‹#›</a:t>
            </a:fld>
            <a:endParaRPr lang="en-US" sz="600" dirty="0">
              <a:solidFill>
                <a:srgbClr val="000000"/>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rgbClr val="000000"/>
                </a:solidFill>
                <a:latin typeface="+mn-lt"/>
                <a:ea typeface="+mn-ea"/>
                <a:cs typeface="CiscoSans Thin"/>
              </a:rPr>
              <a:t>©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4018" r:id="rId4"/>
    <p:sldLayoutId id="2147483965" r:id="rId5"/>
    <p:sldLayoutId id="2147483967" r:id="rId6"/>
    <p:sldLayoutId id="2147483995" r:id="rId7"/>
    <p:sldLayoutId id="2147484007" r:id="rId8"/>
    <p:sldLayoutId id="2147484010" r:id="rId9"/>
    <p:sldLayoutId id="2147484011" r:id="rId10"/>
    <p:sldLayoutId id="2147484015" r:id="rId11"/>
    <p:sldLayoutId id="2147483998" r:id="rId12"/>
    <p:sldLayoutId id="2147484027" r:id="rId13"/>
    <p:sldLayoutId id="2147484028"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24" tIns="45712" rIns="91424" bIns="45712" numCol="1" anchor="ctr" anchorCtr="0" compatLnSpc="1">
            <a:prstTxWarp prst="textNoShape">
              <a:avLst/>
            </a:prstTxWarp>
          </a:bodyPr>
          <a:lstStyle/>
          <a:p>
            <a:pPr lvl="0"/>
            <a:r>
              <a:rPr lang="en-GB" dirty="0"/>
              <a:t>Title Goes Here</a:t>
            </a:r>
          </a:p>
        </p:txBody>
      </p:sp>
      <p:sp>
        <p:nvSpPr>
          <p:cNvPr id="13" name="Rectangle 4"/>
          <p:cNvSpPr>
            <a:spLocks noChangeArrowheads="1"/>
          </p:cNvSpPr>
          <p:nvPr userDrawn="1"/>
        </p:nvSpPr>
        <p:spPr bwMode="ltGray">
          <a:xfrm>
            <a:off x="477679" y="4741653"/>
            <a:ext cx="3401050" cy="154518"/>
          </a:xfrm>
          <a:prstGeom prst="rect">
            <a:avLst/>
          </a:prstGeom>
          <a:noFill/>
          <a:ln w="9525">
            <a:noFill/>
            <a:miter lim="800000"/>
            <a:headEnd/>
            <a:tailEnd/>
          </a:ln>
          <a:effectLst/>
        </p:spPr>
        <p:txBody>
          <a:bodyPr wrap="square" lIns="61586" tIns="30792" rIns="61586" bIns="30792" anchor="b">
            <a:spAutoFit/>
          </a:bodyPr>
          <a:lstStyle/>
          <a:p>
            <a:pPr algn="l" defTabSz="610744" rtl="0" fontAlgn="auto">
              <a:spcBef>
                <a:spcPts val="0"/>
              </a:spcBef>
              <a:spcAft>
                <a:spcPts val="0"/>
              </a:spcAft>
              <a:defRPr/>
            </a:pPr>
            <a:r>
              <a:rPr lang="en-US" sz="600" kern="1200" spc="20" baseline="0" dirty="0">
                <a:solidFill>
                  <a:srgbClr val="000000"/>
                </a:solidFill>
                <a:latin typeface="+mn-lt"/>
                <a:ea typeface="+mn-ea"/>
                <a:cs typeface="CiscoSans Thin"/>
              </a:rPr>
              <a:t>© 2021  Cisco and/or its affiliates. All rights reserved.   Cisco Confidential</a:t>
            </a:r>
          </a:p>
        </p:txBody>
      </p:sp>
    </p:spTree>
    <p:extLst>
      <p:ext uri="{BB962C8B-B14F-4D97-AF65-F5344CB8AC3E}">
        <p14:creationId xmlns:p14="http://schemas.microsoft.com/office/powerpoint/2010/main" val="61181096"/>
      </p:ext>
    </p:extLst>
  </p:cSld>
  <p:clrMap bg1="lt1" tx1="dk1" bg2="lt2" tx2="dk2" accent1="accent1" accent2="accent2" accent3="accent3" accent4="accent4" accent5="accent5" accent6="accent6" hlink="hlink" folHlink="folHlink"/>
  <p:sldLayoutIdLst>
    <p:sldLayoutId id="2147484030" r:id="rId1"/>
    <p:sldLayoutId id="2147484031" r:id="rId2"/>
    <p:sldLayoutId id="2147484032" r:id="rId3"/>
    <p:sldLayoutId id="2147484033" r:id="rId4"/>
    <p:sldLayoutId id="2147484034" r:id="rId5"/>
    <p:sldLayoutId id="2147484035" r:id="rId6"/>
    <p:sldLayoutId id="2147484036" r:id="rId7"/>
    <p:sldLayoutId id="2147484037" r:id="rId8"/>
    <p:sldLayoutId id="2147484038" r:id="rId9"/>
    <p:sldLayoutId id="2147484039" r:id="rId10"/>
    <p:sldLayoutId id="2147484040" r:id="rId11"/>
    <p:sldLayoutId id="2147484041" r:id="rId12"/>
    <p:sldLayoutId id="2147484042" r:id="rId13"/>
    <p:sldLayoutId id="2147484043" r:id="rId14"/>
    <p:sldLayoutId id="2147484044" r:id="rId15"/>
    <p:sldLayoutId id="2147484045" r:id="rId16"/>
    <p:sldLayoutId id="2147484046" r:id="rId17"/>
    <p:sldLayoutId id="2147484047" r:id="rId18"/>
    <p:sldLayoutId id="2147484048" r:id="rId19"/>
    <p:sldLayoutId id="2147484049" r:id="rId20"/>
    <p:sldLayoutId id="2147484050" r:id="rId21"/>
    <p:sldLayoutId id="2147484051" r:id="rId22"/>
    <p:sldLayoutId id="2147484052" r:id="rId23"/>
    <p:sldLayoutId id="2147484053" r:id="rId24"/>
    <p:sldLayoutId id="2147484054" r:id="rId25"/>
    <p:sldLayoutId id="2147484055" r:id="rId26"/>
    <p:sldLayoutId id="2147484056" r:id="rId27"/>
    <p:sldLayoutId id="2147484057" r:id="rId28"/>
  </p:sldLayoutIdLst>
  <p:txStyles>
    <p:titleStyle>
      <a:lvl1pPr algn="l" defTabSz="684213" rtl="0" eaLnBrk="1" fontAlgn="base" hangingPunct="1">
        <a:lnSpc>
          <a:spcPct val="80000"/>
        </a:lnSpc>
        <a:spcBef>
          <a:spcPct val="0"/>
        </a:spcBef>
        <a:spcAft>
          <a:spcPct val="0"/>
        </a:spcAft>
        <a:defRPr lang="en-US" sz="2800" b="0" i="0" u="none" kern="1200" dirty="0">
          <a:solidFill>
            <a:schemeClr val="tx2"/>
          </a:solidFill>
          <a:latin typeface="+mj-lt"/>
          <a:ea typeface="CiscoSansTT Thin" charset="0"/>
          <a:cs typeface="CiscoSansTT Thin"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92">
          <p15:clr>
            <a:srgbClr val="F26B43"/>
          </p15:clr>
        </p15:guide>
        <p15:guide id="2" pos="336">
          <p15:clr>
            <a:srgbClr val="F26B43"/>
          </p15:clr>
        </p15:guide>
        <p15:guide id="3" pos="5448">
          <p15:clr>
            <a:srgbClr val="F26B43"/>
          </p15:clr>
        </p15:guide>
        <p15:guide id="4" orient="horz" pos="757">
          <p15:clr>
            <a:srgbClr val="F26B43"/>
          </p15:clr>
        </p15:guide>
        <p15:guide id="5" orient="horz" pos="335">
          <p15:clr>
            <a:srgbClr val="F26B43"/>
          </p15:clr>
        </p15:guide>
        <p15:guide id="6" pos="2876">
          <p15:clr>
            <a:srgbClr val="F26B43"/>
          </p15:clr>
        </p15:guide>
        <p15:guide id="7" orient="horz" pos="104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hyperlink" Target="http://maps.googleapis.com/maps/api/geocode/json?address=sanjose"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hyperlink" Target="http://maps.googleapis.com/maps/api/geocode/json?address=sanjose"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developer.mapquest.com/"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a:t>Jeff Sperley</a:t>
            </a:r>
          </a:p>
        </p:txBody>
      </p:sp>
      <p:sp>
        <p:nvSpPr>
          <p:cNvPr id="3" name="Text Placeholder 2"/>
          <p:cNvSpPr>
            <a:spLocks noGrp="1"/>
          </p:cNvSpPr>
          <p:nvPr>
            <p:ph type="body" sz="quarter" idx="11"/>
          </p:nvPr>
        </p:nvSpPr>
        <p:spPr/>
        <p:txBody>
          <a:bodyPr/>
          <a:lstStyle/>
          <a:p>
            <a:r>
              <a:rPr lang="en-US" dirty="0"/>
              <a:t>Mt. Hood Community College</a:t>
            </a:r>
          </a:p>
        </p:txBody>
      </p:sp>
      <p:sp>
        <p:nvSpPr>
          <p:cNvPr id="4" name="Text Placeholder 3"/>
          <p:cNvSpPr>
            <a:spLocks noGrp="1"/>
          </p:cNvSpPr>
          <p:nvPr>
            <p:ph type="body" sz="quarter" idx="12"/>
          </p:nvPr>
        </p:nvSpPr>
        <p:spPr/>
        <p:txBody>
          <a:bodyPr/>
          <a:lstStyle/>
          <a:p>
            <a:r>
              <a:rPr lang="en-US" dirty="0"/>
              <a:t>ISTM233P – Python for Cybersecurity</a:t>
            </a:r>
          </a:p>
        </p:txBody>
      </p:sp>
      <p:sp>
        <p:nvSpPr>
          <p:cNvPr id="5" name="Text Placeholder 4"/>
          <p:cNvSpPr>
            <a:spLocks noGrp="1"/>
          </p:cNvSpPr>
          <p:nvPr>
            <p:ph type="body" sz="quarter" idx="13"/>
          </p:nvPr>
        </p:nvSpPr>
        <p:spPr>
          <a:xfrm>
            <a:off x="463293" y="3211463"/>
            <a:ext cx="7196242" cy="299001"/>
          </a:xfrm>
        </p:spPr>
        <p:txBody>
          <a:bodyPr/>
          <a:lstStyle/>
          <a:p>
            <a:r>
              <a:rPr lang="en-US" sz="1800" dirty="0"/>
              <a:t>API Lesson with JSON</a:t>
            </a:r>
          </a:p>
        </p:txBody>
      </p:sp>
      <p:sp>
        <p:nvSpPr>
          <p:cNvPr id="6" name="Title 5"/>
          <p:cNvSpPr>
            <a:spLocks noGrp="1"/>
          </p:cNvSpPr>
          <p:nvPr>
            <p:ph type="ctrTitle"/>
          </p:nvPr>
        </p:nvSpPr>
        <p:spPr>
          <a:xfrm>
            <a:off x="425765" y="2639977"/>
            <a:ext cx="7233770" cy="644730"/>
          </a:xfrm>
        </p:spPr>
        <p:txBody>
          <a:bodyPr/>
          <a:lstStyle/>
          <a:p>
            <a:r>
              <a:rPr lang="en-US" sz="3600" dirty="0"/>
              <a:t>Model Driven Programmability</a:t>
            </a:r>
          </a:p>
        </p:txBody>
      </p:sp>
    </p:spTree>
    <p:extLst>
      <p:ext uri="{BB962C8B-B14F-4D97-AF65-F5344CB8AC3E}">
        <p14:creationId xmlns:p14="http://schemas.microsoft.com/office/powerpoint/2010/main" val="32579066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17D47EA-35C3-4B18-AAD2-30601B9E8D1F}"/>
              </a:ext>
            </a:extLst>
          </p:cNvPr>
          <p:cNvSpPr>
            <a:spLocks noGrp="1"/>
          </p:cNvSpPr>
          <p:nvPr>
            <p:ph type="ctrTitle"/>
          </p:nvPr>
        </p:nvSpPr>
        <p:spPr/>
        <p:txBody>
          <a:bodyPr/>
          <a:lstStyle/>
          <a:p>
            <a:r>
              <a:rPr lang="en-US" dirty="0"/>
              <a:t>Welcome to the</a:t>
            </a:r>
            <a:br>
              <a:rPr lang="en-US" dirty="0"/>
            </a:br>
            <a:r>
              <a:rPr lang="en-US" dirty="0"/>
              <a:t>API </a:t>
            </a:r>
            <a:r>
              <a:rPr lang="en-US"/>
              <a:t>Lesson with JSON</a:t>
            </a:r>
            <a:endParaRPr lang="en-US" dirty="0"/>
          </a:p>
        </p:txBody>
      </p:sp>
    </p:spTree>
    <p:extLst>
      <p:ext uri="{BB962C8B-B14F-4D97-AF65-F5344CB8AC3E}">
        <p14:creationId xmlns:p14="http://schemas.microsoft.com/office/powerpoint/2010/main" val="161216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2D2A5F1-E793-4AA5-9BA0-CFCC0EC2F665}"/>
              </a:ext>
            </a:extLst>
          </p:cNvPr>
          <p:cNvSpPr>
            <a:spLocks noGrp="1"/>
          </p:cNvSpPr>
          <p:nvPr>
            <p:ph type="body" sz="quarter" idx="10"/>
          </p:nvPr>
        </p:nvSpPr>
        <p:spPr>
          <a:xfrm>
            <a:off x="437766" y="3088105"/>
            <a:ext cx="8345488" cy="1540042"/>
          </a:xfrm>
        </p:spPr>
        <p:txBody>
          <a:bodyPr>
            <a:normAutofit fontScale="77500" lnSpcReduction="20000"/>
          </a:bodyPr>
          <a:lstStyle/>
          <a:p>
            <a:r>
              <a:rPr lang="en-US" sz="3000" dirty="0"/>
              <a:t>This chapter of the course covers the following objectives:</a:t>
            </a:r>
          </a:p>
          <a:p>
            <a:pPr lvl="1"/>
            <a:r>
              <a:rPr lang="en-US" sz="2000" dirty="0"/>
              <a:t>Use Python to create programs that accept user input and read and write to external files.</a:t>
            </a:r>
          </a:p>
          <a:p>
            <a:pPr lvl="1"/>
            <a:r>
              <a:rPr lang="en-US" sz="2000" dirty="0"/>
              <a:t>Create a Python application that accesses an API based on user input and processes and displays the JSON data that is returned.</a:t>
            </a:r>
          </a:p>
        </p:txBody>
      </p:sp>
      <p:sp>
        <p:nvSpPr>
          <p:cNvPr id="3" name="Title 2">
            <a:extLst>
              <a:ext uri="{FF2B5EF4-FFF2-40B4-BE49-F238E27FC236}">
                <a16:creationId xmlns:a16="http://schemas.microsoft.com/office/drawing/2014/main" id="{2C61092A-9AF4-4CB9-AE33-DB9F2051DFBA}"/>
              </a:ext>
            </a:extLst>
          </p:cNvPr>
          <p:cNvSpPr>
            <a:spLocks noGrp="1"/>
          </p:cNvSpPr>
          <p:nvPr>
            <p:ph type="title"/>
          </p:nvPr>
        </p:nvSpPr>
        <p:spPr/>
        <p:txBody>
          <a:bodyPr>
            <a:normAutofit/>
          </a:bodyPr>
          <a:lstStyle/>
          <a:p>
            <a:r>
              <a:rPr lang="en-US" dirty="0"/>
              <a:t>Python for Cybersecurity</a:t>
            </a:r>
          </a:p>
        </p:txBody>
      </p:sp>
      <p:pic>
        <p:nvPicPr>
          <p:cNvPr id="5" name="Picture 4" descr="Students discussing how to develop an API.">
            <a:extLst>
              <a:ext uri="{FF2B5EF4-FFF2-40B4-BE49-F238E27FC236}">
                <a16:creationId xmlns:a16="http://schemas.microsoft.com/office/drawing/2014/main" id="{D4A3227D-7272-44C2-BE2C-472E0ABD7F37}"/>
              </a:ext>
            </a:extLst>
          </p:cNvPr>
          <p:cNvPicPr>
            <a:picLocks noChangeAspect="1"/>
          </p:cNvPicPr>
          <p:nvPr/>
        </p:nvPicPr>
        <p:blipFill>
          <a:blip r:embed="rId2"/>
          <a:stretch>
            <a:fillRect/>
          </a:stretch>
        </p:blipFill>
        <p:spPr>
          <a:xfrm>
            <a:off x="1379620" y="936708"/>
            <a:ext cx="6320589" cy="1967283"/>
          </a:xfrm>
          <a:prstGeom prst="rect">
            <a:avLst/>
          </a:prstGeom>
        </p:spPr>
      </p:pic>
    </p:spTree>
    <p:extLst>
      <p:ext uri="{BB962C8B-B14F-4D97-AF65-F5344CB8AC3E}">
        <p14:creationId xmlns:p14="http://schemas.microsoft.com/office/powerpoint/2010/main" val="2939823000"/>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17D47EA-35C3-4B18-AAD2-30601B9E8D1F}"/>
              </a:ext>
            </a:extLst>
          </p:cNvPr>
          <p:cNvSpPr>
            <a:spLocks noGrp="1"/>
          </p:cNvSpPr>
          <p:nvPr>
            <p:ph type="ctrTitle"/>
          </p:nvPr>
        </p:nvSpPr>
        <p:spPr/>
        <p:txBody>
          <a:bodyPr/>
          <a:lstStyle/>
          <a:p>
            <a:r>
              <a:rPr lang="en-US" dirty="0"/>
              <a:t>APIs and RESTful APIs</a:t>
            </a:r>
          </a:p>
        </p:txBody>
      </p:sp>
    </p:spTree>
    <p:extLst>
      <p:ext uri="{BB962C8B-B14F-4D97-AF65-F5344CB8AC3E}">
        <p14:creationId xmlns:p14="http://schemas.microsoft.com/office/powerpoint/2010/main" val="1752233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p:cNvSpPr>
            <a:spLocks noGrp="1"/>
          </p:cNvSpPr>
          <p:nvPr>
            <p:ph type="body" sz="quarter" idx="10"/>
          </p:nvPr>
        </p:nvSpPr>
        <p:spPr>
          <a:xfrm>
            <a:off x="437765" y="1347787"/>
            <a:ext cx="5250653" cy="3394333"/>
          </a:xfrm>
        </p:spPr>
        <p:txBody>
          <a:bodyPr>
            <a:normAutofit fontScale="85000" lnSpcReduction="20000"/>
          </a:bodyPr>
          <a:lstStyle/>
          <a:p>
            <a:r>
              <a:rPr lang="en-US" dirty="0"/>
              <a:t>An API allows one piece of software talk to another.</a:t>
            </a:r>
          </a:p>
          <a:p>
            <a:r>
              <a:rPr lang="en-US" dirty="0"/>
              <a:t>An API is analogous to a power outlet. </a:t>
            </a:r>
          </a:p>
          <a:p>
            <a:r>
              <a:rPr lang="en-US" dirty="0"/>
              <a:t>Without a power outlet, what would you have to do to power your laptop?</a:t>
            </a:r>
          </a:p>
          <a:p>
            <a:pPr lvl="1"/>
            <a:r>
              <a:rPr lang="en-US" dirty="0"/>
              <a:t>Open the wall</a:t>
            </a:r>
          </a:p>
          <a:p>
            <a:pPr lvl="1"/>
            <a:r>
              <a:rPr lang="en-US" dirty="0"/>
              <a:t>Unsheath wires</a:t>
            </a:r>
          </a:p>
          <a:p>
            <a:pPr lvl="1"/>
            <a:r>
              <a:rPr lang="en-US" dirty="0"/>
              <a:t>Splice wires together</a:t>
            </a:r>
          </a:p>
          <a:p>
            <a:pPr lvl="1"/>
            <a:r>
              <a:rPr lang="en-US" dirty="0"/>
              <a:t>Understand all the wires in the wall</a:t>
            </a:r>
          </a:p>
          <a:p>
            <a:r>
              <a:rPr lang="en-US" dirty="0"/>
              <a:t>An API defines how a programmer can write a piece of software to extend an existing application’s features or even build entirely new applications.</a:t>
            </a:r>
          </a:p>
          <a:p>
            <a:endParaRPr lang="en-US" dirty="0"/>
          </a:p>
          <a:p>
            <a:pPr lvl="1"/>
            <a:endParaRPr lang="en-US" dirty="0"/>
          </a:p>
        </p:txBody>
      </p:sp>
      <p:sp>
        <p:nvSpPr>
          <p:cNvPr id="14" name="Title 13"/>
          <p:cNvSpPr>
            <a:spLocks noGrp="1"/>
          </p:cNvSpPr>
          <p:nvPr>
            <p:ph type="title"/>
          </p:nvPr>
        </p:nvSpPr>
        <p:spPr/>
        <p:txBody>
          <a:bodyPr/>
          <a:lstStyle/>
          <a:p>
            <a:r>
              <a:rPr lang="en-US" dirty="0"/>
              <a:t>Application Programming Interface (API)</a:t>
            </a:r>
          </a:p>
        </p:txBody>
      </p:sp>
      <p:pic>
        <p:nvPicPr>
          <p:cNvPr id="3" name="Chart Placeholder 2" descr="Electrical socket">
            <a:extLst>
              <a:ext uri="{FF2B5EF4-FFF2-40B4-BE49-F238E27FC236}">
                <a16:creationId xmlns:a16="http://schemas.microsoft.com/office/drawing/2014/main" id="{486B0CCD-223A-4698-A2A1-B754AD25B8B5}"/>
              </a:ext>
            </a:extLst>
          </p:cNvPr>
          <p:cNvPicPr>
            <a:picLocks noGrp="1" noChangeAspect="1"/>
          </p:cNvPicPr>
          <p:nvPr>
            <p:ph type="chart" sz="quarter" idx="4294967295"/>
          </p:nvPr>
        </p:nvPicPr>
        <p:blipFill>
          <a:blip r:embed="rId2"/>
          <a:stretch>
            <a:fillRect/>
          </a:stretch>
        </p:blipFill>
        <p:spPr>
          <a:xfrm>
            <a:off x="6194130" y="1296692"/>
            <a:ext cx="1971675" cy="3017837"/>
          </a:xfrm>
          <a:prstGeom prst="rect">
            <a:avLst/>
          </a:prstGeom>
        </p:spPr>
      </p:pic>
    </p:spTree>
    <p:extLst>
      <p:ext uri="{BB962C8B-B14F-4D97-AF65-F5344CB8AC3E}">
        <p14:creationId xmlns:p14="http://schemas.microsoft.com/office/powerpoint/2010/main" val="2830257669"/>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p:cNvSpPr>
            <a:spLocks noGrp="1"/>
          </p:cNvSpPr>
          <p:nvPr>
            <p:ph type="body" sz="quarter" idx="10"/>
          </p:nvPr>
        </p:nvSpPr>
        <p:spPr>
          <a:xfrm>
            <a:off x="235747" y="1126313"/>
            <a:ext cx="5984300" cy="3442848"/>
          </a:xfrm>
        </p:spPr>
        <p:txBody>
          <a:bodyPr>
            <a:normAutofit/>
          </a:bodyPr>
          <a:lstStyle/>
          <a:p>
            <a:r>
              <a:rPr lang="en-US" dirty="0"/>
              <a:t>Restaurant Recommendation App</a:t>
            </a:r>
          </a:p>
          <a:p>
            <a:pPr lvl="1"/>
            <a:r>
              <a:rPr lang="en-US" dirty="0"/>
              <a:t>Returns a list of relevant restaurants in the area</a:t>
            </a:r>
          </a:p>
          <a:p>
            <a:pPr lvl="1"/>
            <a:r>
              <a:rPr lang="en-US" dirty="0"/>
              <a:t>Integrates a third-party API to provide map functionality</a:t>
            </a:r>
          </a:p>
          <a:p>
            <a:pPr lvl="1"/>
            <a:r>
              <a:rPr lang="en-US" dirty="0"/>
              <a:t>The map API enforces a specification of an interface</a:t>
            </a:r>
          </a:p>
        </p:txBody>
      </p:sp>
      <p:sp>
        <p:nvSpPr>
          <p:cNvPr id="14" name="Title 13"/>
          <p:cNvSpPr>
            <a:spLocks noGrp="1"/>
          </p:cNvSpPr>
          <p:nvPr>
            <p:ph type="title"/>
          </p:nvPr>
        </p:nvSpPr>
        <p:spPr/>
        <p:txBody>
          <a:bodyPr/>
          <a:lstStyle/>
          <a:p>
            <a:r>
              <a:rPr lang="en-US" dirty="0"/>
              <a:t>API Example</a:t>
            </a:r>
          </a:p>
        </p:txBody>
      </p:sp>
      <p:pic>
        <p:nvPicPr>
          <p:cNvPr id="1026" name="Picture 2" descr="Gps, Locator, Map, Location, Navigation, Direction">
            <a:extLst>
              <a:ext uri="{FF2B5EF4-FFF2-40B4-BE49-F238E27FC236}">
                <a16:creationId xmlns:a16="http://schemas.microsoft.com/office/drawing/2014/main" id="{035BD139-A8D3-4C89-807B-3F62BB61FF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0300" y="988826"/>
            <a:ext cx="2303722" cy="3455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56894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4AB5E2-AEED-4F6A-B79D-A5CF9FFEED5C}"/>
              </a:ext>
            </a:extLst>
          </p:cNvPr>
          <p:cNvSpPr>
            <a:spLocks noGrp="1"/>
          </p:cNvSpPr>
          <p:nvPr>
            <p:ph type="body" sz="quarter" idx="10"/>
          </p:nvPr>
        </p:nvSpPr>
        <p:spPr>
          <a:xfrm>
            <a:off x="437766" y="1347787"/>
            <a:ext cx="3602606" cy="3404965"/>
          </a:xfrm>
        </p:spPr>
        <p:txBody>
          <a:bodyPr>
            <a:normAutofit fontScale="77500" lnSpcReduction="20000"/>
          </a:bodyPr>
          <a:lstStyle/>
          <a:p>
            <a:r>
              <a:rPr lang="en-US" dirty="0"/>
              <a:t>Web browsers use Hypertext Transfer Protocol (HTTP) to request (GET) a web page.</a:t>
            </a:r>
          </a:p>
          <a:p>
            <a:r>
              <a:rPr lang="en-US" dirty="0"/>
              <a:t>If successfully requested (HTTP status code 200), web servers respond to GET requests with a Hypertext Markup Language (HTML) coded web page.</a:t>
            </a:r>
          </a:p>
        </p:txBody>
      </p:sp>
      <p:sp>
        <p:nvSpPr>
          <p:cNvPr id="3" name="Title 2">
            <a:extLst>
              <a:ext uri="{FF2B5EF4-FFF2-40B4-BE49-F238E27FC236}">
                <a16:creationId xmlns:a16="http://schemas.microsoft.com/office/drawing/2014/main" id="{17F0052F-DC06-439D-8639-62F1A3E8AF03}"/>
              </a:ext>
            </a:extLst>
          </p:cNvPr>
          <p:cNvSpPr>
            <a:spLocks noGrp="1"/>
          </p:cNvSpPr>
          <p:nvPr>
            <p:ph type="title"/>
          </p:nvPr>
        </p:nvSpPr>
        <p:spPr/>
        <p:txBody>
          <a:bodyPr/>
          <a:lstStyle/>
          <a:p>
            <a:r>
              <a:rPr lang="en-US" dirty="0"/>
              <a:t>Web Services Interface using HTTP</a:t>
            </a:r>
          </a:p>
        </p:txBody>
      </p:sp>
      <p:pic>
        <p:nvPicPr>
          <p:cNvPr id="7" name="Picture 6" descr="Client PC">
            <a:extLst>
              <a:ext uri="{FF2B5EF4-FFF2-40B4-BE49-F238E27FC236}">
                <a16:creationId xmlns:a16="http://schemas.microsoft.com/office/drawing/2014/main" id="{AC6B5F76-352C-4440-A07B-8F59690D7227}"/>
              </a:ext>
            </a:extLst>
          </p:cNvPr>
          <p:cNvPicPr>
            <a:picLocks noChangeAspect="1"/>
          </p:cNvPicPr>
          <p:nvPr/>
        </p:nvPicPr>
        <p:blipFill>
          <a:blip r:embed="rId2"/>
          <a:stretch>
            <a:fillRect/>
          </a:stretch>
        </p:blipFill>
        <p:spPr>
          <a:xfrm>
            <a:off x="4015636" y="2085078"/>
            <a:ext cx="1219048" cy="1015873"/>
          </a:xfrm>
          <a:prstGeom prst="rect">
            <a:avLst/>
          </a:prstGeom>
        </p:spPr>
      </p:pic>
      <p:pic>
        <p:nvPicPr>
          <p:cNvPr id="9" name="Picture 8" descr="Web Server">
            <a:extLst>
              <a:ext uri="{FF2B5EF4-FFF2-40B4-BE49-F238E27FC236}">
                <a16:creationId xmlns:a16="http://schemas.microsoft.com/office/drawing/2014/main" id="{63A7DF47-B785-45AF-B5E7-C110CD6E9D90}"/>
              </a:ext>
            </a:extLst>
          </p:cNvPr>
          <p:cNvPicPr>
            <a:picLocks noChangeAspect="1"/>
          </p:cNvPicPr>
          <p:nvPr/>
        </p:nvPicPr>
        <p:blipFill>
          <a:blip r:embed="rId3"/>
          <a:stretch>
            <a:fillRect/>
          </a:stretch>
        </p:blipFill>
        <p:spPr>
          <a:xfrm>
            <a:off x="8023203" y="1987623"/>
            <a:ext cx="838095" cy="1168254"/>
          </a:xfrm>
          <a:prstGeom prst="rect">
            <a:avLst/>
          </a:prstGeom>
        </p:spPr>
      </p:pic>
      <p:cxnSp>
        <p:nvCxnSpPr>
          <p:cNvPr id="11" name="Straight Arrow Connector 10" descr="Blue arrow (right)">
            <a:extLst>
              <a:ext uri="{FF2B5EF4-FFF2-40B4-BE49-F238E27FC236}">
                <a16:creationId xmlns:a16="http://schemas.microsoft.com/office/drawing/2014/main" id="{3B1E20DC-3A44-4245-80C2-80B7A168E2DC}"/>
              </a:ext>
            </a:extLst>
          </p:cNvPr>
          <p:cNvCxnSpPr>
            <a:cxnSpLocks/>
          </p:cNvCxnSpPr>
          <p:nvPr/>
        </p:nvCxnSpPr>
        <p:spPr>
          <a:xfrm>
            <a:off x="5039833" y="2349795"/>
            <a:ext cx="29452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8B8A206-E41D-4140-99FC-0488AD42F87C}"/>
              </a:ext>
            </a:extLst>
          </p:cNvPr>
          <p:cNvSpPr txBox="1"/>
          <p:nvPr/>
        </p:nvSpPr>
        <p:spPr>
          <a:xfrm>
            <a:off x="5007935" y="1998921"/>
            <a:ext cx="3040911" cy="307777"/>
          </a:xfrm>
          <a:prstGeom prst="rect">
            <a:avLst/>
          </a:prstGeom>
          <a:noFill/>
        </p:spPr>
        <p:txBody>
          <a:bodyPr wrap="square" rtlCol="0">
            <a:spAutoFit/>
          </a:bodyPr>
          <a:lstStyle/>
          <a:p>
            <a:pPr algn="ctr"/>
            <a:r>
              <a:rPr lang="en-US" sz="1400" dirty="0"/>
              <a:t>Send me the Cisco.com home page</a:t>
            </a:r>
          </a:p>
        </p:txBody>
      </p:sp>
      <p:sp>
        <p:nvSpPr>
          <p:cNvPr id="15" name="TextBox 14">
            <a:extLst>
              <a:ext uri="{FF2B5EF4-FFF2-40B4-BE49-F238E27FC236}">
                <a16:creationId xmlns:a16="http://schemas.microsoft.com/office/drawing/2014/main" id="{A32BF770-CDF4-4268-9EBB-AA83B5BF2F9D}"/>
              </a:ext>
            </a:extLst>
          </p:cNvPr>
          <p:cNvSpPr txBox="1"/>
          <p:nvPr/>
        </p:nvSpPr>
        <p:spPr>
          <a:xfrm>
            <a:off x="5316279" y="1509824"/>
            <a:ext cx="2264735" cy="523220"/>
          </a:xfrm>
          <a:prstGeom prst="rect">
            <a:avLst/>
          </a:prstGeom>
          <a:noFill/>
          <a:ln>
            <a:solidFill>
              <a:schemeClr val="accent1"/>
            </a:solidFill>
          </a:ln>
        </p:spPr>
        <p:txBody>
          <a:bodyPr wrap="square" rtlCol="0">
            <a:spAutoFit/>
          </a:bodyPr>
          <a:lstStyle/>
          <a:p>
            <a:pPr algn="ctr"/>
            <a:r>
              <a:rPr lang="en-US" sz="1400" dirty="0"/>
              <a:t>Request</a:t>
            </a:r>
          </a:p>
          <a:p>
            <a:pPr algn="ctr"/>
            <a:r>
              <a:rPr lang="en-US" sz="1400" dirty="0"/>
              <a:t>GET /index.htm HTTP/1.1</a:t>
            </a:r>
          </a:p>
        </p:txBody>
      </p:sp>
      <p:cxnSp>
        <p:nvCxnSpPr>
          <p:cNvPr id="16" name="Straight Arrow Connector 15" descr="Blue arrow (left)">
            <a:extLst>
              <a:ext uri="{FF2B5EF4-FFF2-40B4-BE49-F238E27FC236}">
                <a16:creationId xmlns:a16="http://schemas.microsoft.com/office/drawing/2014/main" id="{12A4CDEA-414B-40FE-9E07-9C1E2ADFF918}"/>
              </a:ext>
            </a:extLst>
          </p:cNvPr>
          <p:cNvCxnSpPr>
            <a:cxnSpLocks/>
          </p:cNvCxnSpPr>
          <p:nvPr/>
        </p:nvCxnSpPr>
        <p:spPr>
          <a:xfrm>
            <a:off x="5018567" y="2700669"/>
            <a:ext cx="2934586" cy="0"/>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D1BBF2C-7430-4D15-9745-586975BE36C8}"/>
              </a:ext>
            </a:extLst>
          </p:cNvPr>
          <p:cNvSpPr txBox="1"/>
          <p:nvPr/>
        </p:nvSpPr>
        <p:spPr>
          <a:xfrm>
            <a:off x="5007935" y="2743200"/>
            <a:ext cx="3040911" cy="307777"/>
          </a:xfrm>
          <a:prstGeom prst="rect">
            <a:avLst/>
          </a:prstGeom>
          <a:noFill/>
        </p:spPr>
        <p:txBody>
          <a:bodyPr wrap="square" rtlCol="0">
            <a:spAutoFit/>
          </a:bodyPr>
          <a:lstStyle/>
          <a:p>
            <a:pPr algn="ctr"/>
            <a:r>
              <a:rPr lang="en-US" sz="1400" dirty="0"/>
              <a:t>Here’s the home page.</a:t>
            </a:r>
          </a:p>
        </p:txBody>
      </p:sp>
      <p:sp>
        <p:nvSpPr>
          <p:cNvPr id="18" name="TextBox 17">
            <a:extLst>
              <a:ext uri="{FF2B5EF4-FFF2-40B4-BE49-F238E27FC236}">
                <a16:creationId xmlns:a16="http://schemas.microsoft.com/office/drawing/2014/main" id="{AD3DB244-5A1B-4E49-9717-7B88E60D8732}"/>
              </a:ext>
            </a:extLst>
          </p:cNvPr>
          <p:cNvSpPr txBox="1"/>
          <p:nvPr/>
        </p:nvSpPr>
        <p:spPr>
          <a:xfrm>
            <a:off x="5316279" y="3062178"/>
            <a:ext cx="2264735" cy="523220"/>
          </a:xfrm>
          <a:prstGeom prst="rect">
            <a:avLst/>
          </a:prstGeom>
          <a:noFill/>
          <a:ln>
            <a:solidFill>
              <a:schemeClr val="accent1"/>
            </a:solidFill>
          </a:ln>
        </p:spPr>
        <p:txBody>
          <a:bodyPr wrap="square" rtlCol="0">
            <a:spAutoFit/>
          </a:bodyPr>
          <a:lstStyle/>
          <a:p>
            <a:pPr algn="ctr"/>
            <a:r>
              <a:rPr lang="en-US" sz="1400" dirty="0"/>
              <a:t>Response</a:t>
            </a:r>
          </a:p>
          <a:p>
            <a:pPr algn="ctr"/>
            <a:r>
              <a:rPr lang="en-US" sz="1400" dirty="0"/>
              <a:t>HTTP 200 OK &lt;html&gt;</a:t>
            </a:r>
          </a:p>
        </p:txBody>
      </p:sp>
      <p:sp>
        <p:nvSpPr>
          <p:cNvPr id="21" name="TextBox 20">
            <a:extLst>
              <a:ext uri="{FF2B5EF4-FFF2-40B4-BE49-F238E27FC236}">
                <a16:creationId xmlns:a16="http://schemas.microsoft.com/office/drawing/2014/main" id="{4B628428-16AD-4C71-A247-CBEC9F1B9B6D}"/>
              </a:ext>
            </a:extLst>
          </p:cNvPr>
          <p:cNvSpPr txBox="1"/>
          <p:nvPr/>
        </p:nvSpPr>
        <p:spPr>
          <a:xfrm>
            <a:off x="4104167" y="3115340"/>
            <a:ext cx="850605" cy="307777"/>
          </a:xfrm>
          <a:prstGeom prst="rect">
            <a:avLst/>
          </a:prstGeom>
          <a:noFill/>
        </p:spPr>
        <p:txBody>
          <a:bodyPr wrap="square" rtlCol="0">
            <a:spAutoFit/>
          </a:bodyPr>
          <a:lstStyle/>
          <a:p>
            <a:pPr algn="ctr"/>
            <a:r>
              <a:rPr lang="en-US" sz="1400" dirty="0"/>
              <a:t>Client</a:t>
            </a:r>
          </a:p>
        </p:txBody>
      </p:sp>
      <p:sp>
        <p:nvSpPr>
          <p:cNvPr id="22" name="TextBox 21">
            <a:extLst>
              <a:ext uri="{FF2B5EF4-FFF2-40B4-BE49-F238E27FC236}">
                <a16:creationId xmlns:a16="http://schemas.microsoft.com/office/drawing/2014/main" id="{73D2C800-CA0E-4520-B804-A9A3EF53F3E9}"/>
              </a:ext>
            </a:extLst>
          </p:cNvPr>
          <p:cNvSpPr txBox="1"/>
          <p:nvPr/>
        </p:nvSpPr>
        <p:spPr>
          <a:xfrm>
            <a:off x="7751136" y="3115340"/>
            <a:ext cx="1265274" cy="307777"/>
          </a:xfrm>
          <a:prstGeom prst="rect">
            <a:avLst/>
          </a:prstGeom>
          <a:noFill/>
        </p:spPr>
        <p:txBody>
          <a:bodyPr wrap="square" rtlCol="0">
            <a:spAutoFit/>
          </a:bodyPr>
          <a:lstStyle/>
          <a:p>
            <a:pPr algn="ctr"/>
            <a:r>
              <a:rPr lang="en-US" sz="1400" dirty="0"/>
              <a:t>Web Server</a:t>
            </a:r>
          </a:p>
        </p:txBody>
      </p:sp>
    </p:spTree>
    <p:extLst>
      <p:ext uri="{BB962C8B-B14F-4D97-AF65-F5344CB8AC3E}">
        <p14:creationId xmlns:p14="http://schemas.microsoft.com/office/powerpoint/2010/main" val="1018715066"/>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4AB5E2-AEED-4F6A-B79D-A5CF9FFEED5C}"/>
              </a:ext>
            </a:extLst>
          </p:cNvPr>
          <p:cNvSpPr>
            <a:spLocks noGrp="1"/>
          </p:cNvSpPr>
          <p:nvPr>
            <p:ph type="body" sz="quarter" idx="10"/>
          </p:nvPr>
        </p:nvSpPr>
        <p:spPr>
          <a:xfrm>
            <a:off x="437766" y="1347787"/>
            <a:ext cx="3602606" cy="3404965"/>
          </a:xfrm>
        </p:spPr>
        <p:txBody>
          <a:bodyPr>
            <a:normAutofit fontScale="70000" lnSpcReduction="20000"/>
          </a:bodyPr>
          <a:lstStyle/>
          <a:p>
            <a:r>
              <a:rPr lang="en-US" dirty="0"/>
              <a:t>Representation State Transfer (REST) APIs use HTTP to interface with RESTful services.</a:t>
            </a:r>
          </a:p>
          <a:p>
            <a:r>
              <a:rPr lang="en-US" dirty="0"/>
              <a:t>The HTTP request asks for JavaScript Object Notation (JSON) formatted data.</a:t>
            </a:r>
          </a:p>
          <a:p>
            <a:r>
              <a:rPr lang="en-US" dirty="0"/>
              <a:t>If successfully formatted according to the API documentation, the server will respond with JSON data.</a:t>
            </a:r>
          </a:p>
        </p:txBody>
      </p:sp>
      <p:sp>
        <p:nvSpPr>
          <p:cNvPr id="3" name="Title 2">
            <a:extLst>
              <a:ext uri="{FF2B5EF4-FFF2-40B4-BE49-F238E27FC236}">
                <a16:creationId xmlns:a16="http://schemas.microsoft.com/office/drawing/2014/main" id="{17F0052F-DC06-439D-8639-62F1A3E8AF03}"/>
              </a:ext>
            </a:extLst>
          </p:cNvPr>
          <p:cNvSpPr>
            <a:spLocks noGrp="1"/>
          </p:cNvSpPr>
          <p:nvPr>
            <p:ph type="title"/>
          </p:nvPr>
        </p:nvSpPr>
        <p:spPr/>
        <p:txBody>
          <a:bodyPr/>
          <a:lstStyle/>
          <a:p>
            <a:r>
              <a:rPr lang="en-US" dirty="0"/>
              <a:t>RESTful API using HTTP</a:t>
            </a:r>
          </a:p>
        </p:txBody>
      </p:sp>
      <p:pic>
        <p:nvPicPr>
          <p:cNvPr id="7" name="Picture 6" descr="Client PC">
            <a:extLst>
              <a:ext uri="{FF2B5EF4-FFF2-40B4-BE49-F238E27FC236}">
                <a16:creationId xmlns:a16="http://schemas.microsoft.com/office/drawing/2014/main" id="{AC6B5F76-352C-4440-A07B-8F59690D7227}"/>
              </a:ext>
            </a:extLst>
          </p:cNvPr>
          <p:cNvPicPr>
            <a:picLocks noChangeAspect="1"/>
          </p:cNvPicPr>
          <p:nvPr/>
        </p:nvPicPr>
        <p:blipFill>
          <a:blip r:embed="rId2"/>
          <a:stretch>
            <a:fillRect/>
          </a:stretch>
        </p:blipFill>
        <p:spPr>
          <a:xfrm>
            <a:off x="4015636" y="2085078"/>
            <a:ext cx="1219048" cy="1015873"/>
          </a:xfrm>
          <a:prstGeom prst="rect">
            <a:avLst/>
          </a:prstGeom>
        </p:spPr>
      </p:pic>
      <p:pic>
        <p:nvPicPr>
          <p:cNvPr id="9" name="Picture 8" descr="API Endpoint host">
            <a:extLst>
              <a:ext uri="{FF2B5EF4-FFF2-40B4-BE49-F238E27FC236}">
                <a16:creationId xmlns:a16="http://schemas.microsoft.com/office/drawing/2014/main" id="{63A7DF47-B785-45AF-B5E7-C110CD6E9D90}"/>
              </a:ext>
            </a:extLst>
          </p:cNvPr>
          <p:cNvPicPr>
            <a:picLocks noChangeAspect="1"/>
          </p:cNvPicPr>
          <p:nvPr/>
        </p:nvPicPr>
        <p:blipFill>
          <a:blip r:embed="rId3"/>
          <a:stretch>
            <a:fillRect/>
          </a:stretch>
        </p:blipFill>
        <p:spPr>
          <a:xfrm>
            <a:off x="8023203" y="1987623"/>
            <a:ext cx="838095" cy="1168254"/>
          </a:xfrm>
          <a:prstGeom prst="rect">
            <a:avLst/>
          </a:prstGeom>
        </p:spPr>
      </p:pic>
      <p:cxnSp>
        <p:nvCxnSpPr>
          <p:cNvPr id="11" name="Straight Arrow Connector 10" descr="Blue arrow (right)">
            <a:extLst>
              <a:ext uri="{FF2B5EF4-FFF2-40B4-BE49-F238E27FC236}">
                <a16:creationId xmlns:a16="http://schemas.microsoft.com/office/drawing/2014/main" id="{3B1E20DC-3A44-4245-80C2-80B7A168E2DC}"/>
              </a:ext>
            </a:extLst>
          </p:cNvPr>
          <p:cNvCxnSpPr>
            <a:cxnSpLocks/>
          </p:cNvCxnSpPr>
          <p:nvPr/>
        </p:nvCxnSpPr>
        <p:spPr>
          <a:xfrm>
            <a:off x="5039833" y="2349795"/>
            <a:ext cx="29452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8B8A206-E41D-4140-99FC-0488AD42F87C}"/>
              </a:ext>
            </a:extLst>
          </p:cNvPr>
          <p:cNvSpPr txBox="1"/>
          <p:nvPr/>
        </p:nvSpPr>
        <p:spPr>
          <a:xfrm>
            <a:off x="5050465" y="1998921"/>
            <a:ext cx="2998381" cy="307777"/>
          </a:xfrm>
          <a:prstGeom prst="rect">
            <a:avLst/>
          </a:prstGeom>
          <a:noFill/>
        </p:spPr>
        <p:txBody>
          <a:bodyPr wrap="square" rtlCol="0">
            <a:spAutoFit/>
          </a:bodyPr>
          <a:lstStyle/>
          <a:p>
            <a:pPr algn="ctr"/>
            <a:r>
              <a:rPr lang="en-US" sz="1400" dirty="0"/>
              <a:t>Send me San Jose address info</a:t>
            </a:r>
          </a:p>
        </p:txBody>
      </p:sp>
      <p:sp>
        <p:nvSpPr>
          <p:cNvPr id="15" name="TextBox 14">
            <a:extLst>
              <a:ext uri="{FF2B5EF4-FFF2-40B4-BE49-F238E27FC236}">
                <a16:creationId xmlns:a16="http://schemas.microsoft.com/office/drawing/2014/main" id="{A32BF770-CDF4-4268-9EBB-AA83B5BF2F9D}"/>
              </a:ext>
            </a:extLst>
          </p:cNvPr>
          <p:cNvSpPr txBox="1"/>
          <p:nvPr/>
        </p:nvSpPr>
        <p:spPr>
          <a:xfrm>
            <a:off x="5220586" y="1414131"/>
            <a:ext cx="2488018" cy="523220"/>
          </a:xfrm>
          <a:prstGeom prst="rect">
            <a:avLst/>
          </a:prstGeom>
          <a:noFill/>
          <a:ln>
            <a:solidFill>
              <a:schemeClr val="accent1"/>
            </a:solidFill>
          </a:ln>
        </p:spPr>
        <p:txBody>
          <a:bodyPr wrap="square" rtlCol="0">
            <a:spAutoFit/>
          </a:bodyPr>
          <a:lstStyle/>
          <a:p>
            <a:pPr algn="ctr"/>
            <a:r>
              <a:rPr lang="en-US" sz="1400" dirty="0"/>
              <a:t>Request</a:t>
            </a:r>
          </a:p>
          <a:p>
            <a:pPr algn="ctr"/>
            <a:r>
              <a:rPr lang="en-US" sz="1400" dirty="0"/>
              <a:t>GET /json?address=san jose</a:t>
            </a:r>
          </a:p>
        </p:txBody>
      </p:sp>
      <p:cxnSp>
        <p:nvCxnSpPr>
          <p:cNvPr id="16" name="Straight Arrow Connector 15" descr="Blue arrow (left)">
            <a:extLst>
              <a:ext uri="{FF2B5EF4-FFF2-40B4-BE49-F238E27FC236}">
                <a16:creationId xmlns:a16="http://schemas.microsoft.com/office/drawing/2014/main" id="{12A4CDEA-414B-40FE-9E07-9C1E2ADFF918}"/>
              </a:ext>
            </a:extLst>
          </p:cNvPr>
          <p:cNvCxnSpPr>
            <a:cxnSpLocks/>
          </p:cNvCxnSpPr>
          <p:nvPr/>
        </p:nvCxnSpPr>
        <p:spPr>
          <a:xfrm>
            <a:off x="5018567" y="2700669"/>
            <a:ext cx="2934586" cy="0"/>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D1BBF2C-7430-4D15-9745-586975BE36C8}"/>
              </a:ext>
            </a:extLst>
          </p:cNvPr>
          <p:cNvSpPr txBox="1"/>
          <p:nvPr/>
        </p:nvSpPr>
        <p:spPr>
          <a:xfrm>
            <a:off x="5007935" y="2743200"/>
            <a:ext cx="3040911" cy="307777"/>
          </a:xfrm>
          <a:prstGeom prst="rect">
            <a:avLst/>
          </a:prstGeom>
          <a:noFill/>
        </p:spPr>
        <p:txBody>
          <a:bodyPr wrap="square" rtlCol="0">
            <a:spAutoFit/>
          </a:bodyPr>
          <a:lstStyle/>
          <a:p>
            <a:pPr algn="ctr"/>
            <a:r>
              <a:rPr lang="en-US" sz="1400" dirty="0"/>
              <a:t>Here’s the address info in JSON.</a:t>
            </a:r>
          </a:p>
        </p:txBody>
      </p:sp>
      <p:sp>
        <p:nvSpPr>
          <p:cNvPr id="18" name="TextBox 17">
            <a:extLst>
              <a:ext uri="{FF2B5EF4-FFF2-40B4-BE49-F238E27FC236}">
                <a16:creationId xmlns:a16="http://schemas.microsoft.com/office/drawing/2014/main" id="{AD3DB244-5A1B-4E49-9717-7B88E60D8732}"/>
              </a:ext>
            </a:extLst>
          </p:cNvPr>
          <p:cNvSpPr txBox="1"/>
          <p:nvPr/>
        </p:nvSpPr>
        <p:spPr>
          <a:xfrm>
            <a:off x="5316279" y="3062178"/>
            <a:ext cx="2264735" cy="523220"/>
          </a:xfrm>
          <a:prstGeom prst="rect">
            <a:avLst/>
          </a:prstGeom>
          <a:noFill/>
          <a:ln>
            <a:solidFill>
              <a:schemeClr val="accent1"/>
            </a:solidFill>
          </a:ln>
        </p:spPr>
        <p:txBody>
          <a:bodyPr wrap="square" rtlCol="0">
            <a:spAutoFit/>
          </a:bodyPr>
          <a:lstStyle/>
          <a:p>
            <a:pPr algn="ctr"/>
            <a:r>
              <a:rPr lang="en-US" sz="1400" dirty="0"/>
              <a:t>Response</a:t>
            </a:r>
          </a:p>
          <a:p>
            <a:pPr algn="ctr"/>
            <a:r>
              <a:rPr lang="en-US" sz="1400" dirty="0"/>
              <a:t>HTTP 200 OK {json data}</a:t>
            </a:r>
          </a:p>
        </p:txBody>
      </p:sp>
      <p:sp>
        <p:nvSpPr>
          <p:cNvPr id="4" name="TextBox 3">
            <a:extLst>
              <a:ext uri="{FF2B5EF4-FFF2-40B4-BE49-F238E27FC236}">
                <a16:creationId xmlns:a16="http://schemas.microsoft.com/office/drawing/2014/main" id="{3870FB29-DA56-44AA-AA7E-DE460E6CCD2D}"/>
              </a:ext>
            </a:extLst>
          </p:cNvPr>
          <p:cNvSpPr txBox="1"/>
          <p:nvPr/>
        </p:nvSpPr>
        <p:spPr>
          <a:xfrm>
            <a:off x="4104167" y="3115340"/>
            <a:ext cx="850605" cy="307777"/>
          </a:xfrm>
          <a:prstGeom prst="rect">
            <a:avLst/>
          </a:prstGeom>
          <a:noFill/>
        </p:spPr>
        <p:txBody>
          <a:bodyPr wrap="square" rtlCol="0">
            <a:spAutoFit/>
          </a:bodyPr>
          <a:lstStyle/>
          <a:p>
            <a:pPr algn="ctr"/>
            <a:r>
              <a:rPr lang="en-US" sz="1400" dirty="0"/>
              <a:t>Client</a:t>
            </a:r>
          </a:p>
        </p:txBody>
      </p:sp>
      <p:sp>
        <p:nvSpPr>
          <p:cNvPr id="13" name="TextBox 12">
            <a:extLst>
              <a:ext uri="{FF2B5EF4-FFF2-40B4-BE49-F238E27FC236}">
                <a16:creationId xmlns:a16="http://schemas.microsoft.com/office/drawing/2014/main" id="{10E3D23E-D545-4CBC-AFBD-3940AC379F40}"/>
              </a:ext>
            </a:extLst>
          </p:cNvPr>
          <p:cNvSpPr txBox="1"/>
          <p:nvPr/>
        </p:nvSpPr>
        <p:spPr>
          <a:xfrm>
            <a:off x="7751136" y="3115340"/>
            <a:ext cx="1265274" cy="307777"/>
          </a:xfrm>
          <a:prstGeom prst="rect">
            <a:avLst/>
          </a:prstGeom>
          <a:noFill/>
        </p:spPr>
        <p:txBody>
          <a:bodyPr wrap="square" rtlCol="0">
            <a:spAutoFit/>
          </a:bodyPr>
          <a:lstStyle/>
          <a:p>
            <a:pPr algn="ctr"/>
            <a:r>
              <a:rPr lang="en-US" sz="1400" dirty="0"/>
              <a:t>API Endpoint</a:t>
            </a:r>
          </a:p>
        </p:txBody>
      </p:sp>
    </p:spTree>
    <p:extLst>
      <p:ext uri="{BB962C8B-B14F-4D97-AF65-F5344CB8AC3E}">
        <p14:creationId xmlns:p14="http://schemas.microsoft.com/office/powerpoint/2010/main" val="805317627"/>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4AB5E2-AEED-4F6A-B79D-A5CF9FFEED5C}"/>
              </a:ext>
            </a:extLst>
          </p:cNvPr>
          <p:cNvSpPr>
            <a:spLocks noGrp="1"/>
          </p:cNvSpPr>
          <p:nvPr>
            <p:ph type="body" sz="quarter" idx="10"/>
          </p:nvPr>
        </p:nvSpPr>
        <p:spPr>
          <a:xfrm>
            <a:off x="437766" y="1347787"/>
            <a:ext cx="3602606" cy="3404965"/>
          </a:xfrm>
        </p:spPr>
        <p:txBody>
          <a:bodyPr>
            <a:normAutofit fontScale="70000" lnSpcReduction="20000"/>
          </a:bodyPr>
          <a:lstStyle/>
          <a:p>
            <a:r>
              <a:rPr lang="en-US" dirty="0"/>
              <a:t>Representation State Transfer (REST) APIs use HTTP to interface with RESTful services.</a:t>
            </a:r>
          </a:p>
          <a:p>
            <a:r>
              <a:rPr lang="en-US" dirty="0"/>
              <a:t>The HTTP request asks for JavaScript Object Notation (JSON) formatted data.</a:t>
            </a:r>
          </a:p>
          <a:p>
            <a:r>
              <a:rPr lang="en-US" dirty="0"/>
              <a:t>If successfully formatted according to the API documentation, the server will respond with JSON data.</a:t>
            </a:r>
          </a:p>
        </p:txBody>
      </p:sp>
      <p:sp>
        <p:nvSpPr>
          <p:cNvPr id="3" name="Title 2">
            <a:extLst>
              <a:ext uri="{FF2B5EF4-FFF2-40B4-BE49-F238E27FC236}">
                <a16:creationId xmlns:a16="http://schemas.microsoft.com/office/drawing/2014/main" id="{17F0052F-DC06-439D-8639-62F1A3E8AF03}"/>
              </a:ext>
            </a:extLst>
          </p:cNvPr>
          <p:cNvSpPr>
            <a:spLocks noGrp="1"/>
          </p:cNvSpPr>
          <p:nvPr>
            <p:ph type="title"/>
          </p:nvPr>
        </p:nvSpPr>
        <p:spPr/>
        <p:txBody>
          <a:bodyPr/>
          <a:lstStyle/>
          <a:p>
            <a:r>
              <a:rPr lang="en-US" dirty="0"/>
              <a:t>RESTful API using HTTP</a:t>
            </a:r>
          </a:p>
        </p:txBody>
      </p:sp>
      <p:pic>
        <p:nvPicPr>
          <p:cNvPr id="7" name="Picture 6" descr="Client PC">
            <a:extLst>
              <a:ext uri="{FF2B5EF4-FFF2-40B4-BE49-F238E27FC236}">
                <a16:creationId xmlns:a16="http://schemas.microsoft.com/office/drawing/2014/main" id="{AC6B5F76-352C-4440-A07B-8F59690D7227}"/>
              </a:ext>
            </a:extLst>
          </p:cNvPr>
          <p:cNvPicPr>
            <a:picLocks noChangeAspect="1"/>
          </p:cNvPicPr>
          <p:nvPr/>
        </p:nvPicPr>
        <p:blipFill>
          <a:blip r:embed="rId2"/>
          <a:stretch>
            <a:fillRect/>
          </a:stretch>
        </p:blipFill>
        <p:spPr>
          <a:xfrm>
            <a:off x="4015636" y="2085078"/>
            <a:ext cx="1219048" cy="1015873"/>
          </a:xfrm>
          <a:prstGeom prst="rect">
            <a:avLst/>
          </a:prstGeom>
        </p:spPr>
      </p:pic>
      <p:pic>
        <p:nvPicPr>
          <p:cNvPr id="9" name="Picture 8" descr="API Endpoint host">
            <a:extLst>
              <a:ext uri="{FF2B5EF4-FFF2-40B4-BE49-F238E27FC236}">
                <a16:creationId xmlns:a16="http://schemas.microsoft.com/office/drawing/2014/main" id="{63A7DF47-B785-45AF-B5E7-C110CD6E9D90}"/>
              </a:ext>
            </a:extLst>
          </p:cNvPr>
          <p:cNvPicPr>
            <a:picLocks noChangeAspect="1"/>
          </p:cNvPicPr>
          <p:nvPr/>
        </p:nvPicPr>
        <p:blipFill>
          <a:blip r:embed="rId3"/>
          <a:stretch>
            <a:fillRect/>
          </a:stretch>
        </p:blipFill>
        <p:spPr>
          <a:xfrm>
            <a:off x="8023203" y="1987623"/>
            <a:ext cx="838095" cy="1168254"/>
          </a:xfrm>
          <a:prstGeom prst="rect">
            <a:avLst/>
          </a:prstGeom>
        </p:spPr>
      </p:pic>
      <p:cxnSp>
        <p:nvCxnSpPr>
          <p:cNvPr id="11" name="Straight Arrow Connector 10" descr="Blue arrow (right)">
            <a:extLst>
              <a:ext uri="{FF2B5EF4-FFF2-40B4-BE49-F238E27FC236}">
                <a16:creationId xmlns:a16="http://schemas.microsoft.com/office/drawing/2014/main" id="{3B1E20DC-3A44-4245-80C2-80B7A168E2DC}"/>
              </a:ext>
            </a:extLst>
          </p:cNvPr>
          <p:cNvCxnSpPr>
            <a:cxnSpLocks/>
          </p:cNvCxnSpPr>
          <p:nvPr/>
        </p:nvCxnSpPr>
        <p:spPr>
          <a:xfrm>
            <a:off x="5039833" y="2349795"/>
            <a:ext cx="294521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8B8A206-E41D-4140-99FC-0488AD42F87C}"/>
              </a:ext>
            </a:extLst>
          </p:cNvPr>
          <p:cNvSpPr txBox="1"/>
          <p:nvPr/>
        </p:nvSpPr>
        <p:spPr>
          <a:xfrm>
            <a:off x="5050465" y="1998921"/>
            <a:ext cx="2998381" cy="307777"/>
          </a:xfrm>
          <a:prstGeom prst="rect">
            <a:avLst/>
          </a:prstGeom>
          <a:noFill/>
        </p:spPr>
        <p:txBody>
          <a:bodyPr wrap="square" rtlCol="0">
            <a:spAutoFit/>
          </a:bodyPr>
          <a:lstStyle/>
          <a:p>
            <a:pPr algn="ctr"/>
            <a:r>
              <a:rPr lang="en-US" sz="1400" dirty="0"/>
              <a:t>Send me San Jose address info</a:t>
            </a:r>
          </a:p>
        </p:txBody>
      </p:sp>
      <p:sp>
        <p:nvSpPr>
          <p:cNvPr id="15" name="TextBox 14">
            <a:extLst>
              <a:ext uri="{FF2B5EF4-FFF2-40B4-BE49-F238E27FC236}">
                <a16:creationId xmlns:a16="http://schemas.microsoft.com/office/drawing/2014/main" id="{A32BF770-CDF4-4268-9EBB-AA83B5BF2F9D}"/>
              </a:ext>
            </a:extLst>
          </p:cNvPr>
          <p:cNvSpPr txBox="1"/>
          <p:nvPr/>
        </p:nvSpPr>
        <p:spPr>
          <a:xfrm>
            <a:off x="5220586" y="1414131"/>
            <a:ext cx="2488018" cy="523220"/>
          </a:xfrm>
          <a:prstGeom prst="rect">
            <a:avLst/>
          </a:prstGeom>
          <a:noFill/>
          <a:ln>
            <a:solidFill>
              <a:schemeClr val="accent1"/>
            </a:solidFill>
          </a:ln>
        </p:spPr>
        <p:txBody>
          <a:bodyPr wrap="square" rtlCol="0">
            <a:spAutoFit/>
          </a:bodyPr>
          <a:lstStyle/>
          <a:p>
            <a:pPr algn="ctr"/>
            <a:r>
              <a:rPr lang="en-US" sz="1400" dirty="0"/>
              <a:t>Request</a:t>
            </a:r>
          </a:p>
          <a:p>
            <a:pPr algn="ctr"/>
            <a:r>
              <a:rPr lang="en-US" sz="1400" dirty="0"/>
              <a:t>GET /json?address=san jose</a:t>
            </a:r>
          </a:p>
        </p:txBody>
      </p:sp>
      <p:cxnSp>
        <p:nvCxnSpPr>
          <p:cNvPr id="16" name="Straight Arrow Connector 15" descr="Blue arrow (left)">
            <a:extLst>
              <a:ext uri="{FF2B5EF4-FFF2-40B4-BE49-F238E27FC236}">
                <a16:creationId xmlns:a16="http://schemas.microsoft.com/office/drawing/2014/main" id="{12A4CDEA-414B-40FE-9E07-9C1E2ADFF918}"/>
              </a:ext>
            </a:extLst>
          </p:cNvPr>
          <p:cNvCxnSpPr>
            <a:cxnSpLocks/>
          </p:cNvCxnSpPr>
          <p:nvPr/>
        </p:nvCxnSpPr>
        <p:spPr>
          <a:xfrm>
            <a:off x="5018567" y="2700669"/>
            <a:ext cx="2934586" cy="0"/>
          </a:xfrm>
          <a:prstGeom prst="straightConnector1">
            <a:avLst/>
          </a:prstGeom>
          <a:ln w="5715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D1BBF2C-7430-4D15-9745-586975BE36C8}"/>
              </a:ext>
            </a:extLst>
          </p:cNvPr>
          <p:cNvSpPr txBox="1"/>
          <p:nvPr/>
        </p:nvSpPr>
        <p:spPr>
          <a:xfrm>
            <a:off x="5007935" y="2743200"/>
            <a:ext cx="3040911" cy="307777"/>
          </a:xfrm>
          <a:prstGeom prst="rect">
            <a:avLst/>
          </a:prstGeom>
          <a:noFill/>
        </p:spPr>
        <p:txBody>
          <a:bodyPr wrap="square" rtlCol="0">
            <a:spAutoFit/>
          </a:bodyPr>
          <a:lstStyle/>
          <a:p>
            <a:pPr algn="ctr"/>
            <a:r>
              <a:rPr lang="en-US" sz="1400" dirty="0"/>
              <a:t>Here’s the address info in JSON.</a:t>
            </a:r>
          </a:p>
        </p:txBody>
      </p:sp>
      <p:sp>
        <p:nvSpPr>
          <p:cNvPr id="18" name="TextBox 17">
            <a:extLst>
              <a:ext uri="{FF2B5EF4-FFF2-40B4-BE49-F238E27FC236}">
                <a16:creationId xmlns:a16="http://schemas.microsoft.com/office/drawing/2014/main" id="{AD3DB244-5A1B-4E49-9717-7B88E60D8732}"/>
              </a:ext>
            </a:extLst>
          </p:cNvPr>
          <p:cNvSpPr txBox="1"/>
          <p:nvPr/>
        </p:nvSpPr>
        <p:spPr>
          <a:xfrm>
            <a:off x="5316279" y="3062178"/>
            <a:ext cx="2264735" cy="523220"/>
          </a:xfrm>
          <a:prstGeom prst="rect">
            <a:avLst/>
          </a:prstGeom>
          <a:noFill/>
          <a:ln>
            <a:solidFill>
              <a:schemeClr val="accent1"/>
            </a:solidFill>
          </a:ln>
        </p:spPr>
        <p:txBody>
          <a:bodyPr wrap="square" rtlCol="0">
            <a:spAutoFit/>
          </a:bodyPr>
          <a:lstStyle/>
          <a:p>
            <a:pPr algn="ctr"/>
            <a:r>
              <a:rPr lang="en-US" sz="1400" dirty="0"/>
              <a:t>Response</a:t>
            </a:r>
          </a:p>
          <a:p>
            <a:pPr algn="ctr"/>
            <a:r>
              <a:rPr lang="en-US" sz="1400" dirty="0"/>
              <a:t>HTTP 200 OK {json data}</a:t>
            </a:r>
          </a:p>
        </p:txBody>
      </p:sp>
      <p:sp>
        <p:nvSpPr>
          <p:cNvPr id="4" name="TextBox 3">
            <a:extLst>
              <a:ext uri="{FF2B5EF4-FFF2-40B4-BE49-F238E27FC236}">
                <a16:creationId xmlns:a16="http://schemas.microsoft.com/office/drawing/2014/main" id="{3870FB29-DA56-44AA-AA7E-DE460E6CCD2D}"/>
              </a:ext>
            </a:extLst>
          </p:cNvPr>
          <p:cNvSpPr txBox="1"/>
          <p:nvPr/>
        </p:nvSpPr>
        <p:spPr>
          <a:xfrm>
            <a:off x="4104167" y="3115340"/>
            <a:ext cx="850605" cy="307777"/>
          </a:xfrm>
          <a:prstGeom prst="rect">
            <a:avLst/>
          </a:prstGeom>
          <a:noFill/>
        </p:spPr>
        <p:txBody>
          <a:bodyPr wrap="square" rtlCol="0">
            <a:spAutoFit/>
          </a:bodyPr>
          <a:lstStyle/>
          <a:p>
            <a:pPr algn="ctr"/>
            <a:r>
              <a:rPr lang="en-US" sz="1400" dirty="0"/>
              <a:t>Client</a:t>
            </a:r>
          </a:p>
        </p:txBody>
      </p:sp>
      <p:sp>
        <p:nvSpPr>
          <p:cNvPr id="13" name="TextBox 12">
            <a:extLst>
              <a:ext uri="{FF2B5EF4-FFF2-40B4-BE49-F238E27FC236}">
                <a16:creationId xmlns:a16="http://schemas.microsoft.com/office/drawing/2014/main" id="{10E3D23E-D545-4CBC-AFBD-3940AC379F40}"/>
              </a:ext>
            </a:extLst>
          </p:cNvPr>
          <p:cNvSpPr txBox="1"/>
          <p:nvPr/>
        </p:nvSpPr>
        <p:spPr>
          <a:xfrm>
            <a:off x="7751136" y="3115340"/>
            <a:ext cx="1265274" cy="307777"/>
          </a:xfrm>
          <a:prstGeom prst="rect">
            <a:avLst/>
          </a:prstGeom>
          <a:noFill/>
        </p:spPr>
        <p:txBody>
          <a:bodyPr wrap="square" rtlCol="0">
            <a:spAutoFit/>
          </a:bodyPr>
          <a:lstStyle/>
          <a:p>
            <a:pPr algn="ctr"/>
            <a:r>
              <a:rPr lang="en-US" sz="1400" dirty="0"/>
              <a:t>API Endpoint</a:t>
            </a:r>
          </a:p>
        </p:txBody>
      </p:sp>
    </p:spTree>
    <p:extLst>
      <p:ext uri="{BB962C8B-B14F-4D97-AF65-F5344CB8AC3E}">
        <p14:creationId xmlns:p14="http://schemas.microsoft.com/office/powerpoint/2010/main" val="1588759055"/>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A886C9-7D56-4B17-9947-9E586F68D302}"/>
              </a:ext>
            </a:extLst>
          </p:cNvPr>
          <p:cNvSpPr>
            <a:spLocks noGrp="1"/>
          </p:cNvSpPr>
          <p:nvPr>
            <p:ph type="body" sz="quarter" idx="10"/>
          </p:nvPr>
        </p:nvSpPr>
        <p:spPr>
          <a:xfrm>
            <a:off x="437766" y="2519915"/>
            <a:ext cx="8345488" cy="2115879"/>
          </a:xfrm>
        </p:spPr>
        <p:txBody>
          <a:bodyPr>
            <a:normAutofit fontScale="92500" lnSpcReduction="20000"/>
          </a:bodyPr>
          <a:lstStyle/>
          <a:p>
            <a:r>
              <a:rPr lang="en-US" dirty="0"/>
              <a:t>API Server: The URL for the server that answers REST requests</a:t>
            </a:r>
          </a:p>
          <a:p>
            <a:r>
              <a:rPr lang="en-US" dirty="0"/>
              <a:t>Resources: Specifies the API that is being requested.</a:t>
            </a:r>
          </a:p>
          <a:p>
            <a:r>
              <a:rPr lang="en-US" dirty="0"/>
              <a:t>Format: Usually JSON or XML </a:t>
            </a:r>
          </a:p>
          <a:p>
            <a:r>
              <a:rPr lang="en-US" dirty="0"/>
              <a:t>Parameters: Specifies what data is being requested</a:t>
            </a:r>
          </a:p>
        </p:txBody>
      </p:sp>
      <p:sp>
        <p:nvSpPr>
          <p:cNvPr id="3" name="Title 2">
            <a:extLst>
              <a:ext uri="{FF2B5EF4-FFF2-40B4-BE49-F238E27FC236}">
                <a16:creationId xmlns:a16="http://schemas.microsoft.com/office/drawing/2014/main" id="{A58589EB-AC1B-4F17-B1BB-F7F399E402BB}"/>
              </a:ext>
            </a:extLst>
          </p:cNvPr>
          <p:cNvSpPr>
            <a:spLocks noGrp="1"/>
          </p:cNvSpPr>
          <p:nvPr>
            <p:ph type="title"/>
          </p:nvPr>
        </p:nvSpPr>
        <p:spPr/>
        <p:txBody>
          <a:bodyPr/>
          <a:lstStyle/>
          <a:p>
            <a:r>
              <a:rPr lang="en-US" dirty="0"/>
              <a:t>Anatomy of a RESTful Request</a:t>
            </a:r>
          </a:p>
        </p:txBody>
      </p:sp>
      <p:sp>
        <p:nvSpPr>
          <p:cNvPr id="4" name="Rectangle 3">
            <a:extLst>
              <a:ext uri="{FF2B5EF4-FFF2-40B4-BE49-F238E27FC236}">
                <a16:creationId xmlns:a16="http://schemas.microsoft.com/office/drawing/2014/main" id="{56E0D220-F49C-416A-B325-E563F5320B95}"/>
              </a:ext>
            </a:extLst>
          </p:cNvPr>
          <p:cNvSpPr/>
          <p:nvPr/>
        </p:nvSpPr>
        <p:spPr>
          <a:xfrm>
            <a:off x="446568" y="1110900"/>
            <a:ext cx="8426212" cy="369332"/>
          </a:xfrm>
          <a:prstGeom prst="rect">
            <a:avLst/>
          </a:prstGeom>
        </p:spPr>
        <p:txBody>
          <a:bodyPr wrap="square">
            <a:spAutoFit/>
          </a:bodyPr>
          <a:lstStyle/>
          <a:p>
            <a:r>
              <a:rPr lang="en-US" altLang="en-US" dirty="0">
                <a:solidFill>
                  <a:srgbClr val="0070C0"/>
                </a:solidFill>
              </a:rPr>
              <a:t>https://www.mapquestapi.com/directions/v2/route?outFormat=json&amp;key=KEY&amp;...</a:t>
            </a:r>
            <a:endParaRPr lang="en-US" dirty="0">
              <a:solidFill>
                <a:srgbClr val="0070C0"/>
              </a:solidFill>
            </a:endParaRPr>
          </a:p>
        </p:txBody>
      </p:sp>
      <p:sp>
        <p:nvSpPr>
          <p:cNvPr id="5" name="TextBox 4">
            <a:extLst>
              <a:ext uri="{FF2B5EF4-FFF2-40B4-BE49-F238E27FC236}">
                <a16:creationId xmlns:a16="http://schemas.microsoft.com/office/drawing/2014/main" id="{E514083C-22D0-4F3B-8F3D-371CE1C15546}"/>
              </a:ext>
            </a:extLst>
          </p:cNvPr>
          <p:cNvSpPr txBox="1"/>
          <p:nvPr/>
        </p:nvSpPr>
        <p:spPr>
          <a:xfrm>
            <a:off x="1715986" y="1761682"/>
            <a:ext cx="1172943" cy="313932"/>
          </a:xfrm>
          <a:prstGeom prst="rect">
            <a:avLst/>
          </a:prstGeom>
          <a:noFill/>
        </p:spPr>
        <p:txBody>
          <a:bodyPr wrap="square">
            <a:spAutoFit/>
          </a:bodyPr>
          <a:lstStyle/>
          <a:p>
            <a:pPr>
              <a:lnSpc>
                <a:spcPct val="90000"/>
              </a:lnSpc>
              <a:spcBef>
                <a:spcPts val="600"/>
              </a:spcBef>
              <a:defRPr/>
            </a:pPr>
            <a:r>
              <a:rPr lang="en-US" sz="1600" dirty="0">
                <a:solidFill>
                  <a:schemeClr val="tx1">
                    <a:lumMod val="95000"/>
                    <a:lumOff val="5000"/>
                  </a:schemeClr>
                </a:solidFill>
                <a:latin typeface="Calibri" panose="020F0502020204030204" pitchFamily="34" charset="0"/>
              </a:rPr>
              <a:t>API Server</a:t>
            </a:r>
          </a:p>
        </p:txBody>
      </p:sp>
      <p:sp>
        <p:nvSpPr>
          <p:cNvPr id="6" name="Left Brace 7" descr="Blue brace">
            <a:extLst>
              <a:ext uri="{FF2B5EF4-FFF2-40B4-BE49-F238E27FC236}">
                <a16:creationId xmlns:a16="http://schemas.microsoft.com/office/drawing/2014/main" id="{5DC3D2E4-611E-4E33-B280-0D1212EA675A}"/>
              </a:ext>
            </a:extLst>
          </p:cNvPr>
          <p:cNvSpPr>
            <a:spLocks/>
          </p:cNvSpPr>
          <p:nvPr/>
        </p:nvSpPr>
        <p:spPr bwMode="auto">
          <a:xfrm rot="-5400000">
            <a:off x="4432012" y="731986"/>
            <a:ext cx="280988" cy="1885099"/>
          </a:xfrm>
          <a:prstGeom prst="leftBrace">
            <a:avLst>
              <a:gd name="adj1" fmla="val 184693"/>
              <a:gd name="adj2" fmla="val 4778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charset="0"/>
                <a:ea typeface="MS PGothic" charset="-128"/>
                <a:cs typeface="MS PGothic" charset="-128"/>
              </a:defRPr>
            </a:lvl1pPr>
            <a:lvl2pPr marL="742950" indent="-285750">
              <a:defRPr sz="2400">
                <a:solidFill>
                  <a:schemeClr val="tx1"/>
                </a:solidFill>
                <a:latin typeface="Arial" charset="0"/>
                <a:ea typeface="MS PGothic" charset="-128"/>
                <a:cs typeface="MS PGothic" charset="-128"/>
              </a:defRPr>
            </a:lvl2pPr>
            <a:lvl3pPr marL="1143000" indent="-228600">
              <a:defRPr sz="2400">
                <a:solidFill>
                  <a:schemeClr val="tx1"/>
                </a:solidFill>
                <a:latin typeface="Arial" charset="0"/>
                <a:ea typeface="MS PGothic" charset="-128"/>
                <a:cs typeface="MS PGothic" charset="-128"/>
              </a:defRPr>
            </a:lvl3pPr>
            <a:lvl4pPr marL="1600200" indent="-228600">
              <a:defRPr sz="2400">
                <a:solidFill>
                  <a:schemeClr val="tx1"/>
                </a:solidFill>
                <a:latin typeface="Arial" charset="0"/>
                <a:ea typeface="MS PGothic" charset="-128"/>
                <a:cs typeface="MS PGothic" charset="-128"/>
              </a:defRPr>
            </a:lvl4pPr>
            <a:lvl5pPr marL="2057400" indent="-228600">
              <a:defRPr sz="2400">
                <a:solidFill>
                  <a:schemeClr val="tx1"/>
                </a:solidFill>
                <a:latin typeface="Arial" charset="0"/>
                <a:ea typeface="MS PGothic" charset="-128"/>
                <a:cs typeface="MS PGothic" charset="-128"/>
              </a:defRPr>
            </a:lvl5pPr>
            <a:lvl6pPr marL="25146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6pPr>
            <a:lvl7pPr marL="29718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7pPr>
            <a:lvl8pPr marL="34290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8pPr>
            <a:lvl9pPr marL="38862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9pPr>
          </a:lstStyle>
          <a:p>
            <a:pPr algn="ctr"/>
            <a:endParaRPr lang="en-US" altLang="en-US" dirty="0">
              <a:solidFill>
                <a:srgbClr val="6F6F6F"/>
              </a:solidFill>
              <a:latin typeface="Calibri" charset="0"/>
            </a:endParaRPr>
          </a:p>
        </p:txBody>
      </p:sp>
      <p:sp>
        <p:nvSpPr>
          <p:cNvPr id="7" name="Left Brace 8" descr="Blue brace">
            <a:extLst>
              <a:ext uri="{FF2B5EF4-FFF2-40B4-BE49-F238E27FC236}">
                <a16:creationId xmlns:a16="http://schemas.microsoft.com/office/drawing/2014/main" id="{513A5F24-088D-40E3-AF71-93693A61760C}"/>
              </a:ext>
            </a:extLst>
          </p:cNvPr>
          <p:cNvSpPr>
            <a:spLocks/>
          </p:cNvSpPr>
          <p:nvPr/>
        </p:nvSpPr>
        <p:spPr bwMode="auto">
          <a:xfrm rot="-5400000">
            <a:off x="2222999" y="504412"/>
            <a:ext cx="280988" cy="2340248"/>
          </a:xfrm>
          <a:prstGeom prst="leftBrace">
            <a:avLst>
              <a:gd name="adj1" fmla="val 184709"/>
              <a:gd name="adj2" fmla="val 4778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charset="0"/>
                <a:ea typeface="MS PGothic" charset="-128"/>
                <a:cs typeface="MS PGothic" charset="-128"/>
              </a:defRPr>
            </a:lvl1pPr>
            <a:lvl2pPr marL="742950" indent="-285750">
              <a:defRPr sz="2400">
                <a:solidFill>
                  <a:schemeClr val="tx1"/>
                </a:solidFill>
                <a:latin typeface="Arial" charset="0"/>
                <a:ea typeface="MS PGothic" charset="-128"/>
                <a:cs typeface="MS PGothic" charset="-128"/>
              </a:defRPr>
            </a:lvl2pPr>
            <a:lvl3pPr marL="1143000" indent="-228600">
              <a:defRPr sz="2400">
                <a:solidFill>
                  <a:schemeClr val="tx1"/>
                </a:solidFill>
                <a:latin typeface="Arial" charset="0"/>
                <a:ea typeface="MS PGothic" charset="-128"/>
                <a:cs typeface="MS PGothic" charset="-128"/>
              </a:defRPr>
            </a:lvl3pPr>
            <a:lvl4pPr marL="1600200" indent="-228600">
              <a:defRPr sz="2400">
                <a:solidFill>
                  <a:schemeClr val="tx1"/>
                </a:solidFill>
                <a:latin typeface="Arial" charset="0"/>
                <a:ea typeface="MS PGothic" charset="-128"/>
                <a:cs typeface="MS PGothic" charset="-128"/>
              </a:defRPr>
            </a:lvl4pPr>
            <a:lvl5pPr marL="2057400" indent="-228600">
              <a:defRPr sz="2400">
                <a:solidFill>
                  <a:schemeClr val="tx1"/>
                </a:solidFill>
                <a:latin typeface="Arial" charset="0"/>
                <a:ea typeface="MS PGothic" charset="-128"/>
                <a:cs typeface="MS PGothic" charset="-128"/>
              </a:defRPr>
            </a:lvl5pPr>
            <a:lvl6pPr marL="25146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6pPr>
            <a:lvl7pPr marL="29718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7pPr>
            <a:lvl8pPr marL="34290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8pPr>
            <a:lvl9pPr marL="38862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9pPr>
          </a:lstStyle>
          <a:p>
            <a:pPr algn="ctr"/>
            <a:endParaRPr lang="en-US" altLang="en-US" dirty="0">
              <a:solidFill>
                <a:srgbClr val="6F6F6F"/>
              </a:solidFill>
              <a:latin typeface="Calibri" charset="0"/>
            </a:endParaRPr>
          </a:p>
        </p:txBody>
      </p:sp>
      <p:sp>
        <p:nvSpPr>
          <p:cNvPr id="8" name="TextBox 7">
            <a:extLst>
              <a:ext uri="{FF2B5EF4-FFF2-40B4-BE49-F238E27FC236}">
                <a16:creationId xmlns:a16="http://schemas.microsoft.com/office/drawing/2014/main" id="{BC0112CF-F03B-439C-97AE-8F3E545BEC63}"/>
              </a:ext>
            </a:extLst>
          </p:cNvPr>
          <p:cNvSpPr txBox="1"/>
          <p:nvPr/>
        </p:nvSpPr>
        <p:spPr>
          <a:xfrm>
            <a:off x="4076522" y="1726130"/>
            <a:ext cx="1158875" cy="314325"/>
          </a:xfrm>
          <a:prstGeom prst="rect">
            <a:avLst/>
          </a:prstGeom>
          <a:noFill/>
        </p:spPr>
        <p:txBody>
          <a:bodyPr>
            <a:spAutoFit/>
          </a:bodyPr>
          <a:lstStyle/>
          <a:p>
            <a:pPr>
              <a:lnSpc>
                <a:spcPct val="90000"/>
              </a:lnSpc>
              <a:spcBef>
                <a:spcPts val="600"/>
              </a:spcBef>
              <a:defRPr/>
            </a:pPr>
            <a:r>
              <a:rPr lang="en-US" sz="1600" dirty="0">
                <a:solidFill>
                  <a:schemeClr val="tx1">
                    <a:lumMod val="95000"/>
                    <a:lumOff val="5000"/>
                  </a:schemeClr>
                </a:solidFill>
                <a:latin typeface="Calibri" panose="020F0502020204030204" pitchFamily="34" charset="0"/>
              </a:rPr>
              <a:t>Resources</a:t>
            </a:r>
          </a:p>
        </p:txBody>
      </p:sp>
      <p:sp>
        <p:nvSpPr>
          <p:cNvPr id="9" name="Left Brace 10" descr="Blue brace">
            <a:extLst>
              <a:ext uri="{FF2B5EF4-FFF2-40B4-BE49-F238E27FC236}">
                <a16:creationId xmlns:a16="http://schemas.microsoft.com/office/drawing/2014/main" id="{9F55EE33-4E34-4D1A-A6BE-A67E9CDE67EB}"/>
              </a:ext>
            </a:extLst>
          </p:cNvPr>
          <p:cNvSpPr>
            <a:spLocks/>
          </p:cNvSpPr>
          <p:nvPr/>
        </p:nvSpPr>
        <p:spPr bwMode="auto">
          <a:xfrm rot="-5400000">
            <a:off x="7805750" y="980475"/>
            <a:ext cx="280988" cy="1388122"/>
          </a:xfrm>
          <a:prstGeom prst="leftBrace">
            <a:avLst>
              <a:gd name="adj1" fmla="val 184705"/>
              <a:gd name="adj2" fmla="val 4778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charset="0"/>
                <a:ea typeface="MS PGothic" charset="-128"/>
                <a:cs typeface="MS PGothic" charset="-128"/>
              </a:defRPr>
            </a:lvl1pPr>
            <a:lvl2pPr marL="742950" indent="-285750">
              <a:defRPr sz="2400">
                <a:solidFill>
                  <a:schemeClr val="tx1"/>
                </a:solidFill>
                <a:latin typeface="Arial" charset="0"/>
                <a:ea typeface="MS PGothic" charset="-128"/>
                <a:cs typeface="MS PGothic" charset="-128"/>
              </a:defRPr>
            </a:lvl2pPr>
            <a:lvl3pPr marL="1143000" indent="-228600">
              <a:defRPr sz="2400">
                <a:solidFill>
                  <a:schemeClr val="tx1"/>
                </a:solidFill>
                <a:latin typeface="Arial" charset="0"/>
                <a:ea typeface="MS PGothic" charset="-128"/>
                <a:cs typeface="MS PGothic" charset="-128"/>
              </a:defRPr>
            </a:lvl3pPr>
            <a:lvl4pPr marL="1600200" indent="-228600">
              <a:defRPr sz="2400">
                <a:solidFill>
                  <a:schemeClr val="tx1"/>
                </a:solidFill>
                <a:latin typeface="Arial" charset="0"/>
                <a:ea typeface="MS PGothic" charset="-128"/>
                <a:cs typeface="MS PGothic" charset="-128"/>
              </a:defRPr>
            </a:lvl4pPr>
            <a:lvl5pPr marL="2057400" indent="-228600">
              <a:defRPr sz="2400">
                <a:solidFill>
                  <a:schemeClr val="tx1"/>
                </a:solidFill>
                <a:latin typeface="Arial" charset="0"/>
                <a:ea typeface="MS PGothic" charset="-128"/>
                <a:cs typeface="MS PGothic" charset="-128"/>
              </a:defRPr>
            </a:lvl5pPr>
            <a:lvl6pPr marL="25146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6pPr>
            <a:lvl7pPr marL="29718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7pPr>
            <a:lvl8pPr marL="34290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8pPr>
            <a:lvl9pPr marL="38862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9pPr>
          </a:lstStyle>
          <a:p>
            <a:pPr algn="ctr"/>
            <a:endParaRPr lang="en-US" altLang="en-US" dirty="0">
              <a:solidFill>
                <a:srgbClr val="6F6F6F"/>
              </a:solidFill>
              <a:latin typeface="Calibri" charset="0"/>
            </a:endParaRPr>
          </a:p>
        </p:txBody>
      </p:sp>
      <p:sp>
        <p:nvSpPr>
          <p:cNvPr id="10" name="TextBox 9">
            <a:extLst>
              <a:ext uri="{FF2B5EF4-FFF2-40B4-BE49-F238E27FC236}">
                <a16:creationId xmlns:a16="http://schemas.microsoft.com/office/drawing/2014/main" id="{C4B451C6-F8BA-4215-9470-8AC41B033C2D}"/>
              </a:ext>
            </a:extLst>
          </p:cNvPr>
          <p:cNvSpPr txBox="1"/>
          <p:nvPr/>
        </p:nvSpPr>
        <p:spPr>
          <a:xfrm>
            <a:off x="7375484" y="1740417"/>
            <a:ext cx="1158875" cy="314325"/>
          </a:xfrm>
          <a:prstGeom prst="rect">
            <a:avLst/>
          </a:prstGeom>
          <a:noFill/>
        </p:spPr>
        <p:txBody>
          <a:bodyPr>
            <a:spAutoFit/>
          </a:bodyPr>
          <a:lstStyle/>
          <a:p>
            <a:pPr>
              <a:lnSpc>
                <a:spcPct val="90000"/>
              </a:lnSpc>
              <a:spcBef>
                <a:spcPts val="600"/>
              </a:spcBef>
              <a:defRPr/>
            </a:pPr>
            <a:r>
              <a:rPr lang="en-US" sz="1600" dirty="0">
                <a:solidFill>
                  <a:schemeClr val="tx1">
                    <a:lumMod val="95000"/>
                    <a:lumOff val="5000"/>
                  </a:schemeClr>
                </a:solidFill>
                <a:latin typeface="Calibri" panose="020F0502020204030204" pitchFamily="34" charset="0"/>
              </a:rPr>
              <a:t>Parameters</a:t>
            </a:r>
          </a:p>
        </p:txBody>
      </p:sp>
      <p:sp>
        <p:nvSpPr>
          <p:cNvPr id="12" name="Left Brace 10" descr="Blue brace">
            <a:extLst>
              <a:ext uri="{FF2B5EF4-FFF2-40B4-BE49-F238E27FC236}">
                <a16:creationId xmlns:a16="http://schemas.microsoft.com/office/drawing/2014/main" id="{A4B8DA56-4A5F-47BC-B59D-6A7E296A08D5}"/>
              </a:ext>
            </a:extLst>
          </p:cNvPr>
          <p:cNvSpPr>
            <a:spLocks/>
          </p:cNvSpPr>
          <p:nvPr/>
        </p:nvSpPr>
        <p:spPr bwMode="auto">
          <a:xfrm rot="-5400000">
            <a:off x="6277999" y="917314"/>
            <a:ext cx="280988" cy="1514443"/>
          </a:xfrm>
          <a:prstGeom prst="leftBrace">
            <a:avLst>
              <a:gd name="adj1" fmla="val 184705"/>
              <a:gd name="adj2" fmla="val 4778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charset="0"/>
                <a:ea typeface="MS PGothic" charset="-128"/>
                <a:cs typeface="MS PGothic" charset="-128"/>
              </a:defRPr>
            </a:lvl1pPr>
            <a:lvl2pPr marL="742950" indent="-285750">
              <a:defRPr sz="2400">
                <a:solidFill>
                  <a:schemeClr val="tx1"/>
                </a:solidFill>
                <a:latin typeface="Arial" charset="0"/>
                <a:ea typeface="MS PGothic" charset="-128"/>
                <a:cs typeface="MS PGothic" charset="-128"/>
              </a:defRPr>
            </a:lvl2pPr>
            <a:lvl3pPr marL="1143000" indent="-228600">
              <a:defRPr sz="2400">
                <a:solidFill>
                  <a:schemeClr val="tx1"/>
                </a:solidFill>
                <a:latin typeface="Arial" charset="0"/>
                <a:ea typeface="MS PGothic" charset="-128"/>
                <a:cs typeface="MS PGothic" charset="-128"/>
              </a:defRPr>
            </a:lvl3pPr>
            <a:lvl4pPr marL="1600200" indent="-228600">
              <a:defRPr sz="2400">
                <a:solidFill>
                  <a:schemeClr val="tx1"/>
                </a:solidFill>
                <a:latin typeface="Arial" charset="0"/>
                <a:ea typeface="MS PGothic" charset="-128"/>
                <a:cs typeface="MS PGothic" charset="-128"/>
              </a:defRPr>
            </a:lvl4pPr>
            <a:lvl5pPr marL="2057400" indent="-228600">
              <a:defRPr sz="2400">
                <a:solidFill>
                  <a:schemeClr val="tx1"/>
                </a:solidFill>
                <a:latin typeface="Arial" charset="0"/>
                <a:ea typeface="MS PGothic" charset="-128"/>
                <a:cs typeface="MS PGothic" charset="-128"/>
              </a:defRPr>
            </a:lvl5pPr>
            <a:lvl6pPr marL="25146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6pPr>
            <a:lvl7pPr marL="29718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7pPr>
            <a:lvl8pPr marL="34290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8pPr>
            <a:lvl9pPr marL="38862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9pPr>
          </a:lstStyle>
          <a:p>
            <a:pPr algn="ctr"/>
            <a:endParaRPr lang="en-US" altLang="en-US" dirty="0">
              <a:solidFill>
                <a:srgbClr val="6F6F6F"/>
              </a:solidFill>
              <a:latin typeface="Calibri" charset="0"/>
            </a:endParaRPr>
          </a:p>
        </p:txBody>
      </p:sp>
      <p:sp>
        <p:nvSpPr>
          <p:cNvPr id="13" name="TextBox 12">
            <a:extLst>
              <a:ext uri="{FF2B5EF4-FFF2-40B4-BE49-F238E27FC236}">
                <a16:creationId xmlns:a16="http://schemas.microsoft.com/office/drawing/2014/main" id="{F3ADF242-38CE-472D-A3B6-D0DF623BC542}"/>
              </a:ext>
            </a:extLst>
          </p:cNvPr>
          <p:cNvSpPr txBox="1"/>
          <p:nvPr/>
        </p:nvSpPr>
        <p:spPr>
          <a:xfrm>
            <a:off x="5797831" y="1740417"/>
            <a:ext cx="1158875" cy="314325"/>
          </a:xfrm>
          <a:prstGeom prst="rect">
            <a:avLst/>
          </a:prstGeom>
          <a:noFill/>
        </p:spPr>
        <p:txBody>
          <a:bodyPr>
            <a:spAutoFit/>
          </a:bodyPr>
          <a:lstStyle/>
          <a:p>
            <a:pPr algn="ctr">
              <a:lnSpc>
                <a:spcPct val="90000"/>
              </a:lnSpc>
              <a:spcBef>
                <a:spcPts val="600"/>
              </a:spcBef>
              <a:defRPr/>
            </a:pPr>
            <a:r>
              <a:rPr lang="en-US" sz="1600" dirty="0">
                <a:solidFill>
                  <a:schemeClr val="tx1">
                    <a:lumMod val="95000"/>
                    <a:lumOff val="5000"/>
                  </a:schemeClr>
                </a:solidFill>
                <a:latin typeface="Calibri" panose="020F0502020204030204" pitchFamily="34" charset="0"/>
              </a:rPr>
              <a:t>Format</a:t>
            </a:r>
          </a:p>
        </p:txBody>
      </p:sp>
    </p:spTree>
    <p:extLst>
      <p:ext uri="{BB962C8B-B14F-4D97-AF65-F5344CB8AC3E}">
        <p14:creationId xmlns:p14="http://schemas.microsoft.com/office/powerpoint/2010/main" val="1855467825"/>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A886C9-7D56-4B17-9947-9E586F68D302}"/>
              </a:ext>
            </a:extLst>
          </p:cNvPr>
          <p:cNvSpPr>
            <a:spLocks noGrp="1"/>
          </p:cNvSpPr>
          <p:nvPr>
            <p:ph type="body" sz="quarter" idx="10"/>
          </p:nvPr>
        </p:nvSpPr>
        <p:spPr>
          <a:xfrm>
            <a:off x="437767" y="1244907"/>
            <a:ext cx="3748644" cy="3390888"/>
          </a:xfrm>
        </p:spPr>
        <p:txBody>
          <a:bodyPr>
            <a:normAutofit/>
          </a:bodyPr>
          <a:lstStyle/>
          <a:p>
            <a:r>
              <a:rPr lang="en-US" dirty="0"/>
              <a:t>Use an Internet search to find documentation for an API.</a:t>
            </a:r>
          </a:p>
        </p:txBody>
      </p:sp>
      <p:sp>
        <p:nvSpPr>
          <p:cNvPr id="3" name="Title 2">
            <a:extLst>
              <a:ext uri="{FF2B5EF4-FFF2-40B4-BE49-F238E27FC236}">
                <a16:creationId xmlns:a16="http://schemas.microsoft.com/office/drawing/2014/main" id="{A58589EB-AC1B-4F17-B1BB-F7F399E402BB}"/>
              </a:ext>
            </a:extLst>
          </p:cNvPr>
          <p:cNvSpPr>
            <a:spLocks noGrp="1"/>
          </p:cNvSpPr>
          <p:nvPr>
            <p:ph type="title"/>
          </p:nvPr>
        </p:nvSpPr>
        <p:spPr/>
        <p:txBody>
          <a:bodyPr/>
          <a:lstStyle/>
          <a:p>
            <a:r>
              <a:rPr lang="en-US" dirty="0"/>
              <a:t>API Documentation</a:t>
            </a:r>
          </a:p>
        </p:txBody>
      </p:sp>
      <p:pic>
        <p:nvPicPr>
          <p:cNvPr id="6" name="Picture 5" descr="API Documentation">
            <a:extLst>
              <a:ext uri="{FF2B5EF4-FFF2-40B4-BE49-F238E27FC236}">
                <a16:creationId xmlns:a16="http://schemas.microsoft.com/office/drawing/2014/main" id="{01E2AC55-E02D-425C-B118-115917BE7066}"/>
              </a:ext>
            </a:extLst>
          </p:cNvPr>
          <p:cNvPicPr>
            <a:picLocks noChangeAspect="1"/>
          </p:cNvPicPr>
          <p:nvPr/>
        </p:nvPicPr>
        <p:blipFill>
          <a:blip r:embed="rId3"/>
          <a:stretch>
            <a:fillRect/>
          </a:stretch>
        </p:blipFill>
        <p:spPr>
          <a:xfrm>
            <a:off x="4107051" y="1129278"/>
            <a:ext cx="4818038" cy="3075216"/>
          </a:xfrm>
          <a:prstGeom prst="rect">
            <a:avLst/>
          </a:prstGeom>
        </p:spPr>
      </p:pic>
    </p:spTree>
    <p:extLst>
      <p:ext uri="{BB962C8B-B14F-4D97-AF65-F5344CB8AC3E}">
        <p14:creationId xmlns:p14="http://schemas.microsoft.com/office/powerpoint/2010/main" val="3674633973"/>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A886C9-7D56-4B17-9947-9E586F68D302}"/>
              </a:ext>
            </a:extLst>
          </p:cNvPr>
          <p:cNvSpPr>
            <a:spLocks noGrp="1"/>
          </p:cNvSpPr>
          <p:nvPr>
            <p:ph type="body" sz="quarter" idx="10"/>
          </p:nvPr>
        </p:nvSpPr>
        <p:spPr>
          <a:xfrm>
            <a:off x="264405" y="1057620"/>
            <a:ext cx="3922006" cy="3390888"/>
          </a:xfrm>
        </p:spPr>
        <p:txBody>
          <a:bodyPr>
            <a:normAutofit/>
          </a:bodyPr>
          <a:lstStyle/>
          <a:p>
            <a:r>
              <a:rPr lang="en-US" dirty="0"/>
              <a:t>The API documentation will specify...</a:t>
            </a:r>
          </a:p>
          <a:p>
            <a:pPr lvl="1"/>
            <a:r>
              <a:rPr lang="en-US" dirty="0"/>
              <a:t>The request </a:t>
            </a:r>
            <a:r>
              <a:rPr lang="en-US" dirty="0">
                <a:solidFill>
                  <a:schemeClr val="accent2"/>
                </a:solidFill>
              </a:rPr>
              <a:t>format</a:t>
            </a:r>
            <a:r>
              <a:rPr lang="en-US" dirty="0"/>
              <a:t> (JSON, XML, or text)</a:t>
            </a:r>
          </a:p>
          <a:p>
            <a:pPr lvl="1"/>
            <a:r>
              <a:rPr lang="en-US" dirty="0"/>
              <a:t>The request </a:t>
            </a:r>
            <a:r>
              <a:rPr lang="en-US" dirty="0">
                <a:solidFill>
                  <a:schemeClr val="accent2"/>
                </a:solidFill>
              </a:rPr>
              <a:t>parameters</a:t>
            </a:r>
          </a:p>
          <a:p>
            <a:pPr lvl="1"/>
            <a:r>
              <a:rPr lang="en-US" dirty="0"/>
              <a:t>The response fields</a:t>
            </a:r>
          </a:p>
        </p:txBody>
      </p:sp>
      <p:sp>
        <p:nvSpPr>
          <p:cNvPr id="3" name="Title 2">
            <a:extLst>
              <a:ext uri="{FF2B5EF4-FFF2-40B4-BE49-F238E27FC236}">
                <a16:creationId xmlns:a16="http://schemas.microsoft.com/office/drawing/2014/main" id="{A58589EB-AC1B-4F17-B1BB-F7F399E402BB}"/>
              </a:ext>
            </a:extLst>
          </p:cNvPr>
          <p:cNvSpPr>
            <a:spLocks noGrp="1"/>
          </p:cNvSpPr>
          <p:nvPr>
            <p:ph type="title"/>
          </p:nvPr>
        </p:nvSpPr>
        <p:spPr/>
        <p:txBody>
          <a:bodyPr/>
          <a:lstStyle/>
          <a:p>
            <a:r>
              <a:rPr lang="en-US" dirty="0"/>
              <a:t>API Documentation</a:t>
            </a:r>
          </a:p>
        </p:txBody>
      </p:sp>
      <p:pic>
        <p:nvPicPr>
          <p:cNvPr id="5" name="Picture 4" descr="The Direction API has specific parameters which will be introduced in this lesson.">
            <a:extLst>
              <a:ext uri="{FF2B5EF4-FFF2-40B4-BE49-F238E27FC236}">
                <a16:creationId xmlns:a16="http://schemas.microsoft.com/office/drawing/2014/main" id="{FDF0D07E-9BA6-4C44-A638-315D931F4476}"/>
              </a:ext>
            </a:extLst>
          </p:cNvPr>
          <p:cNvPicPr>
            <a:picLocks noChangeAspect="1"/>
          </p:cNvPicPr>
          <p:nvPr/>
        </p:nvPicPr>
        <p:blipFill>
          <a:blip r:embed="rId2"/>
          <a:stretch>
            <a:fillRect/>
          </a:stretch>
        </p:blipFill>
        <p:spPr>
          <a:xfrm>
            <a:off x="4698945" y="705174"/>
            <a:ext cx="3578500" cy="3440624"/>
          </a:xfrm>
          <a:prstGeom prst="rect">
            <a:avLst/>
          </a:prstGeom>
        </p:spPr>
      </p:pic>
    </p:spTree>
    <p:extLst>
      <p:ext uri="{BB962C8B-B14F-4D97-AF65-F5344CB8AC3E}">
        <p14:creationId xmlns:p14="http://schemas.microsoft.com/office/powerpoint/2010/main" val="4171546887"/>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17D47EA-35C3-4B18-AAD2-30601B9E8D1F}"/>
              </a:ext>
            </a:extLst>
          </p:cNvPr>
          <p:cNvSpPr>
            <a:spLocks noGrp="1"/>
          </p:cNvSpPr>
          <p:nvPr>
            <p:ph type="ctrTitle"/>
          </p:nvPr>
        </p:nvSpPr>
        <p:spPr/>
        <p:txBody>
          <a:bodyPr/>
          <a:lstStyle/>
          <a:p>
            <a:r>
              <a:rPr lang="en-US" dirty="0"/>
              <a:t>JSON and XML</a:t>
            </a:r>
          </a:p>
        </p:txBody>
      </p:sp>
    </p:spTree>
    <p:extLst>
      <p:ext uri="{BB962C8B-B14F-4D97-AF65-F5344CB8AC3E}">
        <p14:creationId xmlns:p14="http://schemas.microsoft.com/office/powerpoint/2010/main" val="3085015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A886C9-7D56-4B17-9947-9E586F68D302}"/>
              </a:ext>
            </a:extLst>
          </p:cNvPr>
          <p:cNvSpPr>
            <a:spLocks noGrp="1"/>
          </p:cNvSpPr>
          <p:nvPr>
            <p:ph type="body" sz="quarter" idx="10"/>
          </p:nvPr>
        </p:nvSpPr>
        <p:spPr>
          <a:xfrm>
            <a:off x="264404" y="1282260"/>
            <a:ext cx="5884147" cy="3457905"/>
          </a:xfrm>
        </p:spPr>
        <p:txBody>
          <a:bodyPr>
            <a:normAutofit/>
          </a:bodyPr>
          <a:lstStyle/>
          <a:p>
            <a:r>
              <a:rPr lang="en-US" dirty="0"/>
              <a:t>Enter the above URL in your browser to get a JSON response.</a:t>
            </a:r>
          </a:p>
          <a:p>
            <a:r>
              <a:rPr lang="en-US" dirty="0"/>
              <a:t>JSON data looks a lot like a Python dictionary.</a:t>
            </a:r>
          </a:p>
          <a:p>
            <a:r>
              <a:rPr lang="en-US" dirty="0"/>
              <a:t>The third item in the dictionary is the </a:t>
            </a:r>
            <a:r>
              <a:rPr lang="en-US" dirty="0">
                <a:solidFill>
                  <a:schemeClr val="accent2"/>
                </a:solidFill>
              </a:rPr>
              <a:t>response</a:t>
            </a:r>
            <a:r>
              <a:rPr lang="en-US" dirty="0"/>
              <a:t> element.</a:t>
            </a:r>
          </a:p>
          <a:p>
            <a:r>
              <a:rPr lang="en-US" dirty="0"/>
              <a:t>Inside the list are five dictionaries.</a:t>
            </a:r>
          </a:p>
        </p:txBody>
      </p:sp>
      <p:sp>
        <p:nvSpPr>
          <p:cNvPr id="3" name="Title 2">
            <a:extLst>
              <a:ext uri="{FF2B5EF4-FFF2-40B4-BE49-F238E27FC236}">
                <a16:creationId xmlns:a16="http://schemas.microsoft.com/office/drawing/2014/main" id="{A58589EB-AC1B-4F17-B1BB-F7F399E402BB}"/>
              </a:ext>
            </a:extLst>
          </p:cNvPr>
          <p:cNvSpPr>
            <a:spLocks noGrp="1"/>
          </p:cNvSpPr>
          <p:nvPr>
            <p:ph type="title"/>
          </p:nvPr>
        </p:nvSpPr>
        <p:spPr/>
        <p:txBody>
          <a:bodyPr/>
          <a:lstStyle/>
          <a:p>
            <a:r>
              <a:rPr lang="en-US" dirty="0"/>
              <a:t>JSON Response Data</a:t>
            </a:r>
          </a:p>
        </p:txBody>
      </p:sp>
      <p:sp>
        <p:nvSpPr>
          <p:cNvPr id="17" name="Rectangle 16">
            <a:extLst>
              <a:ext uri="{FF2B5EF4-FFF2-40B4-BE49-F238E27FC236}">
                <a16:creationId xmlns:a16="http://schemas.microsoft.com/office/drawing/2014/main" id="{110F753F-6155-45C7-B573-85C80DCAA38C}"/>
              </a:ext>
            </a:extLst>
          </p:cNvPr>
          <p:cNvSpPr/>
          <p:nvPr/>
        </p:nvSpPr>
        <p:spPr>
          <a:xfrm>
            <a:off x="423268" y="862704"/>
            <a:ext cx="7325832" cy="369332"/>
          </a:xfrm>
          <a:prstGeom prst="rect">
            <a:avLst/>
          </a:prstGeom>
        </p:spPr>
        <p:txBody>
          <a:bodyPr wrap="square">
            <a:spAutoFit/>
          </a:bodyPr>
          <a:lstStyle/>
          <a:p>
            <a:r>
              <a:rPr lang="en-US" altLang="en-US" dirty="0">
                <a:solidFill>
                  <a:srgbClr val="0070C0"/>
                </a:solidFill>
                <a:hlinkClick r:id="rId3"/>
              </a:rPr>
              <a:t>http://api.open-notify.org/iss/v1/?lat=30.26715&amp;lon=-97.74306 </a:t>
            </a:r>
            <a:endParaRPr lang="en-US" dirty="0">
              <a:solidFill>
                <a:srgbClr val="0070C0"/>
              </a:solidFill>
            </a:endParaRPr>
          </a:p>
        </p:txBody>
      </p:sp>
      <p:pic>
        <p:nvPicPr>
          <p:cNvPr id="4" name="Picture 3" descr="Sample JSON response data">
            <a:extLst>
              <a:ext uri="{FF2B5EF4-FFF2-40B4-BE49-F238E27FC236}">
                <a16:creationId xmlns:a16="http://schemas.microsoft.com/office/drawing/2014/main" id="{5F5704B5-9C4C-48E8-B3F1-ADCF1305FC6E}"/>
              </a:ext>
            </a:extLst>
          </p:cNvPr>
          <p:cNvPicPr>
            <a:picLocks noChangeAspect="1"/>
          </p:cNvPicPr>
          <p:nvPr/>
        </p:nvPicPr>
        <p:blipFill>
          <a:blip r:embed="rId4"/>
          <a:stretch>
            <a:fillRect/>
          </a:stretch>
        </p:blipFill>
        <p:spPr>
          <a:xfrm>
            <a:off x="6347448" y="1232115"/>
            <a:ext cx="2421543" cy="3322449"/>
          </a:xfrm>
          <a:prstGeom prst="rect">
            <a:avLst/>
          </a:prstGeom>
        </p:spPr>
      </p:pic>
    </p:spTree>
    <p:extLst>
      <p:ext uri="{BB962C8B-B14F-4D97-AF65-F5344CB8AC3E}">
        <p14:creationId xmlns:p14="http://schemas.microsoft.com/office/powerpoint/2010/main" val="258593021"/>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A886C9-7D56-4B17-9947-9E586F68D302}"/>
              </a:ext>
            </a:extLst>
          </p:cNvPr>
          <p:cNvSpPr>
            <a:spLocks noGrp="1"/>
          </p:cNvSpPr>
          <p:nvPr>
            <p:ph type="body" sz="quarter" idx="10"/>
          </p:nvPr>
        </p:nvSpPr>
        <p:spPr>
          <a:xfrm>
            <a:off x="264405" y="1282260"/>
            <a:ext cx="5243016" cy="3541987"/>
          </a:xfrm>
        </p:spPr>
        <p:txBody>
          <a:bodyPr>
            <a:normAutofit fontScale="70000" lnSpcReduction="20000"/>
          </a:bodyPr>
          <a:lstStyle/>
          <a:p>
            <a:r>
              <a:rPr lang="en-US" dirty="0"/>
              <a:t>Collapse components of the JSON to better view its structure.</a:t>
            </a:r>
          </a:p>
          <a:p>
            <a:r>
              <a:rPr lang="en-US" dirty="0"/>
              <a:t>In the example, JSON returns three root elements: </a:t>
            </a:r>
            <a:r>
              <a:rPr lang="en-US" dirty="0">
                <a:solidFill>
                  <a:schemeClr val="accent2"/>
                </a:solidFill>
              </a:rPr>
              <a:t>message</a:t>
            </a:r>
            <a:r>
              <a:rPr lang="en-US" dirty="0"/>
              <a:t>,</a:t>
            </a:r>
            <a:r>
              <a:rPr lang="en-US" dirty="0">
                <a:solidFill>
                  <a:schemeClr val="accent2"/>
                </a:solidFill>
              </a:rPr>
              <a:t> request</a:t>
            </a:r>
            <a:r>
              <a:rPr lang="en-US" dirty="0"/>
              <a:t>, and </a:t>
            </a:r>
            <a:r>
              <a:rPr lang="en-US" dirty="0">
                <a:solidFill>
                  <a:schemeClr val="accent2"/>
                </a:solidFill>
              </a:rPr>
              <a:t>response</a:t>
            </a:r>
          </a:p>
          <a:p>
            <a:r>
              <a:rPr lang="en-US" dirty="0"/>
              <a:t>The </a:t>
            </a:r>
            <a:r>
              <a:rPr lang="en-US" dirty="0">
                <a:solidFill>
                  <a:schemeClr val="accent2"/>
                </a:solidFill>
              </a:rPr>
              <a:t>message</a:t>
            </a:r>
            <a:r>
              <a:rPr lang="en-US" dirty="0"/>
              <a:t> root returns the HTTP status code.  </a:t>
            </a:r>
          </a:p>
          <a:p>
            <a:r>
              <a:rPr lang="en-US" dirty="0"/>
              <a:t>The </a:t>
            </a:r>
            <a:r>
              <a:rPr lang="en-US" sz="2900" dirty="0">
                <a:solidFill>
                  <a:schemeClr val="accent2"/>
                </a:solidFill>
              </a:rPr>
              <a:t>request</a:t>
            </a:r>
            <a:r>
              <a:rPr lang="en-US" dirty="0"/>
              <a:t> root shows default parameters and the parameters entered in the request. </a:t>
            </a:r>
          </a:p>
          <a:p>
            <a:r>
              <a:rPr lang="en-US" dirty="0"/>
              <a:t>The </a:t>
            </a:r>
            <a:r>
              <a:rPr lang="en-US" dirty="0">
                <a:solidFill>
                  <a:schemeClr val="accent2"/>
                </a:solidFill>
              </a:rPr>
              <a:t>response</a:t>
            </a:r>
            <a:r>
              <a:rPr lang="en-US" dirty="0"/>
              <a:t> root typically returns an array with relevant responses.</a:t>
            </a:r>
          </a:p>
        </p:txBody>
      </p:sp>
      <p:sp>
        <p:nvSpPr>
          <p:cNvPr id="3" name="Title 2">
            <a:extLst>
              <a:ext uri="{FF2B5EF4-FFF2-40B4-BE49-F238E27FC236}">
                <a16:creationId xmlns:a16="http://schemas.microsoft.com/office/drawing/2014/main" id="{A58589EB-AC1B-4F17-B1BB-F7F399E402BB}"/>
              </a:ext>
            </a:extLst>
          </p:cNvPr>
          <p:cNvSpPr>
            <a:spLocks noGrp="1"/>
          </p:cNvSpPr>
          <p:nvPr>
            <p:ph type="title"/>
          </p:nvPr>
        </p:nvSpPr>
        <p:spPr/>
        <p:txBody>
          <a:bodyPr/>
          <a:lstStyle/>
          <a:p>
            <a:r>
              <a:rPr lang="en-US" dirty="0"/>
              <a:t>JSON Response Data</a:t>
            </a:r>
          </a:p>
        </p:txBody>
      </p:sp>
      <p:sp>
        <p:nvSpPr>
          <p:cNvPr id="17" name="Rectangle 16">
            <a:extLst>
              <a:ext uri="{FF2B5EF4-FFF2-40B4-BE49-F238E27FC236}">
                <a16:creationId xmlns:a16="http://schemas.microsoft.com/office/drawing/2014/main" id="{110F753F-6155-45C7-B573-85C80DCAA38C}"/>
              </a:ext>
            </a:extLst>
          </p:cNvPr>
          <p:cNvSpPr/>
          <p:nvPr/>
        </p:nvSpPr>
        <p:spPr>
          <a:xfrm>
            <a:off x="423268" y="862704"/>
            <a:ext cx="7325832" cy="369332"/>
          </a:xfrm>
          <a:prstGeom prst="rect">
            <a:avLst/>
          </a:prstGeom>
        </p:spPr>
        <p:txBody>
          <a:bodyPr wrap="square">
            <a:spAutoFit/>
          </a:bodyPr>
          <a:lstStyle/>
          <a:p>
            <a:r>
              <a:rPr lang="en-US" altLang="en-US" dirty="0">
                <a:solidFill>
                  <a:srgbClr val="0070C0"/>
                </a:solidFill>
                <a:hlinkClick r:id="rId3"/>
              </a:rPr>
              <a:t>http://api.open-notify.org/iss/v1/?lat=30.26715&amp;lon=-97.74306 </a:t>
            </a:r>
            <a:endParaRPr lang="en-US" dirty="0">
              <a:solidFill>
                <a:srgbClr val="0070C0"/>
              </a:solidFill>
            </a:endParaRPr>
          </a:p>
        </p:txBody>
      </p:sp>
      <p:pic>
        <p:nvPicPr>
          <p:cNvPr id="5" name="Picture 4" descr="JSON root elements">
            <a:extLst>
              <a:ext uri="{FF2B5EF4-FFF2-40B4-BE49-F238E27FC236}">
                <a16:creationId xmlns:a16="http://schemas.microsoft.com/office/drawing/2014/main" id="{6914DE09-0D0B-45B2-978D-BF5AE3715CBE}"/>
              </a:ext>
            </a:extLst>
          </p:cNvPr>
          <p:cNvPicPr>
            <a:picLocks noChangeAspect="1"/>
          </p:cNvPicPr>
          <p:nvPr/>
        </p:nvPicPr>
        <p:blipFill>
          <a:blip r:embed="rId4"/>
          <a:stretch>
            <a:fillRect/>
          </a:stretch>
        </p:blipFill>
        <p:spPr>
          <a:xfrm>
            <a:off x="5470901" y="2042882"/>
            <a:ext cx="3539094" cy="1302991"/>
          </a:xfrm>
          <a:prstGeom prst="rect">
            <a:avLst/>
          </a:prstGeom>
        </p:spPr>
      </p:pic>
    </p:spTree>
    <p:extLst>
      <p:ext uri="{BB962C8B-B14F-4D97-AF65-F5344CB8AC3E}">
        <p14:creationId xmlns:p14="http://schemas.microsoft.com/office/powerpoint/2010/main" val="3423563961"/>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A886C9-7D56-4B17-9947-9E586F68D302}"/>
              </a:ext>
            </a:extLst>
          </p:cNvPr>
          <p:cNvSpPr>
            <a:spLocks noGrp="1"/>
          </p:cNvSpPr>
          <p:nvPr>
            <p:ph type="body" sz="quarter" idx="10"/>
          </p:nvPr>
        </p:nvSpPr>
        <p:spPr>
          <a:xfrm>
            <a:off x="264405" y="1282260"/>
            <a:ext cx="5243016" cy="3541987"/>
          </a:xfrm>
        </p:spPr>
        <p:txBody>
          <a:bodyPr>
            <a:normAutofit fontScale="77500" lnSpcReduction="20000"/>
          </a:bodyPr>
          <a:lstStyle/>
          <a:p>
            <a:r>
              <a:rPr lang="en-US" dirty="0"/>
              <a:t>E</a:t>
            </a:r>
            <a:r>
              <a:rPr lang="en-US" dirty="0">
                <a:solidFill>
                  <a:schemeClr val="accent2"/>
                </a:solidFill>
              </a:rPr>
              <a:t>x</a:t>
            </a:r>
            <a:r>
              <a:rPr lang="en-US" dirty="0"/>
              <a:t>tensible </a:t>
            </a:r>
            <a:r>
              <a:rPr lang="en-US" dirty="0">
                <a:solidFill>
                  <a:schemeClr val="accent2"/>
                </a:solidFill>
              </a:rPr>
              <a:t>M</a:t>
            </a:r>
            <a:r>
              <a:rPr lang="en-US" dirty="0"/>
              <a:t>arkup </a:t>
            </a:r>
            <a:r>
              <a:rPr lang="en-US" dirty="0">
                <a:solidFill>
                  <a:schemeClr val="accent2"/>
                </a:solidFill>
              </a:rPr>
              <a:t>L</a:t>
            </a:r>
            <a:r>
              <a:rPr lang="en-US" dirty="0"/>
              <a:t>anguage (XML) extends the functionality of HTML allowing web programmers to construct custom tags.</a:t>
            </a:r>
          </a:p>
          <a:p>
            <a:r>
              <a:rPr lang="en-US" dirty="0"/>
              <a:t>To get XML data instead of JSON from the MapQuest API, add the </a:t>
            </a:r>
            <a:r>
              <a:rPr lang="en-US" dirty="0">
                <a:solidFill>
                  <a:schemeClr val="accent2"/>
                </a:solidFill>
              </a:rPr>
              <a:t>outFormat=xml</a:t>
            </a:r>
            <a:r>
              <a:rPr lang="en-US" dirty="0"/>
              <a:t> to the URL structure.</a:t>
            </a:r>
          </a:p>
          <a:p>
            <a:r>
              <a:rPr lang="en-US" dirty="0"/>
              <a:t>You can see in the XML response that the embedded dictionaries have the same basic structure as JSON.</a:t>
            </a:r>
          </a:p>
        </p:txBody>
      </p:sp>
      <p:sp>
        <p:nvSpPr>
          <p:cNvPr id="3" name="Title 2">
            <a:extLst>
              <a:ext uri="{FF2B5EF4-FFF2-40B4-BE49-F238E27FC236}">
                <a16:creationId xmlns:a16="http://schemas.microsoft.com/office/drawing/2014/main" id="{A58589EB-AC1B-4F17-B1BB-F7F399E402BB}"/>
              </a:ext>
            </a:extLst>
          </p:cNvPr>
          <p:cNvSpPr>
            <a:spLocks noGrp="1"/>
          </p:cNvSpPr>
          <p:nvPr>
            <p:ph type="title"/>
          </p:nvPr>
        </p:nvSpPr>
        <p:spPr/>
        <p:txBody>
          <a:bodyPr/>
          <a:lstStyle/>
          <a:p>
            <a:r>
              <a:rPr lang="en-US" dirty="0"/>
              <a:t>XML Response Data</a:t>
            </a:r>
          </a:p>
        </p:txBody>
      </p:sp>
      <p:sp>
        <p:nvSpPr>
          <p:cNvPr id="17" name="Rectangle 16">
            <a:extLst>
              <a:ext uri="{FF2B5EF4-FFF2-40B4-BE49-F238E27FC236}">
                <a16:creationId xmlns:a16="http://schemas.microsoft.com/office/drawing/2014/main" id="{110F753F-6155-45C7-B573-85C80DCAA38C}"/>
              </a:ext>
            </a:extLst>
          </p:cNvPr>
          <p:cNvSpPr/>
          <p:nvPr/>
        </p:nvSpPr>
        <p:spPr>
          <a:xfrm>
            <a:off x="423268" y="862704"/>
            <a:ext cx="8224786" cy="369332"/>
          </a:xfrm>
          <a:prstGeom prst="rect">
            <a:avLst/>
          </a:prstGeom>
        </p:spPr>
        <p:txBody>
          <a:bodyPr wrap="square">
            <a:spAutoFit/>
          </a:bodyPr>
          <a:lstStyle/>
          <a:p>
            <a:r>
              <a:rPr lang="en-US" altLang="en-US" dirty="0">
                <a:solidFill>
                  <a:srgbClr val="0070C0"/>
                </a:solidFill>
              </a:rPr>
              <a:t>https://www.mapquestapi.com/directions/v2/route?</a:t>
            </a:r>
            <a:r>
              <a:rPr lang="en-US" altLang="en-US" dirty="0">
                <a:solidFill>
                  <a:schemeClr val="accent2"/>
                </a:solidFill>
              </a:rPr>
              <a:t>outFormat=xml</a:t>
            </a:r>
            <a:r>
              <a:rPr lang="en-US" altLang="en-US" dirty="0">
                <a:solidFill>
                  <a:srgbClr val="0070C0"/>
                </a:solidFill>
              </a:rPr>
              <a:t>&amp;key=KEY...</a:t>
            </a:r>
            <a:endParaRPr lang="en-US" dirty="0">
              <a:solidFill>
                <a:srgbClr val="0070C0"/>
              </a:solidFill>
            </a:endParaRPr>
          </a:p>
        </p:txBody>
      </p:sp>
      <p:pic>
        <p:nvPicPr>
          <p:cNvPr id="6" name="Picture 5" descr="Sample XML response data">
            <a:extLst>
              <a:ext uri="{FF2B5EF4-FFF2-40B4-BE49-F238E27FC236}">
                <a16:creationId xmlns:a16="http://schemas.microsoft.com/office/drawing/2014/main" id="{D4A41C85-61E9-44C3-BB56-4AC5905F4BF8}"/>
              </a:ext>
            </a:extLst>
          </p:cNvPr>
          <p:cNvPicPr>
            <a:picLocks noChangeAspect="1"/>
          </p:cNvPicPr>
          <p:nvPr/>
        </p:nvPicPr>
        <p:blipFill>
          <a:blip r:embed="rId2"/>
          <a:stretch>
            <a:fillRect/>
          </a:stretch>
        </p:blipFill>
        <p:spPr>
          <a:xfrm>
            <a:off x="5361639" y="1232115"/>
            <a:ext cx="3680639" cy="3531676"/>
          </a:xfrm>
          <a:prstGeom prst="rect">
            <a:avLst/>
          </a:prstGeom>
        </p:spPr>
      </p:pic>
    </p:spTree>
    <p:extLst>
      <p:ext uri="{BB962C8B-B14F-4D97-AF65-F5344CB8AC3E}">
        <p14:creationId xmlns:p14="http://schemas.microsoft.com/office/powerpoint/2010/main" val="177444157"/>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17D47EA-35C3-4B18-AAD2-30601B9E8D1F}"/>
              </a:ext>
            </a:extLst>
          </p:cNvPr>
          <p:cNvSpPr>
            <a:spLocks noGrp="1"/>
          </p:cNvSpPr>
          <p:nvPr>
            <p:ph type="ctrTitle"/>
          </p:nvPr>
        </p:nvSpPr>
        <p:spPr/>
        <p:txBody>
          <a:bodyPr/>
          <a:lstStyle/>
          <a:p>
            <a:r>
              <a:rPr lang="en-US" dirty="0"/>
              <a:t>Parsing JSON with Python</a:t>
            </a:r>
          </a:p>
        </p:txBody>
      </p:sp>
    </p:spTree>
    <p:extLst>
      <p:ext uri="{BB962C8B-B14F-4D97-AF65-F5344CB8AC3E}">
        <p14:creationId xmlns:p14="http://schemas.microsoft.com/office/powerpoint/2010/main" val="4218291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8589EB-AC1B-4F17-B1BB-F7F399E402BB}"/>
              </a:ext>
            </a:extLst>
          </p:cNvPr>
          <p:cNvSpPr>
            <a:spLocks noGrp="1"/>
          </p:cNvSpPr>
          <p:nvPr>
            <p:ph type="title"/>
          </p:nvPr>
        </p:nvSpPr>
        <p:spPr/>
        <p:txBody>
          <a:bodyPr/>
          <a:lstStyle/>
          <a:p>
            <a:r>
              <a:rPr lang="en-US" dirty="0"/>
              <a:t>Demonstration - MapQuest API Application</a:t>
            </a:r>
          </a:p>
        </p:txBody>
      </p:sp>
      <p:pic>
        <p:nvPicPr>
          <p:cNvPr id="4" name="Picture 3" descr="Example of Python with the Mapquest API.">
            <a:extLst>
              <a:ext uri="{FF2B5EF4-FFF2-40B4-BE49-F238E27FC236}">
                <a16:creationId xmlns:a16="http://schemas.microsoft.com/office/drawing/2014/main" id="{529CA9F7-1093-4E0A-85BF-D9566CADAC26}"/>
              </a:ext>
            </a:extLst>
          </p:cNvPr>
          <p:cNvPicPr>
            <a:picLocks noChangeAspect="1"/>
          </p:cNvPicPr>
          <p:nvPr/>
        </p:nvPicPr>
        <p:blipFill>
          <a:blip r:embed="rId3"/>
          <a:stretch>
            <a:fillRect/>
          </a:stretch>
        </p:blipFill>
        <p:spPr>
          <a:xfrm>
            <a:off x="894945" y="1058388"/>
            <a:ext cx="7480570" cy="3541966"/>
          </a:xfrm>
          <a:prstGeom prst="rect">
            <a:avLst/>
          </a:prstGeom>
        </p:spPr>
      </p:pic>
    </p:spTree>
    <p:extLst>
      <p:ext uri="{BB962C8B-B14F-4D97-AF65-F5344CB8AC3E}">
        <p14:creationId xmlns:p14="http://schemas.microsoft.com/office/powerpoint/2010/main" val="1553142589"/>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83AFC4E-8118-4A96-BDA8-268A647AFED3}"/>
              </a:ext>
            </a:extLst>
          </p:cNvPr>
          <p:cNvSpPr>
            <a:spLocks noGrp="1"/>
          </p:cNvSpPr>
          <p:nvPr>
            <p:ph type="body" sz="quarter" idx="10"/>
          </p:nvPr>
        </p:nvSpPr>
        <p:spPr/>
        <p:txBody>
          <a:bodyPr>
            <a:normAutofit fontScale="62500" lnSpcReduction="20000"/>
          </a:bodyPr>
          <a:lstStyle/>
          <a:p>
            <a:pPr marL="57136" indent="0">
              <a:buNone/>
            </a:pPr>
            <a:r>
              <a:rPr lang="en-US" dirty="0"/>
              <a:t>To build this application, you will complete the following objectives:</a:t>
            </a:r>
          </a:p>
          <a:p>
            <a:pPr lvl="0"/>
            <a:r>
              <a:rPr lang="en-US" dirty="0"/>
              <a:t>Obtain a MapQuest API Key.</a:t>
            </a:r>
          </a:p>
          <a:p>
            <a:pPr lvl="0"/>
            <a:r>
              <a:rPr lang="en-US" dirty="0"/>
              <a:t>Import necessary modules.</a:t>
            </a:r>
          </a:p>
          <a:p>
            <a:pPr lvl="0"/>
            <a:r>
              <a:rPr lang="en-US" dirty="0"/>
              <a:t>Create API request variables and construct a URL.</a:t>
            </a:r>
          </a:p>
          <a:p>
            <a:pPr lvl="0"/>
            <a:r>
              <a:rPr lang="en-US" dirty="0"/>
              <a:t>Add user input functionality.</a:t>
            </a:r>
          </a:p>
          <a:p>
            <a:pPr lvl="0"/>
            <a:r>
              <a:rPr lang="en-US" dirty="0"/>
              <a:t>Add a quit feature so that the user can end the application.</a:t>
            </a:r>
          </a:p>
          <a:p>
            <a:pPr lvl="0"/>
            <a:r>
              <a:rPr lang="en-US" dirty="0"/>
              <a:t>Display trip information for time, distance, and fuel usage.</a:t>
            </a:r>
          </a:p>
          <a:p>
            <a:r>
              <a:rPr lang="en-US" dirty="0"/>
              <a:t>Iterate through the JSON data to extract and output the directions.</a:t>
            </a:r>
          </a:p>
          <a:p>
            <a:r>
              <a:rPr lang="en-US" dirty="0"/>
              <a:t>Display error messages for invalid user input.</a:t>
            </a:r>
          </a:p>
        </p:txBody>
      </p:sp>
      <p:sp>
        <p:nvSpPr>
          <p:cNvPr id="3" name="Title 2">
            <a:extLst>
              <a:ext uri="{FF2B5EF4-FFF2-40B4-BE49-F238E27FC236}">
                <a16:creationId xmlns:a16="http://schemas.microsoft.com/office/drawing/2014/main" id="{A58589EB-AC1B-4F17-B1BB-F7F399E402BB}"/>
              </a:ext>
            </a:extLst>
          </p:cNvPr>
          <p:cNvSpPr>
            <a:spLocks noGrp="1"/>
          </p:cNvSpPr>
          <p:nvPr>
            <p:ph type="title"/>
          </p:nvPr>
        </p:nvSpPr>
        <p:spPr/>
        <p:txBody>
          <a:bodyPr/>
          <a:lstStyle/>
          <a:p>
            <a:r>
              <a:rPr lang="en-US" dirty="0"/>
              <a:t>MapQuest API Application Objectives</a:t>
            </a:r>
          </a:p>
        </p:txBody>
      </p:sp>
    </p:spTree>
    <p:extLst>
      <p:ext uri="{BB962C8B-B14F-4D97-AF65-F5344CB8AC3E}">
        <p14:creationId xmlns:p14="http://schemas.microsoft.com/office/powerpoint/2010/main" val="205023096"/>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A886C9-7D56-4B17-9947-9E586F68D302}"/>
              </a:ext>
            </a:extLst>
          </p:cNvPr>
          <p:cNvSpPr>
            <a:spLocks noGrp="1"/>
          </p:cNvSpPr>
          <p:nvPr>
            <p:ph type="body" sz="quarter" idx="10"/>
          </p:nvPr>
        </p:nvSpPr>
        <p:spPr>
          <a:xfrm>
            <a:off x="437766" y="2519915"/>
            <a:ext cx="8345488" cy="2115879"/>
          </a:xfrm>
        </p:spPr>
        <p:txBody>
          <a:bodyPr>
            <a:normAutofit fontScale="62500" lnSpcReduction="20000"/>
          </a:bodyPr>
          <a:lstStyle/>
          <a:p>
            <a:pPr lvl="0"/>
            <a:r>
              <a:rPr lang="en-US" b="1" dirty="0"/>
              <a:t>None</a:t>
            </a:r>
            <a:r>
              <a:rPr lang="en-US" dirty="0"/>
              <a:t>: The API resource is public and anybody can place the request.</a:t>
            </a:r>
            <a:endParaRPr lang="en-US" sz="3200" dirty="0"/>
          </a:p>
          <a:p>
            <a:pPr lvl="0"/>
            <a:r>
              <a:rPr lang="en-US" b="1" dirty="0"/>
              <a:t>Basic HTTP</a:t>
            </a:r>
            <a:r>
              <a:rPr lang="en-US" dirty="0"/>
              <a:t>: The username and password are passed to the server in an encoded string.</a:t>
            </a:r>
            <a:endParaRPr lang="en-US" sz="3200" dirty="0"/>
          </a:p>
          <a:p>
            <a:pPr lvl="0"/>
            <a:r>
              <a:rPr lang="en-US" b="1" dirty="0"/>
              <a:t>Token</a:t>
            </a:r>
            <a:r>
              <a:rPr lang="en-US" dirty="0"/>
              <a:t>: A secret key generally retrieved from the Web API developer portal.</a:t>
            </a:r>
            <a:endParaRPr lang="en-US" sz="3200" dirty="0"/>
          </a:p>
          <a:p>
            <a:pPr lvl="0"/>
            <a:r>
              <a:rPr lang="en-US" b="1" dirty="0"/>
              <a:t>Open Authorization (OAuth)</a:t>
            </a:r>
            <a:r>
              <a:rPr lang="en-US" dirty="0"/>
              <a:t>: An open standard for retrieving an access token from an Identity Provider. The token is then passed with each API call.</a:t>
            </a:r>
            <a:endParaRPr lang="en-US" sz="3200" dirty="0"/>
          </a:p>
        </p:txBody>
      </p:sp>
      <p:sp>
        <p:nvSpPr>
          <p:cNvPr id="3" name="Title 2">
            <a:extLst>
              <a:ext uri="{FF2B5EF4-FFF2-40B4-BE49-F238E27FC236}">
                <a16:creationId xmlns:a16="http://schemas.microsoft.com/office/drawing/2014/main" id="{A58589EB-AC1B-4F17-B1BB-F7F399E402BB}"/>
              </a:ext>
            </a:extLst>
          </p:cNvPr>
          <p:cNvSpPr>
            <a:spLocks noGrp="1"/>
          </p:cNvSpPr>
          <p:nvPr>
            <p:ph type="title"/>
          </p:nvPr>
        </p:nvSpPr>
        <p:spPr/>
        <p:txBody>
          <a:bodyPr/>
          <a:lstStyle/>
          <a:p>
            <a:r>
              <a:rPr lang="en-US" dirty="0"/>
              <a:t>Authenticating a RESTful Request</a:t>
            </a:r>
          </a:p>
        </p:txBody>
      </p:sp>
      <p:sp>
        <p:nvSpPr>
          <p:cNvPr id="5" name="TextBox 4">
            <a:extLst>
              <a:ext uri="{FF2B5EF4-FFF2-40B4-BE49-F238E27FC236}">
                <a16:creationId xmlns:a16="http://schemas.microsoft.com/office/drawing/2014/main" id="{E514083C-22D0-4F3B-8F3D-371CE1C15546}"/>
              </a:ext>
            </a:extLst>
          </p:cNvPr>
          <p:cNvSpPr txBox="1"/>
          <p:nvPr/>
        </p:nvSpPr>
        <p:spPr>
          <a:xfrm>
            <a:off x="1362302" y="1668692"/>
            <a:ext cx="1172943" cy="313932"/>
          </a:xfrm>
          <a:prstGeom prst="rect">
            <a:avLst/>
          </a:prstGeom>
          <a:noFill/>
        </p:spPr>
        <p:txBody>
          <a:bodyPr wrap="square">
            <a:spAutoFit/>
          </a:bodyPr>
          <a:lstStyle/>
          <a:p>
            <a:pPr>
              <a:lnSpc>
                <a:spcPct val="90000"/>
              </a:lnSpc>
              <a:spcBef>
                <a:spcPts val="600"/>
              </a:spcBef>
              <a:defRPr/>
            </a:pPr>
            <a:r>
              <a:rPr lang="en-US" sz="1600" dirty="0">
                <a:solidFill>
                  <a:schemeClr val="tx1">
                    <a:lumMod val="95000"/>
                    <a:lumOff val="5000"/>
                  </a:schemeClr>
                </a:solidFill>
                <a:latin typeface="Calibri" panose="020F0502020204030204" pitchFamily="34" charset="0"/>
              </a:rPr>
              <a:t>API Server</a:t>
            </a:r>
          </a:p>
        </p:txBody>
      </p:sp>
      <p:sp>
        <p:nvSpPr>
          <p:cNvPr id="6" name="Left Brace 7" descr="Blue brace">
            <a:extLst>
              <a:ext uri="{FF2B5EF4-FFF2-40B4-BE49-F238E27FC236}">
                <a16:creationId xmlns:a16="http://schemas.microsoft.com/office/drawing/2014/main" id="{5DC3D2E4-611E-4E33-B280-0D1212EA675A}"/>
              </a:ext>
            </a:extLst>
          </p:cNvPr>
          <p:cNvSpPr>
            <a:spLocks/>
          </p:cNvSpPr>
          <p:nvPr/>
        </p:nvSpPr>
        <p:spPr bwMode="auto">
          <a:xfrm rot="-5400000">
            <a:off x="3772830" y="729137"/>
            <a:ext cx="280988" cy="1704817"/>
          </a:xfrm>
          <a:prstGeom prst="leftBrace">
            <a:avLst>
              <a:gd name="adj1" fmla="val 184693"/>
              <a:gd name="adj2" fmla="val 4778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charset="0"/>
                <a:ea typeface="MS PGothic" charset="-128"/>
                <a:cs typeface="MS PGothic" charset="-128"/>
              </a:defRPr>
            </a:lvl1pPr>
            <a:lvl2pPr marL="742950" indent="-285750">
              <a:defRPr sz="2400">
                <a:solidFill>
                  <a:schemeClr val="tx1"/>
                </a:solidFill>
                <a:latin typeface="Arial" charset="0"/>
                <a:ea typeface="MS PGothic" charset="-128"/>
                <a:cs typeface="MS PGothic" charset="-128"/>
              </a:defRPr>
            </a:lvl2pPr>
            <a:lvl3pPr marL="1143000" indent="-228600">
              <a:defRPr sz="2400">
                <a:solidFill>
                  <a:schemeClr val="tx1"/>
                </a:solidFill>
                <a:latin typeface="Arial" charset="0"/>
                <a:ea typeface="MS PGothic" charset="-128"/>
                <a:cs typeface="MS PGothic" charset="-128"/>
              </a:defRPr>
            </a:lvl3pPr>
            <a:lvl4pPr marL="1600200" indent="-228600">
              <a:defRPr sz="2400">
                <a:solidFill>
                  <a:schemeClr val="tx1"/>
                </a:solidFill>
                <a:latin typeface="Arial" charset="0"/>
                <a:ea typeface="MS PGothic" charset="-128"/>
                <a:cs typeface="MS PGothic" charset="-128"/>
              </a:defRPr>
            </a:lvl4pPr>
            <a:lvl5pPr marL="2057400" indent="-228600">
              <a:defRPr sz="2400">
                <a:solidFill>
                  <a:schemeClr val="tx1"/>
                </a:solidFill>
                <a:latin typeface="Arial" charset="0"/>
                <a:ea typeface="MS PGothic" charset="-128"/>
                <a:cs typeface="MS PGothic" charset="-128"/>
              </a:defRPr>
            </a:lvl5pPr>
            <a:lvl6pPr marL="25146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6pPr>
            <a:lvl7pPr marL="29718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7pPr>
            <a:lvl8pPr marL="34290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8pPr>
            <a:lvl9pPr marL="38862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9pPr>
          </a:lstStyle>
          <a:p>
            <a:pPr algn="ctr"/>
            <a:endParaRPr lang="en-US" altLang="en-US" dirty="0">
              <a:solidFill>
                <a:srgbClr val="6F6F6F"/>
              </a:solidFill>
              <a:latin typeface="Calibri" charset="0"/>
            </a:endParaRPr>
          </a:p>
        </p:txBody>
      </p:sp>
      <p:sp>
        <p:nvSpPr>
          <p:cNvPr id="7" name="Left Brace 8" descr="Blue brace">
            <a:extLst>
              <a:ext uri="{FF2B5EF4-FFF2-40B4-BE49-F238E27FC236}">
                <a16:creationId xmlns:a16="http://schemas.microsoft.com/office/drawing/2014/main" id="{513A5F24-088D-40E3-AF71-93693A61760C}"/>
              </a:ext>
            </a:extLst>
          </p:cNvPr>
          <p:cNvSpPr>
            <a:spLocks/>
          </p:cNvSpPr>
          <p:nvPr/>
        </p:nvSpPr>
        <p:spPr bwMode="auto">
          <a:xfrm rot="-5400000">
            <a:off x="1808280" y="515897"/>
            <a:ext cx="280988" cy="2131298"/>
          </a:xfrm>
          <a:prstGeom prst="leftBrace">
            <a:avLst>
              <a:gd name="adj1" fmla="val 184709"/>
              <a:gd name="adj2" fmla="val 4778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charset="0"/>
                <a:ea typeface="MS PGothic" charset="-128"/>
                <a:cs typeface="MS PGothic" charset="-128"/>
              </a:defRPr>
            </a:lvl1pPr>
            <a:lvl2pPr marL="742950" indent="-285750">
              <a:defRPr sz="2400">
                <a:solidFill>
                  <a:schemeClr val="tx1"/>
                </a:solidFill>
                <a:latin typeface="Arial" charset="0"/>
                <a:ea typeface="MS PGothic" charset="-128"/>
                <a:cs typeface="MS PGothic" charset="-128"/>
              </a:defRPr>
            </a:lvl2pPr>
            <a:lvl3pPr marL="1143000" indent="-228600">
              <a:defRPr sz="2400">
                <a:solidFill>
                  <a:schemeClr val="tx1"/>
                </a:solidFill>
                <a:latin typeface="Arial" charset="0"/>
                <a:ea typeface="MS PGothic" charset="-128"/>
                <a:cs typeface="MS PGothic" charset="-128"/>
              </a:defRPr>
            </a:lvl3pPr>
            <a:lvl4pPr marL="1600200" indent="-228600">
              <a:defRPr sz="2400">
                <a:solidFill>
                  <a:schemeClr val="tx1"/>
                </a:solidFill>
                <a:latin typeface="Arial" charset="0"/>
                <a:ea typeface="MS PGothic" charset="-128"/>
                <a:cs typeface="MS PGothic" charset="-128"/>
              </a:defRPr>
            </a:lvl4pPr>
            <a:lvl5pPr marL="2057400" indent="-228600">
              <a:defRPr sz="2400">
                <a:solidFill>
                  <a:schemeClr val="tx1"/>
                </a:solidFill>
                <a:latin typeface="Arial" charset="0"/>
                <a:ea typeface="MS PGothic" charset="-128"/>
                <a:cs typeface="MS PGothic" charset="-128"/>
              </a:defRPr>
            </a:lvl5pPr>
            <a:lvl6pPr marL="25146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6pPr>
            <a:lvl7pPr marL="29718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7pPr>
            <a:lvl8pPr marL="34290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8pPr>
            <a:lvl9pPr marL="38862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9pPr>
          </a:lstStyle>
          <a:p>
            <a:pPr algn="ctr"/>
            <a:endParaRPr lang="en-US" altLang="en-US" dirty="0">
              <a:solidFill>
                <a:srgbClr val="6F6F6F"/>
              </a:solidFill>
              <a:latin typeface="Calibri" charset="0"/>
            </a:endParaRPr>
          </a:p>
        </p:txBody>
      </p:sp>
      <p:sp>
        <p:nvSpPr>
          <p:cNvPr id="8" name="TextBox 7">
            <a:extLst>
              <a:ext uri="{FF2B5EF4-FFF2-40B4-BE49-F238E27FC236}">
                <a16:creationId xmlns:a16="http://schemas.microsoft.com/office/drawing/2014/main" id="{BC0112CF-F03B-439C-97AE-8F3E545BEC63}"/>
              </a:ext>
            </a:extLst>
          </p:cNvPr>
          <p:cNvSpPr txBox="1"/>
          <p:nvPr/>
        </p:nvSpPr>
        <p:spPr>
          <a:xfrm>
            <a:off x="3333887" y="1668299"/>
            <a:ext cx="1158875" cy="314325"/>
          </a:xfrm>
          <a:prstGeom prst="rect">
            <a:avLst/>
          </a:prstGeom>
          <a:noFill/>
        </p:spPr>
        <p:txBody>
          <a:bodyPr>
            <a:spAutoFit/>
          </a:bodyPr>
          <a:lstStyle/>
          <a:p>
            <a:pPr>
              <a:lnSpc>
                <a:spcPct val="90000"/>
              </a:lnSpc>
              <a:spcBef>
                <a:spcPts val="600"/>
              </a:spcBef>
              <a:defRPr/>
            </a:pPr>
            <a:r>
              <a:rPr lang="en-US" sz="1600" dirty="0">
                <a:solidFill>
                  <a:schemeClr val="tx1">
                    <a:lumMod val="95000"/>
                    <a:lumOff val="5000"/>
                  </a:schemeClr>
                </a:solidFill>
                <a:latin typeface="Calibri" panose="020F0502020204030204" pitchFamily="34" charset="0"/>
              </a:rPr>
              <a:t>Resources</a:t>
            </a:r>
          </a:p>
        </p:txBody>
      </p:sp>
      <p:sp>
        <p:nvSpPr>
          <p:cNvPr id="9" name="Left Brace 10" descr="Blue brace">
            <a:extLst>
              <a:ext uri="{FF2B5EF4-FFF2-40B4-BE49-F238E27FC236}">
                <a16:creationId xmlns:a16="http://schemas.microsoft.com/office/drawing/2014/main" id="{9F55EE33-4E34-4D1A-A6BE-A67E9CDE67EB}"/>
              </a:ext>
            </a:extLst>
          </p:cNvPr>
          <p:cNvSpPr>
            <a:spLocks/>
          </p:cNvSpPr>
          <p:nvPr/>
        </p:nvSpPr>
        <p:spPr bwMode="auto">
          <a:xfrm rot="-5400000">
            <a:off x="5562885" y="752385"/>
            <a:ext cx="280988" cy="1658322"/>
          </a:xfrm>
          <a:prstGeom prst="leftBrace">
            <a:avLst>
              <a:gd name="adj1" fmla="val 184705"/>
              <a:gd name="adj2" fmla="val 4778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charset="0"/>
                <a:ea typeface="MS PGothic" charset="-128"/>
                <a:cs typeface="MS PGothic" charset="-128"/>
              </a:defRPr>
            </a:lvl1pPr>
            <a:lvl2pPr marL="742950" indent="-285750">
              <a:defRPr sz="2400">
                <a:solidFill>
                  <a:schemeClr val="tx1"/>
                </a:solidFill>
                <a:latin typeface="Arial" charset="0"/>
                <a:ea typeface="MS PGothic" charset="-128"/>
                <a:cs typeface="MS PGothic" charset="-128"/>
              </a:defRPr>
            </a:lvl2pPr>
            <a:lvl3pPr marL="1143000" indent="-228600">
              <a:defRPr sz="2400">
                <a:solidFill>
                  <a:schemeClr val="tx1"/>
                </a:solidFill>
                <a:latin typeface="Arial" charset="0"/>
                <a:ea typeface="MS PGothic" charset="-128"/>
                <a:cs typeface="MS PGothic" charset="-128"/>
              </a:defRPr>
            </a:lvl3pPr>
            <a:lvl4pPr marL="1600200" indent="-228600">
              <a:defRPr sz="2400">
                <a:solidFill>
                  <a:schemeClr val="tx1"/>
                </a:solidFill>
                <a:latin typeface="Arial" charset="0"/>
                <a:ea typeface="MS PGothic" charset="-128"/>
                <a:cs typeface="MS PGothic" charset="-128"/>
              </a:defRPr>
            </a:lvl4pPr>
            <a:lvl5pPr marL="2057400" indent="-228600">
              <a:defRPr sz="2400">
                <a:solidFill>
                  <a:schemeClr val="tx1"/>
                </a:solidFill>
                <a:latin typeface="Arial" charset="0"/>
                <a:ea typeface="MS PGothic" charset="-128"/>
                <a:cs typeface="MS PGothic" charset="-128"/>
              </a:defRPr>
            </a:lvl5pPr>
            <a:lvl6pPr marL="25146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6pPr>
            <a:lvl7pPr marL="29718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7pPr>
            <a:lvl8pPr marL="34290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8pPr>
            <a:lvl9pPr marL="38862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9pPr>
          </a:lstStyle>
          <a:p>
            <a:pPr algn="ctr"/>
            <a:endParaRPr lang="en-US" altLang="en-US" dirty="0">
              <a:solidFill>
                <a:srgbClr val="6F6F6F"/>
              </a:solidFill>
              <a:latin typeface="Calibri" charset="0"/>
            </a:endParaRPr>
          </a:p>
        </p:txBody>
      </p:sp>
      <p:sp>
        <p:nvSpPr>
          <p:cNvPr id="10" name="TextBox 9">
            <a:extLst>
              <a:ext uri="{FF2B5EF4-FFF2-40B4-BE49-F238E27FC236}">
                <a16:creationId xmlns:a16="http://schemas.microsoft.com/office/drawing/2014/main" id="{C4B451C6-F8BA-4215-9470-8AC41B033C2D}"/>
              </a:ext>
            </a:extLst>
          </p:cNvPr>
          <p:cNvSpPr txBox="1"/>
          <p:nvPr/>
        </p:nvSpPr>
        <p:spPr>
          <a:xfrm>
            <a:off x="6747389" y="1668299"/>
            <a:ext cx="1158875" cy="314325"/>
          </a:xfrm>
          <a:prstGeom prst="rect">
            <a:avLst/>
          </a:prstGeom>
          <a:noFill/>
        </p:spPr>
        <p:txBody>
          <a:bodyPr>
            <a:spAutoFit/>
          </a:bodyPr>
          <a:lstStyle/>
          <a:p>
            <a:pPr>
              <a:lnSpc>
                <a:spcPct val="90000"/>
              </a:lnSpc>
              <a:spcBef>
                <a:spcPts val="600"/>
              </a:spcBef>
              <a:defRPr/>
            </a:pPr>
            <a:r>
              <a:rPr lang="en-US" sz="1600" dirty="0">
                <a:solidFill>
                  <a:schemeClr val="tx1">
                    <a:lumMod val="95000"/>
                    <a:lumOff val="5000"/>
                  </a:schemeClr>
                </a:solidFill>
                <a:latin typeface="Calibri" panose="020F0502020204030204" pitchFamily="34" charset="0"/>
              </a:rPr>
              <a:t>Parameters</a:t>
            </a:r>
          </a:p>
        </p:txBody>
      </p:sp>
      <p:sp>
        <p:nvSpPr>
          <p:cNvPr id="12" name="Left Brace 10" descr="Blue brace">
            <a:extLst>
              <a:ext uri="{FF2B5EF4-FFF2-40B4-BE49-F238E27FC236}">
                <a16:creationId xmlns:a16="http://schemas.microsoft.com/office/drawing/2014/main" id="{5A0EFF3D-3760-4246-96B4-7EB0A20B2CD4}"/>
              </a:ext>
            </a:extLst>
          </p:cNvPr>
          <p:cNvSpPr>
            <a:spLocks/>
          </p:cNvSpPr>
          <p:nvPr/>
        </p:nvSpPr>
        <p:spPr bwMode="auto">
          <a:xfrm rot="-5400000">
            <a:off x="7186332" y="826002"/>
            <a:ext cx="280988" cy="1511087"/>
          </a:xfrm>
          <a:prstGeom prst="leftBrace">
            <a:avLst>
              <a:gd name="adj1" fmla="val 184705"/>
              <a:gd name="adj2" fmla="val 47787"/>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400">
                <a:solidFill>
                  <a:schemeClr val="tx1"/>
                </a:solidFill>
                <a:latin typeface="Arial" charset="0"/>
                <a:ea typeface="MS PGothic" charset="-128"/>
                <a:cs typeface="MS PGothic" charset="-128"/>
              </a:defRPr>
            </a:lvl1pPr>
            <a:lvl2pPr marL="742950" indent="-285750">
              <a:defRPr sz="2400">
                <a:solidFill>
                  <a:schemeClr val="tx1"/>
                </a:solidFill>
                <a:latin typeface="Arial" charset="0"/>
                <a:ea typeface="MS PGothic" charset="-128"/>
                <a:cs typeface="MS PGothic" charset="-128"/>
              </a:defRPr>
            </a:lvl2pPr>
            <a:lvl3pPr marL="1143000" indent="-228600">
              <a:defRPr sz="2400">
                <a:solidFill>
                  <a:schemeClr val="tx1"/>
                </a:solidFill>
                <a:latin typeface="Arial" charset="0"/>
                <a:ea typeface="MS PGothic" charset="-128"/>
                <a:cs typeface="MS PGothic" charset="-128"/>
              </a:defRPr>
            </a:lvl3pPr>
            <a:lvl4pPr marL="1600200" indent="-228600">
              <a:defRPr sz="2400">
                <a:solidFill>
                  <a:schemeClr val="tx1"/>
                </a:solidFill>
                <a:latin typeface="Arial" charset="0"/>
                <a:ea typeface="MS PGothic" charset="-128"/>
                <a:cs typeface="MS PGothic" charset="-128"/>
              </a:defRPr>
            </a:lvl4pPr>
            <a:lvl5pPr marL="2057400" indent="-228600">
              <a:defRPr sz="2400">
                <a:solidFill>
                  <a:schemeClr val="tx1"/>
                </a:solidFill>
                <a:latin typeface="Arial" charset="0"/>
                <a:ea typeface="MS PGothic" charset="-128"/>
                <a:cs typeface="MS PGothic" charset="-128"/>
              </a:defRPr>
            </a:lvl5pPr>
            <a:lvl6pPr marL="25146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6pPr>
            <a:lvl7pPr marL="29718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7pPr>
            <a:lvl8pPr marL="34290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8pPr>
            <a:lvl9pPr marL="3886200" indent="-228600" defTabSz="457200" eaLnBrk="0" fontAlgn="base" hangingPunct="0">
              <a:spcBef>
                <a:spcPct val="0"/>
              </a:spcBef>
              <a:spcAft>
                <a:spcPct val="0"/>
              </a:spcAft>
              <a:defRPr sz="2400">
                <a:solidFill>
                  <a:schemeClr val="tx1"/>
                </a:solidFill>
                <a:latin typeface="Arial" charset="0"/>
                <a:ea typeface="MS PGothic" charset="-128"/>
                <a:cs typeface="MS PGothic" charset="-128"/>
              </a:defRPr>
            </a:lvl9pPr>
          </a:lstStyle>
          <a:p>
            <a:pPr algn="ctr"/>
            <a:endParaRPr lang="en-US" altLang="en-US" dirty="0">
              <a:solidFill>
                <a:srgbClr val="6F6F6F"/>
              </a:solidFill>
              <a:latin typeface="Calibri" charset="0"/>
            </a:endParaRPr>
          </a:p>
        </p:txBody>
      </p:sp>
      <p:sp>
        <p:nvSpPr>
          <p:cNvPr id="13" name="TextBox 12">
            <a:extLst>
              <a:ext uri="{FF2B5EF4-FFF2-40B4-BE49-F238E27FC236}">
                <a16:creationId xmlns:a16="http://schemas.microsoft.com/office/drawing/2014/main" id="{4F9FEF7D-F7CE-41C9-9DFC-AAD63A46434F}"/>
              </a:ext>
            </a:extLst>
          </p:cNvPr>
          <p:cNvSpPr txBox="1"/>
          <p:nvPr/>
        </p:nvSpPr>
        <p:spPr>
          <a:xfrm>
            <a:off x="5123942" y="1668299"/>
            <a:ext cx="1158875" cy="314325"/>
          </a:xfrm>
          <a:prstGeom prst="rect">
            <a:avLst/>
          </a:prstGeom>
          <a:noFill/>
        </p:spPr>
        <p:txBody>
          <a:bodyPr>
            <a:spAutoFit/>
          </a:bodyPr>
          <a:lstStyle/>
          <a:p>
            <a:pPr algn="ctr">
              <a:lnSpc>
                <a:spcPct val="90000"/>
              </a:lnSpc>
              <a:spcBef>
                <a:spcPts val="600"/>
              </a:spcBef>
              <a:defRPr/>
            </a:pPr>
            <a:r>
              <a:rPr lang="en-US" sz="1600" dirty="0">
                <a:solidFill>
                  <a:schemeClr val="tx1">
                    <a:lumMod val="95000"/>
                    <a:lumOff val="5000"/>
                  </a:schemeClr>
                </a:solidFill>
                <a:latin typeface="Calibri" panose="020F0502020204030204" pitchFamily="34" charset="0"/>
              </a:rPr>
              <a:t>Token</a:t>
            </a:r>
          </a:p>
        </p:txBody>
      </p:sp>
      <p:sp>
        <p:nvSpPr>
          <p:cNvPr id="14" name="Rectangle 13">
            <a:extLst>
              <a:ext uri="{FF2B5EF4-FFF2-40B4-BE49-F238E27FC236}">
                <a16:creationId xmlns:a16="http://schemas.microsoft.com/office/drawing/2014/main" id="{DD3C501C-9DAF-437D-8531-6BBE969F7FBF}"/>
              </a:ext>
            </a:extLst>
          </p:cNvPr>
          <p:cNvSpPr/>
          <p:nvPr/>
        </p:nvSpPr>
        <p:spPr>
          <a:xfrm>
            <a:off x="265814" y="1072153"/>
            <a:ext cx="8665535" cy="338554"/>
          </a:xfrm>
          <a:prstGeom prst="rect">
            <a:avLst/>
          </a:prstGeom>
        </p:spPr>
        <p:txBody>
          <a:bodyPr wrap="square">
            <a:spAutoFit/>
          </a:bodyPr>
          <a:lstStyle/>
          <a:p>
            <a:r>
              <a:rPr lang="en-US" altLang="en-US" sz="1600" dirty="0">
                <a:solidFill>
                  <a:srgbClr val="0070C0"/>
                </a:solidFill>
              </a:rPr>
              <a:t>https://www.mapquestapi.com/directions/v2/route?</a:t>
            </a:r>
            <a:r>
              <a:rPr lang="en-US" altLang="en-US" sz="1600" dirty="0">
                <a:solidFill>
                  <a:schemeClr val="accent2"/>
                </a:solidFill>
              </a:rPr>
              <a:t>key=your_api_key</a:t>
            </a:r>
            <a:r>
              <a:rPr lang="en-US" altLang="en-US" sz="1600" dirty="0">
                <a:solidFill>
                  <a:srgbClr val="0070C0"/>
                </a:solidFill>
              </a:rPr>
              <a:t>&amp;to=Baltimore&amp;...</a:t>
            </a:r>
            <a:endParaRPr lang="en-US" sz="1600" dirty="0"/>
          </a:p>
        </p:txBody>
      </p:sp>
    </p:spTree>
    <p:extLst>
      <p:ext uri="{BB962C8B-B14F-4D97-AF65-F5344CB8AC3E}">
        <p14:creationId xmlns:p14="http://schemas.microsoft.com/office/powerpoint/2010/main" val="72009878"/>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p:txBody>
          <a:bodyPr>
            <a:normAutofit fontScale="77500" lnSpcReduction="20000"/>
          </a:bodyPr>
          <a:lstStyle/>
          <a:p>
            <a:pPr marL="571486" indent="-514350">
              <a:buFont typeface="+mj-lt"/>
              <a:buAutoNum type="arabicPeriod"/>
            </a:pPr>
            <a:r>
              <a:rPr lang="en-US" dirty="0"/>
              <a:t>Go to: </a:t>
            </a:r>
            <a:r>
              <a:rPr lang="en-US" dirty="0">
                <a:hlinkClick r:id="rId3"/>
              </a:rPr>
              <a:t>https://developer.mapquest.com/</a:t>
            </a:r>
            <a:r>
              <a:rPr lang="en-US" dirty="0"/>
              <a:t>.</a:t>
            </a:r>
          </a:p>
          <a:p>
            <a:pPr marL="571486" indent="-514350">
              <a:buFont typeface="+mj-lt"/>
              <a:buAutoNum type="arabicPeriod"/>
            </a:pPr>
            <a:r>
              <a:rPr lang="en-US" dirty="0"/>
              <a:t>Click </a:t>
            </a:r>
            <a:r>
              <a:rPr lang="en-US" b="1" dirty="0"/>
              <a:t>Sign Up </a:t>
            </a:r>
            <a:r>
              <a:rPr lang="en-US" dirty="0"/>
              <a:t>at the top of the page. </a:t>
            </a:r>
          </a:p>
          <a:p>
            <a:pPr marL="571486" indent="-514350">
              <a:buFont typeface="+mj-lt"/>
              <a:buAutoNum type="arabicPeriod"/>
            </a:pPr>
            <a:r>
              <a:rPr lang="en-US" dirty="0"/>
              <a:t>Fill out the form to create a new account. For </a:t>
            </a:r>
            <a:r>
              <a:rPr lang="en-US" b="1" dirty="0"/>
              <a:t>Company</a:t>
            </a:r>
            <a:r>
              <a:rPr lang="en-US" dirty="0"/>
              <a:t>, enter </a:t>
            </a:r>
            <a:r>
              <a:rPr lang="en-US" b="1" dirty="0"/>
              <a:t>Cisco Networking Academy Student</a:t>
            </a:r>
            <a:r>
              <a:rPr lang="en-US" dirty="0"/>
              <a:t>.</a:t>
            </a:r>
          </a:p>
          <a:p>
            <a:pPr marL="571486" indent="-514350">
              <a:buFont typeface="+mj-lt"/>
              <a:buAutoNum type="arabicPeriod"/>
            </a:pPr>
            <a:r>
              <a:rPr lang="en-US" dirty="0"/>
              <a:t>After clicking </a:t>
            </a:r>
            <a:r>
              <a:rPr lang="en-US" b="1" dirty="0"/>
              <a:t>Sign Me Up</a:t>
            </a:r>
            <a:r>
              <a:rPr lang="en-US" dirty="0"/>
              <a:t>, you are redirected to the </a:t>
            </a:r>
            <a:r>
              <a:rPr lang="en-US" b="1" dirty="0"/>
              <a:t>Manage Keys</a:t>
            </a:r>
            <a:r>
              <a:rPr lang="en-US" dirty="0"/>
              <a:t> page.</a:t>
            </a:r>
          </a:p>
          <a:p>
            <a:pPr marL="571486" indent="-514350">
              <a:buFont typeface="+mj-lt"/>
              <a:buAutoNum type="arabicPeriod"/>
            </a:pPr>
            <a:r>
              <a:rPr lang="en-US" dirty="0"/>
              <a:t>Click </a:t>
            </a:r>
            <a:r>
              <a:rPr lang="en-US" b="1" dirty="0"/>
              <a:t>Approve All Keys</a:t>
            </a:r>
            <a:r>
              <a:rPr lang="en-US" dirty="0"/>
              <a:t> and expand </a:t>
            </a:r>
            <a:r>
              <a:rPr lang="en-US" b="1" dirty="0"/>
              <a:t>My Application</a:t>
            </a:r>
            <a:r>
              <a:rPr lang="en-US" dirty="0"/>
              <a:t>.</a:t>
            </a:r>
          </a:p>
          <a:p>
            <a:pPr marL="571486" indent="-514350">
              <a:buFont typeface="+mj-lt"/>
              <a:buAutoNum type="arabicPeriod"/>
            </a:pPr>
            <a:r>
              <a:rPr lang="en-US" dirty="0"/>
              <a:t>Copy your </a:t>
            </a:r>
            <a:r>
              <a:rPr lang="en-US" b="1" dirty="0"/>
              <a:t>Consumer Key </a:t>
            </a:r>
            <a:r>
              <a:rPr lang="en-US" dirty="0"/>
              <a:t>to Notepad for future use. </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p:txBody>
          <a:bodyPr>
            <a:normAutofit/>
          </a:bodyPr>
          <a:lstStyle/>
          <a:p>
            <a:r>
              <a:rPr lang="en-US" dirty="0"/>
              <a:t>Activity - Get Your MapQuest API Key</a:t>
            </a:r>
          </a:p>
        </p:txBody>
      </p:sp>
    </p:spTree>
    <p:extLst>
      <p:ext uri="{BB962C8B-B14F-4D97-AF65-F5344CB8AC3E}">
        <p14:creationId xmlns:p14="http://schemas.microsoft.com/office/powerpoint/2010/main" val="3136153398"/>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51DDB02-DA3C-4AD7-9CFD-71EB5CFE952F}"/>
              </a:ext>
            </a:extLst>
          </p:cNvPr>
          <p:cNvSpPr/>
          <p:nvPr/>
        </p:nvSpPr>
        <p:spPr>
          <a:xfrm>
            <a:off x="3710354" y="1223681"/>
            <a:ext cx="4985238" cy="3281083"/>
          </a:xfrm>
          <a:prstGeom prst="rect">
            <a:avLst/>
          </a:prstGeom>
          <a:ln>
            <a:solidFill>
              <a:schemeClr val="tx1"/>
            </a:solidFill>
          </a:ln>
        </p:spPr>
        <p:txBody>
          <a:bodyPr wrap="square">
            <a:normAutofit/>
          </a:bodyPr>
          <a:lstStyle/>
          <a:p>
            <a:r>
              <a:rPr lang="fr-FR" sz="1400" dirty="0">
                <a:solidFill>
                  <a:srgbClr val="000000"/>
                </a:solidFill>
                <a:latin typeface="Courier New" panose="02070309020205020404" pitchFamily="49" charset="0"/>
                <a:cs typeface="Courier New" panose="02070309020205020404" pitchFamily="49" charset="0"/>
              </a:rPr>
              <a:t>import </a:t>
            </a:r>
            <a:r>
              <a:rPr lang="fr-FR" sz="1400" dirty="0" err="1">
                <a:solidFill>
                  <a:srgbClr val="000000"/>
                </a:solidFill>
                <a:latin typeface="Courier New" panose="02070309020205020404" pitchFamily="49" charset="0"/>
                <a:cs typeface="Courier New" panose="02070309020205020404" pitchFamily="49" charset="0"/>
              </a:rPr>
              <a:t>urllib.parse</a:t>
            </a:r>
            <a:br>
              <a:rPr lang="fr-FR" sz="1400" dirty="0">
                <a:solidFill>
                  <a:srgbClr val="000000"/>
                </a:solidFill>
                <a:latin typeface="Courier New" panose="02070309020205020404" pitchFamily="49" charset="0"/>
                <a:cs typeface="Courier New" panose="02070309020205020404" pitchFamily="49" charset="0"/>
              </a:rPr>
            </a:br>
            <a:r>
              <a:rPr lang="fr-FR" sz="1400" dirty="0">
                <a:solidFill>
                  <a:srgbClr val="000000"/>
                </a:solidFill>
                <a:latin typeface="Courier New" panose="02070309020205020404" pitchFamily="49" charset="0"/>
                <a:cs typeface="Courier New" panose="02070309020205020404" pitchFamily="49" charset="0"/>
              </a:rPr>
              <a:t>import </a:t>
            </a:r>
            <a:r>
              <a:rPr lang="fr-FR" sz="1400" dirty="0" err="1">
                <a:solidFill>
                  <a:srgbClr val="000000"/>
                </a:solidFill>
                <a:latin typeface="Courier New" panose="02070309020205020404" pitchFamily="49" charset="0"/>
                <a:cs typeface="Courier New" panose="02070309020205020404" pitchFamily="49" charset="0"/>
              </a:rPr>
              <a:t>requests</a:t>
            </a:r>
            <a:r>
              <a:rPr lang="fr-FR" sz="1400" dirty="0">
                <a:solidFill>
                  <a:srgbClr val="000000"/>
                </a:solidFill>
                <a:latin typeface="Courier New" panose="02070309020205020404" pitchFamily="49" charset="0"/>
                <a:cs typeface="Courier New" panose="02070309020205020404" pitchFamily="49" charset="0"/>
              </a:rPr>
              <a:t> </a:t>
            </a:r>
          </a:p>
          <a:p>
            <a:endParaRPr lang="en-US" sz="1400" dirty="0">
              <a:solidFill>
                <a:srgbClr val="000000"/>
              </a:solidFill>
              <a:latin typeface="Courier New" panose="02070309020205020404" pitchFamily="49" charset="0"/>
              <a:cs typeface="Courier New" panose="02070309020205020404" pitchFamily="49" charset="0"/>
            </a:endParaRPr>
          </a:p>
        </p:txBody>
      </p:sp>
      <p:sp>
        <p:nvSpPr>
          <p:cNvPr id="12" name="Text Placeholder 11">
            <a:extLst>
              <a:ext uri="{FF2B5EF4-FFF2-40B4-BE49-F238E27FC236}">
                <a16:creationId xmlns:a16="http://schemas.microsoft.com/office/drawing/2014/main" id="{3D9C4EE4-D318-4653-A8E0-F5A3377B809C}"/>
              </a:ext>
            </a:extLst>
          </p:cNvPr>
          <p:cNvSpPr>
            <a:spLocks noGrp="1"/>
          </p:cNvSpPr>
          <p:nvPr>
            <p:ph type="body" sz="quarter" idx="10"/>
          </p:nvPr>
        </p:nvSpPr>
        <p:spPr>
          <a:xfrm>
            <a:off x="311728" y="1215025"/>
            <a:ext cx="3335482" cy="3300973"/>
          </a:xfrm>
        </p:spPr>
        <p:txBody>
          <a:bodyPr>
            <a:normAutofit/>
          </a:bodyPr>
          <a:lstStyle/>
          <a:p>
            <a:r>
              <a:rPr lang="en-US" dirty="0"/>
              <a:t>Open a blank script file and save it as </a:t>
            </a:r>
            <a:r>
              <a:rPr lang="en-US" b="1" i="1" dirty="0"/>
              <a:t> studentname</a:t>
            </a:r>
            <a:r>
              <a:rPr lang="en-US" b="1" dirty="0"/>
              <a:t>_parse-json1.py</a:t>
            </a:r>
            <a:r>
              <a:rPr lang="en-US" dirty="0"/>
              <a:t>.</a:t>
            </a:r>
          </a:p>
          <a:p>
            <a:r>
              <a:rPr lang="en-US" dirty="0"/>
              <a:t>Import modules</a:t>
            </a:r>
          </a:p>
        </p:txBody>
      </p:sp>
      <p:sp>
        <p:nvSpPr>
          <p:cNvPr id="8" name="Title 7">
            <a:extLst>
              <a:ext uri="{FF2B5EF4-FFF2-40B4-BE49-F238E27FC236}">
                <a16:creationId xmlns:a16="http://schemas.microsoft.com/office/drawing/2014/main" id="{F4750EDD-B7FA-4B65-BEF1-EF02089E5DB6}"/>
              </a:ext>
            </a:extLst>
          </p:cNvPr>
          <p:cNvSpPr>
            <a:spLocks noGrp="1"/>
          </p:cNvSpPr>
          <p:nvPr>
            <p:ph type="title"/>
          </p:nvPr>
        </p:nvSpPr>
        <p:spPr/>
        <p:txBody>
          <a:bodyPr/>
          <a:lstStyle/>
          <a:p>
            <a:r>
              <a:rPr lang="en-US" dirty="0"/>
              <a:t>Importing Modules</a:t>
            </a:r>
          </a:p>
        </p:txBody>
      </p:sp>
    </p:spTree>
    <p:extLst>
      <p:ext uri="{BB962C8B-B14F-4D97-AF65-F5344CB8AC3E}">
        <p14:creationId xmlns:p14="http://schemas.microsoft.com/office/powerpoint/2010/main" val="1347093168"/>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51DDB02-DA3C-4AD7-9CFD-71EB5CFE952F}"/>
              </a:ext>
            </a:extLst>
          </p:cNvPr>
          <p:cNvSpPr/>
          <p:nvPr/>
        </p:nvSpPr>
        <p:spPr>
          <a:xfrm>
            <a:off x="446809" y="3316629"/>
            <a:ext cx="8248783" cy="1134602"/>
          </a:xfrm>
          <a:prstGeom prst="rect">
            <a:avLst/>
          </a:prstGeom>
          <a:ln>
            <a:solidFill>
              <a:schemeClr val="tx1"/>
            </a:solidFill>
          </a:ln>
        </p:spPr>
        <p:txBody>
          <a:bodyPr wrap="square">
            <a:normAutofit fontScale="92500"/>
          </a:bodyPr>
          <a:lstStyle/>
          <a:p>
            <a:r>
              <a:rPr lang="en-US" sz="1400" dirty="0" err="1">
                <a:solidFill>
                  <a:srgbClr val="000000"/>
                </a:solidFill>
                <a:latin typeface="Courier New" panose="02070309020205020404" pitchFamily="49" charset="0"/>
                <a:cs typeface="Courier New" panose="02070309020205020404" pitchFamily="49" charset="0"/>
              </a:rPr>
              <a:t>main_api</a:t>
            </a:r>
            <a:r>
              <a:rPr lang="en-US" sz="1400" dirty="0">
                <a:solidFill>
                  <a:srgbClr val="000000"/>
                </a:solidFill>
                <a:latin typeface="Courier New" panose="02070309020205020404" pitchFamily="49" charset="0"/>
                <a:cs typeface="Courier New" panose="02070309020205020404" pitchFamily="49" charset="0"/>
              </a:rPr>
              <a:t> = "https://www.mapquestapi.com/directions/v2/route?"</a:t>
            </a:r>
          </a:p>
          <a:p>
            <a:r>
              <a:rPr lang="en-US" sz="1400" dirty="0" err="1">
                <a:solidFill>
                  <a:srgbClr val="000000"/>
                </a:solidFill>
                <a:latin typeface="Courier New" panose="02070309020205020404" pitchFamily="49" charset="0"/>
                <a:cs typeface="Courier New" panose="02070309020205020404" pitchFamily="49" charset="0"/>
              </a:rPr>
              <a:t>orig</a:t>
            </a:r>
            <a:r>
              <a:rPr lang="en-US" sz="1400" dirty="0">
                <a:solidFill>
                  <a:srgbClr val="000000"/>
                </a:solidFill>
                <a:latin typeface="Courier New" panose="02070309020205020404" pitchFamily="49" charset="0"/>
                <a:cs typeface="Courier New" panose="02070309020205020404" pitchFamily="49" charset="0"/>
              </a:rPr>
              <a:t> = "Washington"</a:t>
            </a:r>
          </a:p>
          <a:p>
            <a:r>
              <a:rPr lang="en-US" sz="1400" dirty="0" err="1">
                <a:solidFill>
                  <a:srgbClr val="000000"/>
                </a:solidFill>
                <a:latin typeface="Courier New" panose="02070309020205020404" pitchFamily="49" charset="0"/>
                <a:cs typeface="Courier New" panose="02070309020205020404" pitchFamily="49" charset="0"/>
              </a:rPr>
              <a:t>dest</a:t>
            </a:r>
            <a:r>
              <a:rPr lang="en-US" sz="1400" dirty="0">
                <a:solidFill>
                  <a:srgbClr val="000000"/>
                </a:solidFill>
                <a:latin typeface="Courier New" panose="02070309020205020404" pitchFamily="49" charset="0"/>
                <a:cs typeface="Courier New" panose="02070309020205020404" pitchFamily="49" charset="0"/>
              </a:rPr>
              <a:t> = "Baltimore"</a:t>
            </a:r>
          </a:p>
          <a:p>
            <a:r>
              <a:rPr lang="en-US" sz="1400" dirty="0">
                <a:solidFill>
                  <a:srgbClr val="000000"/>
                </a:solidFill>
                <a:latin typeface="Courier New" panose="02070309020205020404" pitchFamily="49" charset="0"/>
                <a:cs typeface="Courier New" panose="02070309020205020404" pitchFamily="49" charset="0"/>
              </a:rPr>
              <a:t>key = "</a:t>
            </a:r>
            <a:r>
              <a:rPr lang="en-US" sz="1400" dirty="0" err="1">
                <a:solidFill>
                  <a:srgbClr val="000000"/>
                </a:solidFill>
                <a:latin typeface="Courier New" panose="02070309020205020404" pitchFamily="49" charset="0"/>
                <a:cs typeface="Courier New" panose="02070309020205020404" pitchFamily="49" charset="0"/>
              </a:rPr>
              <a:t>your_api_key</a:t>
            </a:r>
            <a:r>
              <a:rPr lang="en-US" sz="1400" dirty="0">
                <a:solidFill>
                  <a:srgbClr val="000000"/>
                </a:solidFill>
                <a:latin typeface="Courier New" panose="02070309020205020404" pitchFamily="49" charset="0"/>
                <a:cs typeface="Courier New" panose="02070309020205020404" pitchFamily="49" charset="0"/>
              </a:rPr>
              <a:t>"</a:t>
            </a:r>
          </a:p>
          <a:p>
            <a:r>
              <a:rPr lang="en-US" sz="1400" dirty="0" err="1">
                <a:solidFill>
                  <a:srgbClr val="000000"/>
                </a:solidFill>
                <a:latin typeface="Courier New" panose="02070309020205020404" pitchFamily="49" charset="0"/>
                <a:cs typeface="Courier New" panose="02070309020205020404" pitchFamily="49" charset="0"/>
              </a:rPr>
              <a:t>url</a:t>
            </a:r>
            <a:r>
              <a:rPr lang="en-US" sz="1400" dirty="0">
                <a:solidFill>
                  <a:srgbClr val="000000"/>
                </a:solidFill>
                <a:latin typeface="Courier New" panose="02070309020205020404" pitchFamily="49" charset="0"/>
                <a:cs typeface="Courier New" panose="02070309020205020404" pitchFamily="49" charset="0"/>
              </a:rPr>
              <a:t> = </a:t>
            </a:r>
            <a:r>
              <a:rPr lang="en-US" sz="1400" dirty="0" err="1">
                <a:solidFill>
                  <a:srgbClr val="000000"/>
                </a:solidFill>
                <a:latin typeface="Courier New" panose="02070309020205020404" pitchFamily="49" charset="0"/>
                <a:cs typeface="Courier New" panose="02070309020205020404" pitchFamily="49" charset="0"/>
              </a:rPr>
              <a:t>main_api</a:t>
            </a:r>
            <a:r>
              <a:rPr lang="en-US" sz="1400" dirty="0">
                <a:solidFill>
                  <a:srgbClr val="000000"/>
                </a:solidFill>
                <a:latin typeface="Courier New" panose="02070309020205020404" pitchFamily="49" charset="0"/>
                <a:cs typeface="Courier New" panose="02070309020205020404" pitchFamily="49" charset="0"/>
              </a:rPr>
              <a:t> + </a:t>
            </a:r>
            <a:r>
              <a:rPr lang="en-US" sz="1400" dirty="0" err="1">
                <a:solidFill>
                  <a:srgbClr val="000000"/>
                </a:solidFill>
                <a:latin typeface="Courier New" panose="02070309020205020404" pitchFamily="49" charset="0"/>
                <a:cs typeface="Courier New" panose="02070309020205020404" pitchFamily="49" charset="0"/>
              </a:rPr>
              <a:t>urllib.parse.urlencode</a:t>
            </a:r>
            <a:r>
              <a:rPr lang="en-US" sz="1400" dirty="0">
                <a:solidFill>
                  <a:srgbClr val="000000"/>
                </a:solidFill>
                <a:latin typeface="Courier New" panose="02070309020205020404" pitchFamily="49" charset="0"/>
                <a:cs typeface="Courier New" panose="02070309020205020404" pitchFamily="49" charset="0"/>
              </a:rPr>
              <a:t>({"key": key, "from":</a:t>
            </a:r>
            <a:r>
              <a:rPr lang="en-US" sz="1400" dirty="0" err="1">
                <a:solidFill>
                  <a:srgbClr val="000000"/>
                </a:solidFill>
                <a:latin typeface="Courier New" panose="02070309020205020404" pitchFamily="49" charset="0"/>
                <a:cs typeface="Courier New" panose="02070309020205020404" pitchFamily="49" charset="0"/>
              </a:rPr>
              <a:t>orig</a:t>
            </a:r>
            <a:r>
              <a:rPr lang="en-US" sz="1400" dirty="0">
                <a:solidFill>
                  <a:srgbClr val="000000"/>
                </a:solidFill>
                <a:latin typeface="Courier New" panose="02070309020205020404" pitchFamily="49" charset="0"/>
                <a:cs typeface="Courier New" panose="02070309020205020404" pitchFamily="49" charset="0"/>
              </a:rPr>
              <a:t>, "to":</a:t>
            </a:r>
            <a:r>
              <a:rPr lang="en-US" sz="1400" dirty="0" err="1">
                <a:solidFill>
                  <a:srgbClr val="000000"/>
                </a:solidFill>
                <a:latin typeface="Courier New" panose="02070309020205020404" pitchFamily="49" charset="0"/>
                <a:cs typeface="Courier New" panose="02070309020205020404" pitchFamily="49" charset="0"/>
              </a:rPr>
              <a:t>dest</a:t>
            </a:r>
            <a:r>
              <a:rPr lang="en-US" sz="1400" dirty="0">
                <a:solidFill>
                  <a:srgbClr val="000000"/>
                </a:solidFill>
                <a:latin typeface="Courier New" panose="02070309020205020404" pitchFamily="49" charset="0"/>
                <a:cs typeface="Courier New" panose="02070309020205020404" pitchFamily="49" charset="0"/>
              </a:rPr>
              <a:t>})</a:t>
            </a:r>
          </a:p>
        </p:txBody>
      </p:sp>
      <p:sp>
        <p:nvSpPr>
          <p:cNvPr id="12" name="Text Placeholder 11">
            <a:extLst>
              <a:ext uri="{FF2B5EF4-FFF2-40B4-BE49-F238E27FC236}">
                <a16:creationId xmlns:a16="http://schemas.microsoft.com/office/drawing/2014/main" id="{3D9C4EE4-D318-4653-A8E0-F5A3377B809C}"/>
              </a:ext>
            </a:extLst>
          </p:cNvPr>
          <p:cNvSpPr>
            <a:spLocks noGrp="1"/>
          </p:cNvSpPr>
          <p:nvPr>
            <p:ph type="body" sz="quarter" idx="10"/>
          </p:nvPr>
        </p:nvSpPr>
        <p:spPr>
          <a:xfrm>
            <a:off x="311728" y="1007918"/>
            <a:ext cx="8395854" cy="2175229"/>
          </a:xfrm>
        </p:spPr>
        <p:txBody>
          <a:bodyPr>
            <a:normAutofit fontScale="85000" lnSpcReduction="20000"/>
          </a:bodyPr>
          <a:lstStyle/>
          <a:p>
            <a:pPr marL="57136" indent="0">
              <a:buNone/>
            </a:pPr>
            <a:r>
              <a:rPr lang="en-US" dirty="0"/>
              <a:t>Add the following variables to your script:</a:t>
            </a:r>
          </a:p>
          <a:p>
            <a:pPr lvl="1"/>
            <a:r>
              <a:rPr lang="en-US" b="1" dirty="0" err="1">
                <a:solidFill>
                  <a:schemeClr val="accent1"/>
                </a:solidFill>
              </a:rPr>
              <a:t>main_api</a:t>
            </a:r>
            <a:r>
              <a:rPr lang="en-US" dirty="0">
                <a:solidFill>
                  <a:schemeClr val="accent1"/>
                </a:solidFill>
              </a:rPr>
              <a:t> - the main URL that you are accessing</a:t>
            </a:r>
          </a:p>
          <a:p>
            <a:pPr lvl="1"/>
            <a:r>
              <a:rPr lang="en-US" b="1" dirty="0" err="1">
                <a:solidFill>
                  <a:schemeClr val="accent1"/>
                </a:solidFill>
              </a:rPr>
              <a:t>orig</a:t>
            </a:r>
            <a:r>
              <a:rPr lang="en-US" dirty="0">
                <a:solidFill>
                  <a:schemeClr val="accent1"/>
                </a:solidFill>
              </a:rPr>
              <a:t> - the parameter to specify your point of origin</a:t>
            </a:r>
          </a:p>
          <a:p>
            <a:pPr lvl="1"/>
            <a:r>
              <a:rPr lang="en-US" b="1" dirty="0" err="1">
                <a:solidFill>
                  <a:schemeClr val="accent1"/>
                </a:solidFill>
              </a:rPr>
              <a:t>dest</a:t>
            </a:r>
            <a:r>
              <a:rPr lang="en-US" b="1" dirty="0">
                <a:solidFill>
                  <a:schemeClr val="accent1"/>
                </a:solidFill>
              </a:rPr>
              <a:t> </a:t>
            </a:r>
            <a:r>
              <a:rPr lang="en-US" dirty="0">
                <a:solidFill>
                  <a:schemeClr val="accent1"/>
                </a:solidFill>
              </a:rPr>
              <a:t>- the parameter to specify your destination</a:t>
            </a:r>
          </a:p>
          <a:p>
            <a:pPr lvl="1"/>
            <a:r>
              <a:rPr lang="en-US" b="1" dirty="0">
                <a:solidFill>
                  <a:schemeClr val="accent1"/>
                </a:solidFill>
              </a:rPr>
              <a:t>key</a:t>
            </a:r>
            <a:r>
              <a:rPr lang="en-US" dirty="0">
                <a:solidFill>
                  <a:schemeClr val="accent1"/>
                </a:solidFill>
              </a:rPr>
              <a:t> - the MapQuest API key you retrieved from the developer website</a:t>
            </a:r>
          </a:p>
          <a:p>
            <a:pPr marL="57136" indent="0">
              <a:buNone/>
            </a:pPr>
            <a:r>
              <a:rPr lang="en-US" dirty="0"/>
              <a:t>Combine the variables into the </a:t>
            </a:r>
            <a:r>
              <a:rPr lang="en-US" b="1" dirty="0" err="1"/>
              <a:t>url</a:t>
            </a:r>
            <a:r>
              <a:rPr lang="en-US" dirty="0"/>
              <a:t> variable using the </a:t>
            </a:r>
            <a:r>
              <a:rPr lang="en-US" b="1" dirty="0" err="1"/>
              <a:t>urlencode</a:t>
            </a:r>
            <a:r>
              <a:rPr lang="en-US" dirty="0"/>
              <a:t> method to properly format the address variable</a:t>
            </a:r>
          </a:p>
          <a:p>
            <a:pPr marL="57136" indent="0">
              <a:buNone/>
            </a:pPr>
            <a:endParaRPr lang="en-US" dirty="0"/>
          </a:p>
        </p:txBody>
      </p:sp>
      <p:sp>
        <p:nvSpPr>
          <p:cNvPr id="8" name="Title 7">
            <a:extLst>
              <a:ext uri="{FF2B5EF4-FFF2-40B4-BE49-F238E27FC236}">
                <a16:creationId xmlns:a16="http://schemas.microsoft.com/office/drawing/2014/main" id="{F4750EDD-B7FA-4B65-BEF1-EF02089E5DB6}"/>
              </a:ext>
            </a:extLst>
          </p:cNvPr>
          <p:cNvSpPr>
            <a:spLocks noGrp="1"/>
          </p:cNvSpPr>
          <p:nvPr>
            <p:ph type="title"/>
          </p:nvPr>
        </p:nvSpPr>
        <p:spPr/>
        <p:txBody>
          <a:bodyPr/>
          <a:lstStyle/>
          <a:p>
            <a:r>
              <a:rPr lang="en-US" dirty="0"/>
              <a:t>Create Variables for API Request</a:t>
            </a:r>
          </a:p>
        </p:txBody>
      </p:sp>
      <p:sp>
        <p:nvSpPr>
          <p:cNvPr id="7" name="Rectangle 3" descr="What you need to create variable for the API request.">
            <a:extLst>
              <a:ext uri="{FF2B5EF4-FFF2-40B4-BE49-F238E27FC236}">
                <a16:creationId xmlns:a16="http://schemas.microsoft.com/office/drawing/2014/main" id="{1FB182F7-3D1E-4CF1-A612-11CE088782D3}"/>
              </a:ext>
            </a:extLst>
          </p:cNvPr>
          <p:cNvSpPr>
            <a:spLocks noChangeArrowheads="1"/>
          </p:cNvSpPr>
          <p:nvPr/>
        </p:nvSpPr>
        <p:spPr bwMode="auto">
          <a:xfrm>
            <a:off x="1524000" y="2874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07414447"/>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51DDB02-DA3C-4AD7-9CFD-71EB5CFE952F}"/>
              </a:ext>
            </a:extLst>
          </p:cNvPr>
          <p:cNvSpPr/>
          <p:nvPr/>
        </p:nvSpPr>
        <p:spPr>
          <a:xfrm>
            <a:off x="3927765" y="1101436"/>
            <a:ext cx="4767828" cy="3507238"/>
          </a:xfrm>
          <a:prstGeom prst="rect">
            <a:avLst/>
          </a:prstGeom>
          <a:ln>
            <a:solidFill>
              <a:schemeClr val="tx1"/>
            </a:solidFill>
          </a:ln>
        </p:spPr>
        <p:txBody>
          <a:bodyPr wrap="square">
            <a:normAutofit/>
          </a:bodyPr>
          <a:lstStyle/>
          <a:p>
            <a:r>
              <a:rPr lang="en-US" sz="1400" dirty="0" err="1">
                <a:solidFill>
                  <a:srgbClr val="000000"/>
                </a:solidFill>
                <a:latin typeface="Courier New" panose="02070309020205020404" pitchFamily="49" charset="0"/>
                <a:cs typeface="Courier New" panose="02070309020205020404" pitchFamily="49" charset="0"/>
              </a:rPr>
              <a:t>json_data</a:t>
            </a:r>
            <a:r>
              <a:rPr lang="en-US" sz="1400" dirty="0">
                <a:solidFill>
                  <a:srgbClr val="000000"/>
                </a:solidFill>
                <a:latin typeface="Courier New" panose="02070309020205020404" pitchFamily="49" charset="0"/>
                <a:cs typeface="Courier New" panose="02070309020205020404" pitchFamily="49" charset="0"/>
              </a:rPr>
              <a:t> = </a:t>
            </a:r>
            <a:r>
              <a:rPr lang="en-US" sz="1400" dirty="0" err="1">
                <a:solidFill>
                  <a:srgbClr val="000000"/>
                </a:solidFill>
                <a:latin typeface="Courier New" panose="02070309020205020404" pitchFamily="49" charset="0"/>
                <a:cs typeface="Courier New" panose="02070309020205020404" pitchFamily="49" charset="0"/>
              </a:rPr>
              <a:t>requests.get</a:t>
            </a:r>
            <a:r>
              <a:rPr lang="en-US" sz="1400" dirty="0">
                <a:solidFill>
                  <a:srgbClr val="000000"/>
                </a:solidFill>
                <a:latin typeface="Courier New" panose="02070309020205020404" pitchFamily="49" charset="0"/>
                <a:cs typeface="Courier New" panose="02070309020205020404" pitchFamily="49" charset="0"/>
              </a:rPr>
              <a:t>(</a:t>
            </a:r>
            <a:r>
              <a:rPr lang="en-US" sz="1400" dirty="0" err="1">
                <a:solidFill>
                  <a:srgbClr val="000000"/>
                </a:solidFill>
                <a:latin typeface="Courier New" panose="02070309020205020404" pitchFamily="49" charset="0"/>
                <a:cs typeface="Courier New" panose="02070309020205020404" pitchFamily="49" charset="0"/>
              </a:rPr>
              <a:t>url</a:t>
            </a:r>
            <a:r>
              <a:rPr lang="en-US" sz="1400" dirty="0">
                <a:solidFill>
                  <a:srgbClr val="000000"/>
                </a:solidFill>
                <a:latin typeface="Courier New" panose="02070309020205020404" pitchFamily="49" charset="0"/>
                <a:cs typeface="Courier New" panose="02070309020205020404" pitchFamily="49" charset="0"/>
              </a:rPr>
              <a:t>).</a:t>
            </a:r>
            <a:r>
              <a:rPr lang="en-US" sz="1400" dirty="0" err="1">
                <a:solidFill>
                  <a:srgbClr val="000000"/>
                </a:solidFill>
                <a:latin typeface="Courier New" panose="02070309020205020404" pitchFamily="49" charset="0"/>
                <a:cs typeface="Courier New" panose="02070309020205020404" pitchFamily="49" charset="0"/>
              </a:rPr>
              <a:t>json</a:t>
            </a:r>
            <a:r>
              <a:rPr lang="en-US" sz="1400" dirty="0">
                <a:solidFill>
                  <a:srgbClr val="000000"/>
                </a:solidFill>
                <a:latin typeface="Courier New" panose="02070309020205020404" pitchFamily="49" charset="0"/>
                <a:cs typeface="Courier New" panose="02070309020205020404" pitchFamily="49" charset="0"/>
              </a:rPr>
              <a:t>()</a:t>
            </a:r>
            <a:br>
              <a:rPr lang="en-US" sz="1400" dirty="0">
                <a:solidFill>
                  <a:srgbClr val="000000"/>
                </a:solidFill>
                <a:latin typeface="Courier New" panose="02070309020205020404" pitchFamily="49" charset="0"/>
                <a:cs typeface="Courier New" panose="02070309020205020404" pitchFamily="49" charset="0"/>
              </a:rPr>
            </a:br>
            <a:r>
              <a:rPr lang="en-US" sz="1400" dirty="0">
                <a:solidFill>
                  <a:srgbClr val="000000"/>
                </a:solidFill>
                <a:latin typeface="Courier New" panose="02070309020205020404" pitchFamily="49" charset="0"/>
                <a:cs typeface="Courier New" panose="02070309020205020404" pitchFamily="49" charset="0"/>
              </a:rPr>
              <a:t>print(</a:t>
            </a:r>
            <a:r>
              <a:rPr lang="en-US" sz="1400" dirty="0" err="1">
                <a:solidFill>
                  <a:srgbClr val="000000"/>
                </a:solidFill>
                <a:latin typeface="Courier New" panose="02070309020205020404" pitchFamily="49" charset="0"/>
                <a:cs typeface="Courier New" panose="02070309020205020404" pitchFamily="49" charset="0"/>
              </a:rPr>
              <a:t>json_data</a:t>
            </a:r>
            <a:r>
              <a:rPr lang="en-US" sz="1400" dirty="0">
                <a:solidFill>
                  <a:srgbClr val="000000"/>
                </a:solidFill>
                <a:latin typeface="Courier New" panose="02070309020205020404" pitchFamily="49" charset="0"/>
                <a:cs typeface="Courier New" panose="02070309020205020404" pitchFamily="49" charset="0"/>
              </a:rPr>
              <a:t>) </a:t>
            </a:r>
          </a:p>
          <a:p>
            <a:r>
              <a:rPr lang="en-US" sz="1400" dirty="0">
                <a:solidFill>
                  <a:srgbClr val="000000"/>
                </a:solidFill>
                <a:latin typeface="Courier New" panose="02070309020205020404" pitchFamily="49" charset="0"/>
                <a:cs typeface="Courier New" panose="02070309020205020404" pitchFamily="49" charset="0"/>
              </a:rPr>
              <a:t> </a:t>
            </a:r>
          </a:p>
          <a:p>
            <a:endParaRPr lang="en-US" sz="1400" dirty="0">
              <a:solidFill>
                <a:srgbClr val="000000"/>
              </a:solidFill>
              <a:latin typeface="Courier New" panose="02070309020205020404" pitchFamily="49" charset="0"/>
              <a:cs typeface="Courier New" panose="02070309020205020404" pitchFamily="49" charset="0"/>
            </a:endParaRPr>
          </a:p>
          <a:p>
            <a:endParaRPr lang="en-US" sz="1400" dirty="0">
              <a:solidFill>
                <a:srgbClr val="000000"/>
              </a:solidFill>
              <a:latin typeface="Courier New" panose="02070309020205020404" pitchFamily="49" charset="0"/>
              <a:cs typeface="Courier New" panose="02070309020205020404" pitchFamily="49" charset="0"/>
            </a:endParaRPr>
          </a:p>
        </p:txBody>
      </p:sp>
      <p:sp>
        <p:nvSpPr>
          <p:cNvPr id="12" name="Text Placeholder 11">
            <a:extLst>
              <a:ext uri="{FF2B5EF4-FFF2-40B4-BE49-F238E27FC236}">
                <a16:creationId xmlns:a16="http://schemas.microsoft.com/office/drawing/2014/main" id="{3D9C4EE4-D318-4653-A8E0-F5A3377B809C}"/>
              </a:ext>
            </a:extLst>
          </p:cNvPr>
          <p:cNvSpPr>
            <a:spLocks noGrp="1"/>
          </p:cNvSpPr>
          <p:nvPr>
            <p:ph type="body" sz="quarter" idx="10"/>
          </p:nvPr>
        </p:nvSpPr>
        <p:spPr>
          <a:xfrm>
            <a:off x="311728" y="997527"/>
            <a:ext cx="3699163" cy="3699164"/>
          </a:xfrm>
        </p:spPr>
        <p:txBody>
          <a:bodyPr>
            <a:normAutofit/>
          </a:bodyPr>
          <a:lstStyle/>
          <a:p>
            <a:r>
              <a:rPr lang="en-US" dirty="0"/>
              <a:t>Create a variable that uses the </a:t>
            </a:r>
            <a:r>
              <a:rPr lang="en-US" b="1" dirty="0"/>
              <a:t>get</a:t>
            </a:r>
            <a:r>
              <a:rPr lang="en-US" dirty="0"/>
              <a:t> method to request JSON data from the submitted URL.</a:t>
            </a:r>
          </a:p>
          <a:p>
            <a:r>
              <a:rPr lang="en-US" dirty="0"/>
              <a:t>Print the results to verify the request was successful.</a:t>
            </a:r>
          </a:p>
          <a:p>
            <a:pPr marL="57136" indent="0">
              <a:buNone/>
            </a:pPr>
            <a:endParaRPr lang="en-US" dirty="0"/>
          </a:p>
        </p:txBody>
      </p:sp>
      <p:sp>
        <p:nvSpPr>
          <p:cNvPr id="8" name="Title 7">
            <a:extLst>
              <a:ext uri="{FF2B5EF4-FFF2-40B4-BE49-F238E27FC236}">
                <a16:creationId xmlns:a16="http://schemas.microsoft.com/office/drawing/2014/main" id="{F4750EDD-B7FA-4B65-BEF1-EF02089E5DB6}"/>
              </a:ext>
            </a:extLst>
          </p:cNvPr>
          <p:cNvSpPr>
            <a:spLocks noGrp="1"/>
          </p:cNvSpPr>
          <p:nvPr>
            <p:ph type="title"/>
          </p:nvPr>
        </p:nvSpPr>
        <p:spPr/>
        <p:txBody>
          <a:bodyPr/>
          <a:lstStyle/>
          <a:p>
            <a:r>
              <a:rPr lang="en-US" dirty="0"/>
              <a:t>Create the JSON Request</a:t>
            </a:r>
          </a:p>
        </p:txBody>
      </p:sp>
      <p:sp>
        <p:nvSpPr>
          <p:cNvPr id="7" name="Rectangle 3" descr="Use the get method to request the JSON data.">
            <a:extLst>
              <a:ext uri="{FF2B5EF4-FFF2-40B4-BE49-F238E27FC236}">
                <a16:creationId xmlns:a16="http://schemas.microsoft.com/office/drawing/2014/main" id="{1FB182F7-3D1E-4CF1-A612-11CE088782D3}"/>
              </a:ext>
            </a:extLst>
          </p:cNvPr>
          <p:cNvSpPr>
            <a:spLocks noChangeArrowheads="1"/>
          </p:cNvSpPr>
          <p:nvPr/>
        </p:nvSpPr>
        <p:spPr bwMode="auto">
          <a:xfrm>
            <a:off x="1524000" y="28749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1522398"/>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347788"/>
            <a:ext cx="3325090" cy="3168210"/>
          </a:xfrm>
        </p:spPr>
        <p:txBody>
          <a:bodyPr>
            <a:normAutofit fontScale="77500" lnSpcReduction="20000"/>
          </a:bodyPr>
          <a:lstStyle/>
          <a:p>
            <a:pPr marL="284163" indent="-228600">
              <a:buFont typeface="+mj-lt"/>
              <a:buAutoNum type="arabicPeriod"/>
            </a:pPr>
            <a:r>
              <a:rPr lang="en-US" dirty="0"/>
              <a:t>Run your </a:t>
            </a:r>
            <a:r>
              <a:rPr lang="en-US" b="1" i="1" dirty="0"/>
              <a:t> studentname</a:t>
            </a:r>
            <a:r>
              <a:rPr lang="en-US" b="1" dirty="0"/>
              <a:t>_json-parse1.py</a:t>
            </a:r>
            <a:r>
              <a:rPr lang="en-US" dirty="0"/>
              <a:t> script and verify it works. </a:t>
            </a:r>
          </a:p>
          <a:p>
            <a:pPr marL="284163" indent="-228600">
              <a:buFont typeface="+mj-lt"/>
              <a:buAutoNum type="arabicPeriod"/>
            </a:pPr>
            <a:r>
              <a:rPr lang="en-US" dirty="0"/>
              <a:t>Troubleshoot your code, if necessary. </a:t>
            </a:r>
          </a:p>
          <a:p>
            <a:pPr marL="284163" indent="-228600">
              <a:buFont typeface="+mj-lt"/>
              <a:buAutoNum type="arabicPeriod"/>
            </a:pPr>
            <a:r>
              <a:rPr lang="en-US" dirty="0"/>
              <a:t>You should get a similar JSON response to what is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p:txBody>
          <a:bodyPr>
            <a:normAutofit/>
          </a:bodyPr>
          <a:lstStyle/>
          <a:p>
            <a:r>
              <a:rPr lang="en-US" dirty="0"/>
              <a:t>Activity - Test the URL Request</a:t>
            </a:r>
          </a:p>
        </p:txBody>
      </p:sp>
      <p:sp>
        <p:nvSpPr>
          <p:cNvPr id="5" name="Rectangle 4">
            <a:extLst>
              <a:ext uri="{FF2B5EF4-FFF2-40B4-BE49-F238E27FC236}">
                <a16:creationId xmlns:a16="http://schemas.microsoft.com/office/drawing/2014/main" id="{3B3EA4B7-4464-47AD-9E64-A1C931920ECE}"/>
              </a:ext>
            </a:extLst>
          </p:cNvPr>
          <p:cNvSpPr/>
          <p:nvPr/>
        </p:nvSpPr>
        <p:spPr>
          <a:xfrm>
            <a:off x="3491345" y="1223681"/>
            <a:ext cx="5204247" cy="3535355"/>
          </a:xfrm>
          <a:prstGeom prst="rect">
            <a:avLst/>
          </a:prstGeom>
          <a:ln>
            <a:solidFill>
              <a:schemeClr val="tx1"/>
            </a:solidFill>
          </a:ln>
        </p:spPr>
        <p:txBody>
          <a:bodyPr wrap="square">
            <a:noAutofit/>
          </a:bodyPr>
          <a:lstStyle/>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_parse-json1.py ==========</a:t>
            </a:r>
          </a:p>
          <a:p>
            <a:r>
              <a:rPr lang="en-US" sz="1100" dirty="0">
                <a:solidFill>
                  <a:srgbClr val="000000"/>
                </a:solidFill>
                <a:latin typeface="Courier New" panose="02070309020205020404" pitchFamily="49" charset="0"/>
                <a:cs typeface="Courier New" panose="02070309020205020404" pitchFamily="49" charset="0"/>
              </a:rPr>
              <a:t>{'route': {'distance': 38.089, '</a:t>
            </a:r>
            <a:r>
              <a:rPr lang="en-US" sz="1100" dirty="0" err="1">
                <a:solidFill>
                  <a:srgbClr val="000000"/>
                </a:solidFill>
                <a:latin typeface="Courier New" panose="02070309020205020404" pitchFamily="49" charset="0"/>
                <a:cs typeface="Courier New" panose="02070309020205020404" pitchFamily="49" charset="0"/>
              </a:rPr>
              <a:t>hasHighway</a:t>
            </a:r>
            <a:r>
              <a:rPr lang="en-US" sz="1100" dirty="0">
                <a:solidFill>
                  <a:srgbClr val="000000"/>
                </a:solidFill>
                <a:latin typeface="Courier New" panose="02070309020205020404" pitchFamily="49" charset="0"/>
                <a:cs typeface="Courier New" panose="02070309020205020404" pitchFamily="49" charset="0"/>
              </a:rPr>
              <a:t>': True, '</a:t>
            </a:r>
            <a:r>
              <a:rPr lang="en-US" sz="1100" dirty="0" err="1">
                <a:solidFill>
                  <a:srgbClr val="000000"/>
                </a:solidFill>
                <a:latin typeface="Courier New" panose="02070309020205020404" pitchFamily="49" charset="0"/>
                <a:cs typeface="Courier New" panose="02070309020205020404" pitchFamily="49" charset="0"/>
              </a:rPr>
              <a:t>hasUnpaved</a:t>
            </a:r>
            <a:r>
              <a:rPr lang="en-US" sz="1100" dirty="0">
                <a:solidFill>
                  <a:srgbClr val="000000"/>
                </a:solidFill>
                <a:latin typeface="Courier New" panose="02070309020205020404" pitchFamily="49" charset="0"/>
                <a:cs typeface="Courier New" panose="02070309020205020404" pitchFamily="49" charset="0"/>
              </a:rPr>
              <a:t>': False, '</a:t>
            </a:r>
            <a:r>
              <a:rPr lang="en-US" sz="1100" dirty="0" err="1">
                <a:solidFill>
                  <a:srgbClr val="000000"/>
                </a:solidFill>
                <a:latin typeface="Courier New" panose="02070309020205020404" pitchFamily="49" charset="0"/>
                <a:cs typeface="Courier New" panose="02070309020205020404" pitchFamily="49" charset="0"/>
              </a:rPr>
              <a:t>hasAccessRestriction</a:t>
            </a:r>
            <a:r>
              <a:rPr lang="en-US" sz="1100" dirty="0">
                <a:solidFill>
                  <a:srgbClr val="000000"/>
                </a:solidFill>
                <a:latin typeface="Courier New" panose="02070309020205020404" pitchFamily="49" charset="0"/>
                <a:cs typeface="Courier New" panose="02070309020205020404" pitchFamily="49" charset="0"/>
              </a:rPr>
              <a:t>': False, 'options': {'</a:t>
            </a:r>
            <a:r>
              <a:rPr lang="en-US" sz="1100" dirty="0" err="1">
                <a:solidFill>
                  <a:srgbClr val="000000"/>
                </a:solidFill>
                <a:latin typeface="Courier New" panose="02070309020205020404" pitchFamily="49" charset="0"/>
                <a:cs typeface="Courier New" panose="02070309020205020404" pitchFamily="49" charset="0"/>
              </a:rPr>
              <a:t>mustAvoidLinkIds</a:t>
            </a:r>
            <a:r>
              <a:rPr lang="en-US" sz="1100" dirty="0">
                <a:solidFill>
                  <a:srgbClr val="000000"/>
                </a:solidFill>
                <a:latin typeface="Courier New" panose="02070309020205020404" pitchFamily="49" charset="0"/>
                <a:cs typeface="Courier New" panose="02070309020205020404" pitchFamily="49" charset="0"/>
              </a:rPr>
              <a:t>': [], '</a:t>
            </a:r>
            <a:r>
              <a:rPr lang="en-US" sz="1100" dirty="0" err="1">
                <a:solidFill>
                  <a:srgbClr val="000000"/>
                </a:solidFill>
                <a:latin typeface="Courier New" panose="02070309020205020404" pitchFamily="49" charset="0"/>
                <a:cs typeface="Courier New" panose="02070309020205020404" pitchFamily="49" charset="0"/>
              </a:rPr>
              <a:t>maxWalkingDistance</a:t>
            </a:r>
            <a:r>
              <a:rPr lang="en-US" sz="1100" dirty="0">
                <a:solidFill>
                  <a:srgbClr val="000000"/>
                </a:solidFill>
                <a:latin typeface="Courier New" panose="02070309020205020404" pitchFamily="49" charset="0"/>
                <a:cs typeface="Courier New" panose="02070309020205020404" pitchFamily="49" charset="0"/>
              </a:rPr>
              <a:t>': -1, '</a:t>
            </a:r>
            <a:r>
              <a:rPr lang="en-US" sz="1100" dirty="0" err="1">
                <a:solidFill>
                  <a:srgbClr val="000000"/>
                </a:solidFill>
                <a:latin typeface="Courier New" panose="02070309020205020404" pitchFamily="49" charset="0"/>
                <a:cs typeface="Courier New" panose="02070309020205020404" pitchFamily="49" charset="0"/>
              </a:rPr>
              <a:t>manmaps</a:t>
            </a:r>
            <a:r>
              <a:rPr lang="en-US" sz="1100" dirty="0">
                <a:solidFill>
                  <a:srgbClr val="000000"/>
                </a:solidFill>
                <a:latin typeface="Courier New" panose="02070309020205020404" pitchFamily="49" charset="0"/>
                <a:cs typeface="Courier New" panose="02070309020205020404" pitchFamily="49" charset="0"/>
              </a:rPr>
              <a:t>': 'true', '</a:t>
            </a:r>
            <a:r>
              <a:rPr lang="en-US" sz="1100" dirty="0" err="1">
                <a:solidFill>
                  <a:srgbClr val="000000"/>
                </a:solidFill>
                <a:latin typeface="Courier New" panose="02070309020205020404" pitchFamily="49" charset="0"/>
                <a:cs typeface="Courier New" panose="02070309020205020404" pitchFamily="49" charset="0"/>
              </a:rPr>
              <a:t>urbanAvoidFactor</a:t>
            </a:r>
            <a:r>
              <a:rPr lang="en-US" sz="1100" dirty="0">
                <a:solidFill>
                  <a:srgbClr val="000000"/>
                </a:solidFill>
                <a:latin typeface="Courier New" panose="02070309020205020404" pitchFamily="49" charset="0"/>
                <a:cs typeface="Courier New" panose="02070309020205020404" pitchFamily="49" charset="0"/>
              </a:rPr>
              <a:t>': -1, '</a:t>
            </a:r>
            <a:r>
              <a:rPr lang="en-US" sz="1100" dirty="0" err="1">
                <a:solidFill>
                  <a:srgbClr val="000000"/>
                </a:solidFill>
                <a:latin typeface="Courier New" panose="02070309020205020404" pitchFamily="49" charset="0"/>
                <a:cs typeface="Courier New" panose="02070309020205020404" pitchFamily="49" charset="0"/>
              </a:rPr>
              <a:t>stateBoundaryDisplay</a:t>
            </a:r>
            <a:r>
              <a:rPr lang="en-US" sz="1100" dirty="0">
                <a:solidFill>
                  <a:srgbClr val="000000"/>
                </a:solidFill>
                <a:latin typeface="Courier New" panose="02070309020205020404" pitchFamily="49" charset="0"/>
                <a:cs typeface="Courier New" panose="02070309020205020404" pitchFamily="49" charset="0"/>
              </a:rPr>
              <a:t>': True, '</a:t>
            </a:r>
            <a:r>
              <a:rPr lang="en-US" sz="1100" dirty="0" err="1">
                <a:solidFill>
                  <a:srgbClr val="000000"/>
                </a:solidFill>
                <a:latin typeface="Courier New" panose="02070309020205020404" pitchFamily="49" charset="0"/>
                <a:cs typeface="Courier New" panose="02070309020205020404" pitchFamily="49" charset="0"/>
              </a:rPr>
              <a:t>cyclingRoadFactor</a:t>
            </a:r>
            <a:r>
              <a:rPr lang="en-US" sz="1100" dirty="0">
                <a:solidFill>
                  <a:srgbClr val="000000"/>
                </a:solidFill>
                <a:latin typeface="Courier New" panose="02070309020205020404" pitchFamily="49" charset="0"/>
                <a:cs typeface="Courier New" panose="02070309020205020404" pitchFamily="49" charset="0"/>
              </a:rPr>
              <a:t>': 1, '</a:t>
            </a:r>
            <a:r>
              <a:rPr lang="en-US" sz="1100" dirty="0" err="1">
                <a:solidFill>
                  <a:srgbClr val="000000"/>
                </a:solidFill>
                <a:latin typeface="Courier New" panose="02070309020205020404" pitchFamily="49" charset="0"/>
                <a:cs typeface="Courier New" panose="02070309020205020404" pitchFamily="49" charset="0"/>
              </a:rPr>
              <a:t>routeType</a:t>
            </a:r>
            <a:r>
              <a:rPr lang="en-US" sz="1100" dirty="0">
                <a:solidFill>
                  <a:srgbClr val="000000"/>
                </a:solidFill>
                <a:latin typeface="Courier New" panose="02070309020205020404" pitchFamily="49" charset="0"/>
                <a:cs typeface="Courier New" panose="02070309020205020404" pitchFamily="49" charset="0"/>
              </a:rPr>
              <a:t>': 'FASTEST', '</a:t>
            </a:r>
            <a:r>
              <a:rPr lang="en-US" sz="1100" dirty="0" err="1">
                <a:solidFill>
                  <a:srgbClr val="000000"/>
                </a:solidFill>
                <a:latin typeface="Courier New" panose="02070309020205020404" pitchFamily="49" charset="0"/>
                <a:cs typeface="Courier New" panose="02070309020205020404" pitchFamily="49" charset="0"/>
              </a:rPr>
              <a:t>countryBoundaryDisplay</a:t>
            </a:r>
            <a:r>
              <a:rPr lang="en-US" sz="1100" dirty="0">
                <a:solidFill>
                  <a:srgbClr val="000000"/>
                </a:solidFill>
                <a:latin typeface="Courier New" panose="02070309020205020404" pitchFamily="49" charset="0"/>
                <a:cs typeface="Courier New" panose="02070309020205020404" pitchFamily="49" charset="0"/>
              </a:rPr>
              <a:t>': True, '</a:t>
            </a:r>
            <a:r>
              <a:rPr lang="en-US" sz="1100" dirty="0" err="1">
                <a:solidFill>
                  <a:srgbClr val="000000"/>
                </a:solidFill>
                <a:latin typeface="Courier New" panose="02070309020205020404" pitchFamily="49" charset="0"/>
                <a:cs typeface="Courier New" panose="02070309020205020404" pitchFamily="49" charset="0"/>
              </a:rPr>
              <a:t>drivingStyle</a:t>
            </a:r>
            <a:r>
              <a:rPr lang="en-US" sz="1100" dirty="0">
                <a:solidFill>
                  <a:srgbClr val="000000"/>
                </a:solidFill>
                <a:latin typeface="Courier New" panose="02070309020205020404" pitchFamily="49" charset="0"/>
                <a:cs typeface="Courier New" panose="02070309020205020404" pitchFamily="49" charset="0"/>
              </a:rPr>
              <a:t>': 2, '</a:t>
            </a:r>
            <a:r>
              <a:rPr lang="en-US" sz="1100" dirty="0" err="1">
                <a:solidFill>
                  <a:srgbClr val="000000"/>
                </a:solidFill>
                <a:latin typeface="Courier New" panose="02070309020205020404" pitchFamily="49" charset="0"/>
                <a:cs typeface="Courier New" panose="02070309020205020404" pitchFamily="49" charset="0"/>
              </a:rPr>
              <a:t>highwayEfficiency</a:t>
            </a:r>
            <a:r>
              <a:rPr lang="en-US" sz="1100" dirty="0">
                <a:solidFill>
                  <a:srgbClr val="000000"/>
                </a:solidFill>
                <a:latin typeface="Courier New" panose="02070309020205020404" pitchFamily="49" charset="0"/>
                <a:cs typeface="Courier New" panose="02070309020205020404" pitchFamily="49" charset="0"/>
              </a:rPr>
              <a:t>': 22, '</a:t>
            </a:r>
            <a:r>
              <a:rPr lang="en-US" sz="1100" dirty="0" err="1">
                <a:solidFill>
                  <a:srgbClr val="000000"/>
                </a:solidFill>
                <a:latin typeface="Courier New" panose="02070309020205020404" pitchFamily="49" charset="0"/>
                <a:cs typeface="Courier New" panose="02070309020205020404" pitchFamily="49" charset="0"/>
              </a:rPr>
              <a:t>narrativeType</a:t>
            </a:r>
            <a:r>
              <a:rPr lang="en-US" sz="1100" dirty="0">
                <a:solidFill>
                  <a:srgbClr val="000000"/>
                </a:solidFill>
                <a:latin typeface="Courier New" panose="02070309020205020404" pitchFamily="49" charset="0"/>
                <a:cs typeface="Courier New" panose="02070309020205020404" pitchFamily="49" charset="0"/>
              </a:rPr>
              <a:t>': 'text', '</a:t>
            </a:r>
            <a:r>
              <a:rPr lang="en-US" sz="1100" dirty="0" err="1">
                <a:solidFill>
                  <a:srgbClr val="000000"/>
                </a:solidFill>
                <a:latin typeface="Courier New" panose="02070309020205020404" pitchFamily="49" charset="0"/>
                <a:cs typeface="Courier New" panose="02070309020205020404" pitchFamily="49" charset="0"/>
              </a:rPr>
              <a:t>routeNumber</a:t>
            </a:r>
            <a:r>
              <a:rPr lang="en-US" sz="1100" dirty="0">
                <a:solidFill>
                  <a:srgbClr val="000000"/>
                </a:solidFill>
                <a:latin typeface="Courier New" panose="02070309020205020404" pitchFamily="49" charset="0"/>
                <a:cs typeface="Courier New" panose="02070309020205020404" pitchFamily="49" charset="0"/>
              </a:rPr>
              <a:t>': 0, '</a:t>
            </a:r>
            <a:r>
              <a:rPr lang="en-US" sz="1100" dirty="0" err="1">
                <a:solidFill>
                  <a:srgbClr val="000000"/>
                </a:solidFill>
                <a:latin typeface="Courier New" panose="02070309020205020404" pitchFamily="49" charset="0"/>
                <a:cs typeface="Courier New" panose="02070309020205020404" pitchFamily="49" charset="0"/>
              </a:rPr>
              <a:t>tryAvoidLinkIds</a:t>
            </a:r>
            <a:r>
              <a:rPr lang="en-US" sz="1100" dirty="0">
                <a:solidFill>
                  <a:srgbClr val="000000"/>
                </a:solidFill>
                <a:latin typeface="Courier New" panose="02070309020205020404" pitchFamily="49" charset="0"/>
                <a:cs typeface="Courier New" panose="02070309020205020404" pitchFamily="49" charset="0"/>
              </a:rPr>
              <a:t>': [], 'generalize': -1, '</a:t>
            </a:r>
            <a:r>
              <a:rPr lang="en-US" sz="1100" dirty="0" err="1">
                <a:solidFill>
                  <a:srgbClr val="000000"/>
                </a:solidFill>
                <a:latin typeface="Courier New" panose="02070309020205020404" pitchFamily="49" charset="0"/>
                <a:cs typeface="Courier New" panose="02070309020205020404" pitchFamily="49" charset="0"/>
              </a:rPr>
              <a:t>returnLinkDirections</a:t>
            </a:r>
            <a:r>
              <a:rPr lang="en-US" sz="1100" dirty="0">
                <a:solidFill>
                  <a:srgbClr val="000000"/>
                </a:solidFill>
                <a:latin typeface="Courier New" panose="02070309020205020404" pitchFamily="49" charset="0"/>
                <a:cs typeface="Courier New" panose="02070309020205020404" pitchFamily="49" charset="0"/>
              </a:rPr>
              <a:t>': False, '</a:t>
            </a:r>
            <a:r>
              <a:rPr lang="en-US" sz="1100" dirty="0" err="1">
                <a:solidFill>
                  <a:srgbClr val="000000"/>
                </a:solidFill>
                <a:latin typeface="Courier New" panose="02070309020205020404" pitchFamily="49" charset="0"/>
                <a:cs typeface="Courier New" panose="02070309020205020404" pitchFamily="49" charset="0"/>
              </a:rPr>
              <a:t>doReverseGeocode</a:t>
            </a:r>
            <a:r>
              <a:rPr lang="en-US" sz="1100" dirty="0">
                <a:solidFill>
                  <a:srgbClr val="000000"/>
                </a:solidFill>
                <a:latin typeface="Courier New" panose="02070309020205020404" pitchFamily="49" charset="0"/>
                <a:cs typeface="Courier New" panose="02070309020205020404" pitchFamily="49" charset="0"/>
              </a:rPr>
              <a:t>': True, '</a:t>
            </a:r>
            <a:r>
              <a:rPr lang="en-US" sz="1100" dirty="0" err="1">
                <a:solidFill>
                  <a:srgbClr val="000000"/>
                </a:solidFill>
                <a:latin typeface="Courier New" panose="02070309020205020404" pitchFamily="49" charset="0"/>
                <a:cs typeface="Courier New" panose="02070309020205020404" pitchFamily="49" charset="0"/>
              </a:rPr>
              <a:t>avoidTripIds</a:t>
            </a:r>
            <a:r>
              <a:rPr lang="en-US" sz="1100" dirty="0">
                <a:solidFill>
                  <a:srgbClr val="000000"/>
                </a:solidFill>
                <a:latin typeface="Courier New" panose="02070309020205020404" pitchFamily="49" charset="0"/>
                <a:cs typeface="Courier New" panose="02070309020205020404" pitchFamily="49" charset="0"/>
              </a:rPr>
              <a:t>': [], '</a:t>
            </a:r>
            <a:r>
              <a:rPr lang="en-US" sz="1100" dirty="0" err="1">
                <a:solidFill>
                  <a:srgbClr val="000000"/>
                </a:solidFill>
                <a:latin typeface="Courier New" panose="02070309020205020404" pitchFamily="49" charset="0"/>
                <a:cs typeface="Courier New" panose="02070309020205020404" pitchFamily="49" charset="0"/>
              </a:rPr>
              <a:t>timeType</a:t>
            </a:r>
            <a:r>
              <a:rPr lang="en-US" sz="1100" dirty="0">
                <a:solidFill>
                  <a:srgbClr val="000000"/>
                </a:solidFill>
                <a:latin typeface="Courier New" panose="02070309020205020404" pitchFamily="49" charset="0"/>
                <a:cs typeface="Courier New" panose="02070309020205020404" pitchFamily="49" charset="0"/>
              </a:rPr>
              <a:t>': 0, '</a:t>
            </a:r>
            <a:r>
              <a:rPr lang="en-US" sz="1100" dirty="0" err="1">
                <a:solidFill>
                  <a:srgbClr val="000000"/>
                </a:solidFill>
                <a:latin typeface="Courier New" panose="02070309020205020404" pitchFamily="49" charset="0"/>
                <a:cs typeface="Courier New" panose="02070309020205020404" pitchFamily="49" charset="0"/>
              </a:rPr>
              <a:t>sideOfStreetDisplay</a:t>
            </a:r>
            <a:r>
              <a:rPr lang="en-US" sz="1100" dirty="0">
                <a:solidFill>
                  <a:srgbClr val="000000"/>
                </a:solidFill>
                <a:latin typeface="Courier New" panose="02070309020205020404" pitchFamily="49" charset="0"/>
                <a:cs typeface="Courier New" panose="02070309020205020404" pitchFamily="49" charset="0"/>
              </a:rPr>
              <a:t>': True, '</a:t>
            </a:r>
            <a:r>
              <a:rPr lang="en-US" sz="1100" dirty="0" err="1">
                <a:solidFill>
                  <a:srgbClr val="000000"/>
                </a:solidFill>
                <a:latin typeface="Courier New" panose="02070309020205020404" pitchFamily="49" charset="0"/>
                <a:cs typeface="Courier New" panose="02070309020205020404" pitchFamily="49" charset="0"/>
              </a:rPr>
              <a:t>filterZoneFactor</a:t>
            </a:r>
            <a:r>
              <a:rPr lang="en-US" sz="1100" dirty="0">
                <a:solidFill>
                  <a:srgbClr val="000000"/>
                </a:solidFill>
                <a:latin typeface="Courier New" panose="02070309020205020404" pitchFamily="49" charset="0"/>
                <a:cs typeface="Courier New" panose="02070309020205020404" pitchFamily="49" charset="0"/>
              </a:rPr>
              <a:t>': -1, '</a:t>
            </a:r>
            <a:r>
              <a:rPr lang="en-US" sz="1100" dirty="0" err="1">
                <a:solidFill>
                  <a:srgbClr val="000000"/>
                </a:solidFill>
                <a:latin typeface="Courier New" panose="02070309020205020404" pitchFamily="49" charset="0"/>
                <a:cs typeface="Courier New" panose="02070309020205020404" pitchFamily="49" charset="0"/>
              </a:rPr>
              <a:t>walkingSpeed</a:t>
            </a:r>
            <a:r>
              <a:rPr lang="en-US" sz="1100" dirty="0">
                <a:solidFill>
                  <a:srgbClr val="000000"/>
                </a:solidFill>
                <a:latin typeface="Courier New" panose="02070309020205020404" pitchFamily="49" charset="0"/>
                <a:cs typeface="Courier New" panose="02070309020205020404" pitchFamily="49" charset="0"/>
              </a:rPr>
              <a:t>': -1, '</a:t>
            </a:r>
            <a:r>
              <a:rPr lang="en-US" sz="1100" dirty="0" err="1">
                <a:solidFill>
                  <a:srgbClr val="000000"/>
                </a:solidFill>
                <a:latin typeface="Courier New" panose="02070309020205020404" pitchFamily="49" charset="0"/>
                <a:cs typeface="Courier New" panose="02070309020205020404" pitchFamily="49" charset="0"/>
              </a:rPr>
              <a:t>useTraffic</a:t>
            </a:r>
            <a:r>
              <a:rPr lang="en-US" sz="1100" dirty="0">
                <a:solidFill>
                  <a:srgbClr val="000000"/>
                </a:solidFill>
                <a:latin typeface="Courier New" panose="02070309020205020404" pitchFamily="49" charset="0"/>
                <a:cs typeface="Courier New" panose="02070309020205020404" pitchFamily="49" charset="0"/>
              </a:rPr>
              <a:t>': False, 'unit': 'M', 'tr </a:t>
            </a:r>
          </a:p>
          <a:p>
            <a:r>
              <a:rPr lang="en-US" sz="1100" dirty="0">
                <a:solidFill>
                  <a:srgbClr val="000000"/>
                </a:solidFill>
                <a:latin typeface="Courier New" panose="02070309020205020404" pitchFamily="49" charset="0"/>
                <a:cs typeface="Courier New" panose="02070309020205020404" pitchFamily="49" charset="0"/>
              </a:rPr>
              <a:t>&lt;output omitted&gt;</a:t>
            </a:r>
          </a:p>
          <a:p>
            <a:r>
              <a:rPr lang="en-US" sz="1100" dirty="0">
                <a:solidFill>
                  <a:srgbClr val="000000"/>
                </a:solidFill>
                <a:latin typeface="Courier New" panose="02070309020205020404" pitchFamily="49" charset="0"/>
                <a:cs typeface="Courier New" panose="02070309020205020404" pitchFamily="49" charset="0"/>
              </a:rPr>
              <a:t>&gt;&gt;&gt;</a:t>
            </a:r>
          </a:p>
        </p:txBody>
      </p:sp>
    </p:spTree>
    <p:extLst>
      <p:ext uri="{BB962C8B-B14F-4D97-AF65-F5344CB8AC3E}">
        <p14:creationId xmlns:p14="http://schemas.microsoft.com/office/powerpoint/2010/main" val="2232391222"/>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398833" y="1177047"/>
            <a:ext cx="7966953" cy="1828799"/>
          </a:xfrm>
        </p:spPr>
        <p:txBody>
          <a:bodyPr>
            <a:normAutofit fontScale="77500" lnSpcReduction="20000"/>
          </a:bodyPr>
          <a:lstStyle/>
          <a:p>
            <a:pPr marL="571486" indent="-514350">
              <a:buFont typeface="+mj-lt"/>
              <a:buAutoNum type="arabicPeriod"/>
            </a:pPr>
            <a:r>
              <a:rPr lang="en-US" dirty="0"/>
              <a:t>Save your script as </a:t>
            </a:r>
            <a:r>
              <a:rPr lang="en-US" b="1" i="1" dirty="0"/>
              <a:t>studentname</a:t>
            </a:r>
            <a:r>
              <a:rPr lang="en-US" b="1" dirty="0"/>
              <a:t>_json-parse2.py</a:t>
            </a:r>
            <a:r>
              <a:rPr lang="en-US" dirty="0"/>
              <a:t>.</a:t>
            </a:r>
          </a:p>
          <a:p>
            <a:pPr marL="571486" indent="-514350">
              <a:buFont typeface="+mj-lt"/>
              <a:buAutoNum type="arabicPeriod"/>
            </a:pPr>
            <a:r>
              <a:rPr lang="en-US" dirty="0"/>
              <a:t>Print the URL</a:t>
            </a:r>
          </a:p>
          <a:p>
            <a:pPr marL="571486" indent="-514350">
              <a:buFont typeface="+mj-lt"/>
              <a:buAutoNum type="arabicPeriod"/>
            </a:pPr>
            <a:r>
              <a:rPr lang="en-US" dirty="0"/>
              <a:t>Store the request status</a:t>
            </a:r>
          </a:p>
          <a:p>
            <a:pPr marL="571486" indent="-514350">
              <a:buFont typeface="+mj-lt"/>
              <a:buAutoNum type="arabicPeriod"/>
            </a:pPr>
            <a:r>
              <a:rPr lang="en-US" dirty="0"/>
              <a:t>Create an if loop that prints request status if </a:t>
            </a:r>
            <a:r>
              <a:rPr lang="en-US" b="1" dirty="0" err="1"/>
              <a:t>statuscode</a:t>
            </a:r>
            <a:r>
              <a:rPr lang="en-US" dirty="0"/>
              <a:t> is 0. </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p:txBody>
          <a:bodyPr>
            <a:normAutofit fontScale="90000"/>
          </a:bodyPr>
          <a:lstStyle/>
          <a:p>
            <a:pPr fontAlgn="t"/>
            <a:r>
              <a:rPr lang="en-US" dirty="0"/>
              <a:t>Print the URL and Check the Status of the JSON Request</a:t>
            </a:r>
          </a:p>
        </p:txBody>
      </p:sp>
      <p:sp>
        <p:nvSpPr>
          <p:cNvPr id="5" name="Rectangle 4">
            <a:extLst>
              <a:ext uri="{FF2B5EF4-FFF2-40B4-BE49-F238E27FC236}">
                <a16:creationId xmlns:a16="http://schemas.microsoft.com/office/drawing/2014/main" id="{3B3EA4B7-4464-47AD-9E64-A1C931920ECE}"/>
              </a:ext>
            </a:extLst>
          </p:cNvPr>
          <p:cNvSpPr/>
          <p:nvPr/>
        </p:nvSpPr>
        <p:spPr>
          <a:xfrm>
            <a:off x="408562" y="3161489"/>
            <a:ext cx="8287031" cy="1468877"/>
          </a:xfrm>
          <a:prstGeom prst="rect">
            <a:avLst/>
          </a:prstGeom>
          <a:ln>
            <a:solidFill>
              <a:schemeClr val="tx1"/>
            </a:solidFill>
          </a:ln>
        </p:spPr>
        <p:txBody>
          <a:bodyPr wrap="square">
            <a:noAutofit/>
          </a:bodyPr>
          <a:lstStyle/>
          <a:p>
            <a:r>
              <a:rPr lang="en-US" sz="1200" dirty="0">
                <a:solidFill>
                  <a:srgbClr val="000000"/>
                </a:solidFill>
                <a:latin typeface="Courier New" panose="02070309020205020404" pitchFamily="49" charset="0"/>
                <a:cs typeface="Courier New" panose="02070309020205020404" pitchFamily="49" charset="0"/>
              </a:rPr>
              <a:t>print("URL: " + (</a:t>
            </a:r>
            <a:r>
              <a:rPr lang="en-US" sz="1200" dirty="0" err="1">
                <a:solidFill>
                  <a:srgbClr val="000000"/>
                </a:solidFill>
                <a:latin typeface="Courier New" panose="02070309020205020404" pitchFamily="49" charset="0"/>
                <a:cs typeface="Courier New" panose="02070309020205020404" pitchFamily="49" charset="0"/>
              </a:rPr>
              <a:t>url</a:t>
            </a:r>
            <a:r>
              <a:rPr lang="en-US" sz="1200" dirty="0">
                <a:solidFill>
                  <a:srgbClr val="000000"/>
                </a:solidFill>
                <a:latin typeface="Courier New" panose="02070309020205020404" pitchFamily="49" charset="0"/>
                <a:cs typeface="Courier New" panose="02070309020205020404" pitchFamily="49" charset="0"/>
              </a:rPr>
              <a:t>))</a:t>
            </a:r>
          </a:p>
          <a:p>
            <a:endParaRPr lang="en-US" sz="1200" dirty="0">
              <a:solidFill>
                <a:srgbClr val="000000"/>
              </a:solidFill>
              <a:latin typeface="Courier New" panose="02070309020205020404" pitchFamily="49" charset="0"/>
              <a:cs typeface="Courier New" panose="02070309020205020404" pitchFamily="49" charset="0"/>
            </a:endParaRPr>
          </a:p>
          <a:p>
            <a:r>
              <a:rPr lang="en-US" sz="1200" dirty="0" err="1">
                <a:solidFill>
                  <a:srgbClr val="000000"/>
                </a:solidFill>
                <a:latin typeface="Courier New" panose="02070309020205020404" pitchFamily="49" charset="0"/>
                <a:cs typeface="Courier New" panose="02070309020205020404" pitchFamily="49" charset="0"/>
              </a:rPr>
              <a:t>json_data</a:t>
            </a:r>
            <a:r>
              <a:rPr lang="en-US" sz="1200" dirty="0">
                <a:solidFill>
                  <a:srgbClr val="000000"/>
                </a:solidFill>
                <a:latin typeface="Courier New" panose="02070309020205020404" pitchFamily="49" charset="0"/>
                <a:cs typeface="Courier New" panose="02070309020205020404" pitchFamily="49" charset="0"/>
              </a:rPr>
              <a:t> = </a:t>
            </a:r>
            <a:r>
              <a:rPr lang="en-US" sz="1200" dirty="0" err="1">
                <a:solidFill>
                  <a:srgbClr val="000000"/>
                </a:solidFill>
                <a:latin typeface="Courier New" panose="02070309020205020404" pitchFamily="49" charset="0"/>
                <a:cs typeface="Courier New" panose="02070309020205020404" pitchFamily="49" charset="0"/>
              </a:rPr>
              <a:t>requests.get</a:t>
            </a:r>
            <a:r>
              <a:rPr lang="en-US" sz="1200" dirty="0">
                <a:solidFill>
                  <a:srgbClr val="000000"/>
                </a:solidFill>
                <a:latin typeface="Courier New" panose="02070309020205020404" pitchFamily="49" charset="0"/>
                <a:cs typeface="Courier New" panose="02070309020205020404" pitchFamily="49" charset="0"/>
              </a:rPr>
              <a:t>(</a:t>
            </a:r>
            <a:r>
              <a:rPr lang="en-US" sz="1200" dirty="0" err="1">
                <a:solidFill>
                  <a:srgbClr val="000000"/>
                </a:solidFill>
                <a:latin typeface="Courier New" panose="02070309020205020404" pitchFamily="49" charset="0"/>
                <a:cs typeface="Courier New" panose="02070309020205020404" pitchFamily="49" charset="0"/>
              </a:rPr>
              <a:t>url</a:t>
            </a:r>
            <a:r>
              <a:rPr lang="en-US" sz="1200" dirty="0">
                <a:solidFill>
                  <a:srgbClr val="000000"/>
                </a:solidFill>
                <a:latin typeface="Courier New" panose="02070309020205020404" pitchFamily="49" charset="0"/>
                <a:cs typeface="Courier New" panose="02070309020205020404" pitchFamily="49" charset="0"/>
              </a:rPr>
              <a:t>).json()</a:t>
            </a:r>
          </a:p>
          <a:p>
            <a:r>
              <a:rPr lang="en-US" sz="1200" dirty="0" err="1">
                <a:solidFill>
                  <a:srgbClr val="000000"/>
                </a:solidFill>
                <a:latin typeface="Courier New" panose="02070309020205020404" pitchFamily="49" charset="0"/>
                <a:cs typeface="Courier New" panose="02070309020205020404" pitchFamily="49" charset="0"/>
              </a:rPr>
              <a:t>json_status</a:t>
            </a:r>
            <a:r>
              <a:rPr lang="en-US" sz="1200" dirty="0">
                <a:solidFill>
                  <a:srgbClr val="000000"/>
                </a:solidFill>
                <a:latin typeface="Courier New" panose="02070309020205020404" pitchFamily="49" charset="0"/>
                <a:cs typeface="Courier New" panose="02070309020205020404" pitchFamily="49" charset="0"/>
              </a:rPr>
              <a:t> = </a:t>
            </a:r>
            <a:r>
              <a:rPr lang="en-US" sz="1200" dirty="0" err="1">
                <a:solidFill>
                  <a:srgbClr val="000000"/>
                </a:solidFill>
                <a:latin typeface="Courier New" panose="02070309020205020404" pitchFamily="49" charset="0"/>
                <a:cs typeface="Courier New" panose="02070309020205020404" pitchFamily="49" charset="0"/>
              </a:rPr>
              <a:t>json_data</a:t>
            </a:r>
            <a:r>
              <a:rPr lang="en-US" sz="1200" dirty="0">
                <a:solidFill>
                  <a:srgbClr val="000000"/>
                </a:solidFill>
                <a:latin typeface="Courier New" panose="02070309020205020404" pitchFamily="49" charset="0"/>
                <a:cs typeface="Courier New" panose="02070309020205020404" pitchFamily="49" charset="0"/>
              </a:rPr>
              <a:t>["info"]["</a:t>
            </a:r>
            <a:r>
              <a:rPr lang="en-US" sz="1200" dirty="0" err="1">
                <a:solidFill>
                  <a:srgbClr val="000000"/>
                </a:solidFill>
                <a:latin typeface="Courier New" panose="02070309020205020404" pitchFamily="49" charset="0"/>
                <a:cs typeface="Courier New" panose="02070309020205020404" pitchFamily="49" charset="0"/>
              </a:rPr>
              <a:t>statuscode</a:t>
            </a:r>
            <a:r>
              <a:rPr lang="en-US" sz="1200" dirty="0">
                <a:solidFill>
                  <a:srgbClr val="000000"/>
                </a:solidFill>
                <a:latin typeface="Courier New" panose="02070309020205020404" pitchFamily="49" charset="0"/>
                <a:cs typeface="Courier New" panose="02070309020205020404" pitchFamily="49" charset="0"/>
              </a:rPr>
              <a:t>"]</a:t>
            </a:r>
          </a:p>
          <a:p>
            <a:endParaRPr lang="en-US" sz="1200" dirty="0">
              <a:solidFill>
                <a:srgbClr val="000000"/>
              </a:solidFill>
              <a:latin typeface="Courier New" panose="02070309020205020404" pitchFamily="49" charset="0"/>
              <a:cs typeface="Courier New" panose="02070309020205020404" pitchFamily="49" charset="0"/>
            </a:endParaRPr>
          </a:p>
          <a:p>
            <a:r>
              <a:rPr lang="en-US" sz="1200" dirty="0">
                <a:solidFill>
                  <a:srgbClr val="000000"/>
                </a:solidFill>
                <a:latin typeface="Courier New" panose="02070309020205020404" pitchFamily="49" charset="0"/>
                <a:cs typeface="Courier New" panose="02070309020205020404" pitchFamily="49" charset="0"/>
              </a:rPr>
              <a:t>if </a:t>
            </a:r>
            <a:r>
              <a:rPr lang="en-US" sz="1200" dirty="0" err="1">
                <a:solidFill>
                  <a:srgbClr val="000000"/>
                </a:solidFill>
                <a:latin typeface="Courier New" panose="02070309020205020404" pitchFamily="49" charset="0"/>
                <a:cs typeface="Courier New" panose="02070309020205020404" pitchFamily="49" charset="0"/>
              </a:rPr>
              <a:t>json_status</a:t>
            </a:r>
            <a:r>
              <a:rPr lang="en-US" sz="1200" dirty="0">
                <a:solidFill>
                  <a:srgbClr val="000000"/>
                </a:solidFill>
                <a:latin typeface="Courier New" panose="02070309020205020404" pitchFamily="49" charset="0"/>
                <a:cs typeface="Courier New" panose="02070309020205020404" pitchFamily="49" charset="0"/>
              </a:rPr>
              <a:t> == 0:</a:t>
            </a:r>
          </a:p>
          <a:p>
            <a:r>
              <a:rPr lang="en-US" sz="1200" dirty="0">
                <a:solidFill>
                  <a:srgbClr val="000000"/>
                </a:solidFill>
                <a:latin typeface="Courier New" panose="02070309020205020404" pitchFamily="49" charset="0"/>
                <a:cs typeface="Courier New" panose="02070309020205020404" pitchFamily="49" charset="0"/>
              </a:rPr>
              <a:t>    print("API Status: " + str(</a:t>
            </a:r>
            <a:r>
              <a:rPr lang="en-US" sz="1200" dirty="0" err="1">
                <a:solidFill>
                  <a:srgbClr val="000000"/>
                </a:solidFill>
                <a:latin typeface="Courier New" panose="02070309020205020404" pitchFamily="49" charset="0"/>
                <a:cs typeface="Courier New" panose="02070309020205020404" pitchFamily="49" charset="0"/>
              </a:rPr>
              <a:t>json_status</a:t>
            </a:r>
            <a:r>
              <a:rPr lang="en-US" sz="1200" dirty="0">
                <a:solidFill>
                  <a:srgbClr val="000000"/>
                </a:solidFill>
                <a:latin typeface="Courier New" panose="02070309020205020404" pitchFamily="49" charset="0"/>
                <a:cs typeface="Courier New" panose="02070309020205020404" pitchFamily="49" charset="0"/>
              </a:rPr>
              <a:t>) + " = A successful route call.\n")</a:t>
            </a:r>
          </a:p>
        </p:txBody>
      </p:sp>
    </p:spTree>
    <p:extLst>
      <p:ext uri="{BB962C8B-B14F-4D97-AF65-F5344CB8AC3E}">
        <p14:creationId xmlns:p14="http://schemas.microsoft.com/office/powerpoint/2010/main" val="2678198637"/>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347788"/>
            <a:ext cx="3325090" cy="3168210"/>
          </a:xfrm>
        </p:spPr>
        <p:txBody>
          <a:bodyPr>
            <a:normAutofit fontScale="77500" lnSpcReduction="20000"/>
          </a:bodyPr>
          <a:lstStyle/>
          <a:p>
            <a:pPr marL="571486" indent="-514350">
              <a:buFont typeface="+mj-lt"/>
              <a:buAutoNum type="arabicPeriod"/>
            </a:pPr>
            <a:r>
              <a:rPr lang="en-US" dirty="0"/>
              <a:t>Run your </a:t>
            </a:r>
            <a:r>
              <a:rPr lang="en-US" b="1" i="1" dirty="0"/>
              <a:t> studentname</a:t>
            </a:r>
            <a:r>
              <a:rPr lang="en-US" b="1" dirty="0"/>
              <a:t>_json-parse2.py</a:t>
            </a:r>
            <a:r>
              <a:rPr lang="en-US" dirty="0"/>
              <a:t> script and verify it works. </a:t>
            </a:r>
          </a:p>
          <a:p>
            <a:pPr marL="571486" indent="-514350">
              <a:buFont typeface="+mj-lt"/>
              <a:buAutoNum type="arabicPeriod"/>
            </a:pPr>
            <a:r>
              <a:rPr lang="en-US" dirty="0"/>
              <a:t>Troubleshoot your code, if necessary. </a:t>
            </a:r>
          </a:p>
          <a:p>
            <a:pPr marL="571486" indent="-514350">
              <a:buFont typeface="+mj-lt"/>
              <a:buAutoNum type="arabicPeriod"/>
            </a:pPr>
            <a:r>
              <a:rPr lang="en-US" dirty="0"/>
              <a:t>You should get a similar output to what is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fontScale="90000"/>
          </a:bodyPr>
          <a:lstStyle/>
          <a:p>
            <a:r>
              <a:rPr lang="en-US" dirty="0"/>
              <a:t>Activity - Test Status and URL Print Commands</a:t>
            </a:r>
          </a:p>
        </p:txBody>
      </p:sp>
      <p:sp>
        <p:nvSpPr>
          <p:cNvPr id="5" name="Rectangle 4" descr="Example of your json-parse2.py file.">
            <a:extLst>
              <a:ext uri="{FF2B5EF4-FFF2-40B4-BE49-F238E27FC236}">
                <a16:creationId xmlns:a16="http://schemas.microsoft.com/office/drawing/2014/main" id="{3B3EA4B7-4464-47AD-9E64-A1C931920ECE}"/>
              </a:ext>
            </a:extLst>
          </p:cNvPr>
          <p:cNvSpPr/>
          <p:nvPr/>
        </p:nvSpPr>
        <p:spPr>
          <a:xfrm>
            <a:off x="3491345" y="1223681"/>
            <a:ext cx="5204247" cy="3535355"/>
          </a:xfrm>
          <a:prstGeom prst="rect">
            <a:avLst/>
          </a:prstGeom>
          <a:ln>
            <a:solidFill>
              <a:schemeClr val="tx1"/>
            </a:solidFill>
          </a:ln>
        </p:spPr>
        <p:txBody>
          <a:bodyPr wrap="square">
            <a:noAutofit/>
          </a:bodyPr>
          <a:lstStyle/>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_parse-json2.py ==========</a:t>
            </a:r>
          </a:p>
          <a:p>
            <a:r>
              <a:rPr lang="pl-PL" sz="1100" dirty="0">
                <a:solidFill>
                  <a:srgbClr val="000000"/>
                </a:solidFill>
                <a:latin typeface="Courier New" panose="02070309020205020404" pitchFamily="49" charset="0"/>
                <a:cs typeface="Courier New" panose="02070309020205020404" pitchFamily="49" charset="0"/>
              </a:rPr>
              <a:t>URL: https://www.mapquestapi.com/directions/v2/route?key=your_api_key&amp;from=Washington&amp;to=Baltimore</a:t>
            </a:r>
          </a:p>
          <a:p>
            <a:r>
              <a:rPr lang="en-US" sz="1100" dirty="0">
                <a:solidFill>
                  <a:srgbClr val="000000"/>
                </a:solidFill>
                <a:latin typeface="Courier New" panose="02070309020205020404" pitchFamily="49" charset="0"/>
                <a:cs typeface="Courier New" panose="02070309020205020404" pitchFamily="49" charset="0"/>
              </a:rPr>
              <a:t>API Status: 0 = A successful route call.</a:t>
            </a:r>
          </a:p>
          <a:p>
            <a:endParaRPr lang="pl-PL" sz="1100" dirty="0">
              <a:solidFill>
                <a:srgbClr val="000000"/>
              </a:solidFill>
              <a:latin typeface="Courier New" panose="02070309020205020404" pitchFamily="49" charset="0"/>
              <a:cs typeface="Courier New" panose="02070309020205020404" pitchFamily="49" charset="0"/>
            </a:endParaRPr>
          </a:p>
          <a:p>
            <a:r>
              <a:rPr lang="pl-PL" sz="1100" dirty="0">
                <a:solidFill>
                  <a:srgbClr val="000000"/>
                </a:solidFill>
                <a:latin typeface="Courier New" panose="02070309020205020404" pitchFamily="49" charset="0"/>
                <a:cs typeface="Courier New" panose="02070309020205020404" pitchFamily="49" charset="0"/>
              </a:rPr>
              <a:t>&gt;&gt;&gt;</a:t>
            </a:r>
          </a:p>
        </p:txBody>
      </p:sp>
    </p:spTree>
    <p:extLst>
      <p:ext uri="{BB962C8B-B14F-4D97-AF65-F5344CB8AC3E}">
        <p14:creationId xmlns:p14="http://schemas.microsoft.com/office/powerpoint/2010/main" val="3116052154"/>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descr="Use a while loop to request user input for the starting and destination locations.">
            <a:extLst>
              <a:ext uri="{FF2B5EF4-FFF2-40B4-BE49-F238E27FC236}">
                <a16:creationId xmlns:a16="http://schemas.microsoft.com/office/drawing/2014/main" id="{CEE04D97-D924-42F9-A2F0-8E4F88FD3FB6}"/>
              </a:ext>
            </a:extLst>
          </p:cNvPr>
          <p:cNvSpPr/>
          <p:nvPr/>
        </p:nvSpPr>
        <p:spPr>
          <a:xfrm>
            <a:off x="877466" y="3378220"/>
            <a:ext cx="3228708" cy="207819"/>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descr="Use the while True statement to specify your original and destination locations.">
            <a:extLst>
              <a:ext uri="{FF2B5EF4-FFF2-40B4-BE49-F238E27FC236}">
                <a16:creationId xmlns:a16="http://schemas.microsoft.com/office/drawing/2014/main" id="{EC1C72D9-0181-43EB-92FD-BE38B055BEAF}"/>
              </a:ext>
            </a:extLst>
          </p:cNvPr>
          <p:cNvSpPr/>
          <p:nvPr/>
        </p:nvSpPr>
        <p:spPr>
          <a:xfrm>
            <a:off x="453205" y="3154914"/>
            <a:ext cx="1146996" cy="228600"/>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descr="Use a while True statement to specify the original and destination locations.">
            <a:extLst>
              <a:ext uri="{FF2B5EF4-FFF2-40B4-BE49-F238E27FC236}">
                <a16:creationId xmlns:a16="http://schemas.microsoft.com/office/drawing/2014/main" id="{0055C2C6-DF62-4753-9464-D13781F26BC3}"/>
              </a:ext>
            </a:extLst>
          </p:cNvPr>
          <p:cNvSpPr/>
          <p:nvPr/>
        </p:nvSpPr>
        <p:spPr>
          <a:xfrm>
            <a:off x="877467" y="3576629"/>
            <a:ext cx="2702495" cy="167236"/>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3" y="997526"/>
            <a:ext cx="8094518" cy="2116609"/>
          </a:xfrm>
        </p:spPr>
        <p:txBody>
          <a:bodyPr>
            <a:normAutofit fontScale="77500" lnSpcReduction="20000"/>
          </a:bodyPr>
          <a:lstStyle/>
          <a:p>
            <a:pPr marL="342900" indent="-287338">
              <a:buFont typeface="+mj-lt"/>
              <a:buAutoNum type="arabicPeriod"/>
            </a:pPr>
            <a:r>
              <a:rPr lang="en-US" dirty="0"/>
              <a:t>Save your script as </a:t>
            </a:r>
            <a:r>
              <a:rPr lang="en-US" b="1" i="1" dirty="0"/>
              <a:t> studentname</a:t>
            </a:r>
            <a:r>
              <a:rPr lang="en-US" b="1" dirty="0"/>
              <a:t>_json-parse3.py</a:t>
            </a:r>
            <a:r>
              <a:rPr lang="en-US" dirty="0"/>
              <a:t>.</a:t>
            </a:r>
          </a:p>
          <a:p>
            <a:pPr marL="342900" indent="-287338">
              <a:buFont typeface="+mj-lt"/>
              <a:buAutoNum type="arabicPeriod"/>
            </a:pPr>
            <a:r>
              <a:rPr lang="en-US" dirty="0"/>
              <a:t>Delete the current </a:t>
            </a:r>
            <a:r>
              <a:rPr lang="en-US" b="1" dirty="0" err="1"/>
              <a:t>orig</a:t>
            </a:r>
            <a:r>
              <a:rPr lang="en-US" dirty="0"/>
              <a:t> and </a:t>
            </a:r>
            <a:r>
              <a:rPr lang="en-US" b="1" dirty="0" err="1"/>
              <a:t>dest</a:t>
            </a:r>
            <a:r>
              <a:rPr lang="en-US" dirty="0"/>
              <a:t> variables.</a:t>
            </a:r>
          </a:p>
          <a:p>
            <a:pPr marL="342900" indent="-287338">
              <a:buFont typeface="+mj-lt"/>
              <a:buAutoNum type="arabicPeriod"/>
            </a:pPr>
            <a:r>
              <a:rPr lang="en-US" dirty="0"/>
              <a:t>Rewrite the </a:t>
            </a:r>
            <a:r>
              <a:rPr lang="en-US" b="1" dirty="0" err="1"/>
              <a:t>orig</a:t>
            </a:r>
            <a:r>
              <a:rPr lang="en-US" dirty="0"/>
              <a:t> and </a:t>
            </a:r>
            <a:r>
              <a:rPr lang="en-US" b="1" dirty="0" err="1"/>
              <a:t>dest</a:t>
            </a:r>
            <a:r>
              <a:rPr lang="en-US" dirty="0"/>
              <a:t> to be within a while loop in which it requests user input for the starting and destination location.</a:t>
            </a:r>
          </a:p>
          <a:p>
            <a:pPr marL="342900" indent="-287338">
              <a:buFont typeface="+mj-lt"/>
              <a:buAutoNum type="arabicPeriod"/>
            </a:pPr>
            <a:r>
              <a:rPr lang="en-US" dirty="0"/>
              <a:t>Be sure all the remaining code is indented within the while loop.</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p:txBody>
          <a:bodyPr>
            <a:normAutofit/>
          </a:bodyPr>
          <a:lstStyle/>
          <a:p>
            <a:r>
              <a:rPr lang="en-US" dirty="0"/>
              <a:t>Add User Input for Address</a:t>
            </a:r>
          </a:p>
        </p:txBody>
      </p:sp>
      <p:sp>
        <p:nvSpPr>
          <p:cNvPr id="5" name="Rectangle 4">
            <a:extLst>
              <a:ext uri="{FF2B5EF4-FFF2-40B4-BE49-F238E27FC236}">
                <a16:creationId xmlns:a16="http://schemas.microsoft.com/office/drawing/2014/main" id="{3B3EA4B7-4464-47AD-9E64-A1C931920ECE}"/>
              </a:ext>
            </a:extLst>
          </p:cNvPr>
          <p:cNvSpPr/>
          <p:nvPr/>
        </p:nvSpPr>
        <p:spPr>
          <a:xfrm>
            <a:off x="436419" y="3140016"/>
            <a:ext cx="8259174" cy="1515112"/>
          </a:xfrm>
          <a:prstGeom prst="rect">
            <a:avLst/>
          </a:prstGeom>
          <a:ln>
            <a:solidFill>
              <a:schemeClr val="tx1"/>
            </a:solidFill>
          </a:ln>
        </p:spPr>
        <p:txBody>
          <a:bodyPr wrap="square">
            <a:noAutofit/>
          </a:bodyPr>
          <a:lstStyle/>
          <a:p>
            <a:r>
              <a:rPr lang="en-US" altLang="en-US" sz="1200" dirty="0">
                <a:solidFill>
                  <a:srgbClr val="000000"/>
                </a:solidFill>
                <a:latin typeface="Courier New" panose="02070309020205020404" pitchFamily="49" charset="0"/>
                <a:cs typeface="Courier New" panose="02070309020205020404" pitchFamily="49" charset="0"/>
              </a:rPr>
              <a:t>while True:</a:t>
            </a:r>
          </a:p>
          <a:p>
            <a:r>
              <a:rPr lang="en-US" altLang="en-US" sz="1200" dirty="0">
                <a:solidFill>
                  <a:srgbClr val="000000"/>
                </a:solidFill>
                <a:latin typeface="Courier New" panose="02070309020205020404" pitchFamily="49" charset="0"/>
                <a:cs typeface="Courier New" panose="02070309020205020404" pitchFamily="49" charset="0"/>
              </a:rPr>
              <a:t>    </a:t>
            </a:r>
            <a:r>
              <a:rPr lang="en-US" altLang="en-US" sz="1200" dirty="0" err="1">
                <a:solidFill>
                  <a:srgbClr val="000000"/>
                </a:solidFill>
                <a:latin typeface="Courier New" panose="02070309020205020404" pitchFamily="49" charset="0"/>
                <a:cs typeface="Courier New" panose="02070309020205020404" pitchFamily="49" charset="0"/>
              </a:rPr>
              <a:t>orig</a:t>
            </a:r>
            <a:r>
              <a:rPr lang="en-US" altLang="en-US" sz="1200" dirty="0">
                <a:solidFill>
                  <a:srgbClr val="000000"/>
                </a:solidFill>
                <a:latin typeface="Courier New" panose="02070309020205020404" pitchFamily="49" charset="0"/>
                <a:cs typeface="Courier New" panose="02070309020205020404" pitchFamily="49" charset="0"/>
              </a:rPr>
              <a:t> = input("Starting Location: ")</a:t>
            </a:r>
          </a:p>
          <a:p>
            <a:r>
              <a:rPr lang="en-US" altLang="en-US" sz="1200" dirty="0">
                <a:solidFill>
                  <a:srgbClr val="000000"/>
                </a:solidFill>
                <a:latin typeface="Courier New" panose="02070309020205020404" pitchFamily="49" charset="0"/>
                <a:cs typeface="Courier New" panose="02070309020205020404" pitchFamily="49" charset="0"/>
              </a:rPr>
              <a:t>    </a:t>
            </a:r>
            <a:r>
              <a:rPr lang="en-US" altLang="en-US" sz="1200" dirty="0" err="1">
                <a:solidFill>
                  <a:srgbClr val="000000"/>
                </a:solidFill>
                <a:latin typeface="Courier New" panose="02070309020205020404" pitchFamily="49" charset="0"/>
                <a:cs typeface="Courier New" panose="02070309020205020404" pitchFamily="49" charset="0"/>
              </a:rPr>
              <a:t>dest</a:t>
            </a:r>
            <a:r>
              <a:rPr lang="en-US" altLang="en-US" sz="1200" dirty="0">
                <a:solidFill>
                  <a:srgbClr val="000000"/>
                </a:solidFill>
                <a:latin typeface="Courier New" panose="02070309020205020404" pitchFamily="49" charset="0"/>
                <a:cs typeface="Courier New" panose="02070309020205020404" pitchFamily="49" charset="0"/>
              </a:rPr>
              <a:t> = input("Destination: ")</a:t>
            </a:r>
          </a:p>
          <a:p>
            <a:r>
              <a:rPr lang="en-US" altLang="en-US" sz="1200" dirty="0">
                <a:solidFill>
                  <a:srgbClr val="000000"/>
                </a:solidFill>
                <a:latin typeface="Courier New" panose="02070309020205020404" pitchFamily="49" charset="0"/>
                <a:cs typeface="Courier New" panose="02070309020205020404" pitchFamily="49" charset="0"/>
              </a:rPr>
              <a:t>    </a:t>
            </a:r>
            <a:r>
              <a:rPr lang="en-US" altLang="en-US" sz="1200" dirty="0" err="1">
                <a:solidFill>
                  <a:srgbClr val="000000"/>
                </a:solidFill>
                <a:latin typeface="Courier New" panose="02070309020205020404" pitchFamily="49" charset="0"/>
                <a:cs typeface="Courier New" panose="02070309020205020404" pitchFamily="49" charset="0"/>
              </a:rPr>
              <a:t>url</a:t>
            </a:r>
            <a:r>
              <a:rPr lang="en-US" altLang="en-US" sz="1200" dirty="0">
                <a:solidFill>
                  <a:srgbClr val="000000"/>
                </a:solidFill>
                <a:latin typeface="Courier New" panose="02070309020205020404" pitchFamily="49" charset="0"/>
                <a:cs typeface="Courier New" panose="02070309020205020404" pitchFamily="49" charset="0"/>
              </a:rPr>
              <a:t> = </a:t>
            </a:r>
            <a:r>
              <a:rPr lang="en-US" altLang="en-US" sz="1200" dirty="0" err="1">
                <a:solidFill>
                  <a:srgbClr val="000000"/>
                </a:solidFill>
                <a:latin typeface="Courier New" panose="02070309020205020404" pitchFamily="49" charset="0"/>
                <a:cs typeface="Courier New" panose="02070309020205020404" pitchFamily="49" charset="0"/>
              </a:rPr>
              <a:t>main_api</a:t>
            </a:r>
            <a:r>
              <a:rPr lang="en-US" altLang="en-US" sz="1200" dirty="0">
                <a:solidFill>
                  <a:srgbClr val="000000"/>
                </a:solidFill>
                <a:latin typeface="Courier New" panose="02070309020205020404" pitchFamily="49" charset="0"/>
                <a:cs typeface="Courier New" panose="02070309020205020404" pitchFamily="49" charset="0"/>
              </a:rPr>
              <a:t> + </a:t>
            </a:r>
            <a:r>
              <a:rPr lang="en-US" altLang="en-US" sz="1200" dirty="0" err="1">
                <a:solidFill>
                  <a:srgbClr val="000000"/>
                </a:solidFill>
                <a:latin typeface="Courier New" panose="02070309020205020404" pitchFamily="49" charset="0"/>
                <a:cs typeface="Courier New" panose="02070309020205020404" pitchFamily="49" charset="0"/>
              </a:rPr>
              <a:t>urllib.parse.urlencode</a:t>
            </a:r>
            <a:r>
              <a:rPr lang="en-US" altLang="en-US" sz="1200" dirty="0">
                <a:solidFill>
                  <a:srgbClr val="000000"/>
                </a:solidFill>
                <a:latin typeface="Courier New" panose="02070309020205020404" pitchFamily="49" charset="0"/>
                <a:cs typeface="Courier New" panose="02070309020205020404" pitchFamily="49" charset="0"/>
              </a:rPr>
              <a:t>({"key": key, "from":</a:t>
            </a:r>
            <a:r>
              <a:rPr lang="en-US" altLang="en-US" sz="1200" dirty="0" err="1">
                <a:solidFill>
                  <a:srgbClr val="000000"/>
                </a:solidFill>
                <a:latin typeface="Courier New" panose="02070309020205020404" pitchFamily="49" charset="0"/>
                <a:cs typeface="Courier New" panose="02070309020205020404" pitchFamily="49" charset="0"/>
              </a:rPr>
              <a:t>orig</a:t>
            </a:r>
            <a:r>
              <a:rPr lang="en-US" altLang="en-US" sz="1200" dirty="0">
                <a:solidFill>
                  <a:srgbClr val="000000"/>
                </a:solidFill>
                <a:latin typeface="Courier New" panose="02070309020205020404" pitchFamily="49" charset="0"/>
                <a:cs typeface="Courier New" panose="02070309020205020404" pitchFamily="49" charset="0"/>
              </a:rPr>
              <a:t>, "to":</a:t>
            </a:r>
            <a:r>
              <a:rPr lang="en-US" altLang="en-US" sz="1200" dirty="0" err="1">
                <a:solidFill>
                  <a:srgbClr val="000000"/>
                </a:solidFill>
                <a:latin typeface="Courier New" panose="02070309020205020404" pitchFamily="49" charset="0"/>
                <a:cs typeface="Courier New" panose="02070309020205020404" pitchFamily="49" charset="0"/>
              </a:rPr>
              <a:t>dest</a:t>
            </a:r>
            <a:r>
              <a:rPr lang="en-US" altLang="en-US" sz="1200" dirty="0">
                <a:solidFill>
                  <a:srgbClr val="000000"/>
                </a:solidFill>
                <a:latin typeface="Courier New" panose="02070309020205020404" pitchFamily="49" charset="0"/>
                <a:cs typeface="Courier New" panose="02070309020205020404" pitchFamily="49" charset="0"/>
              </a:rPr>
              <a:t>})</a:t>
            </a:r>
          </a:p>
          <a:p>
            <a:r>
              <a:rPr lang="en-US" altLang="en-US" sz="1200" dirty="0">
                <a:solidFill>
                  <a:srgbClr val="000000"/>
                </a:solidFill>
                <a:latin typeface="Courier New" panose="02070309020205020404" pitchFamily="49" charset="0"/>
                <a:cs typeface="Courier New" panose="02070309020205020404" pitchFamily="49" charset="0"/>
              </a:rPr>
              <a:t>    print("URL: " + (</a:t>
            </a:r>
            <a:r>
              <a:rPr lang="en-US" altLang="en-US" sz="1200" dirty="0" err="1">
                <a:solidFill>
                  <a:srgbClr val="000000"/>
                </a:solidFill>
                <a:latin typeface="Courier New" panose="02070309020205020404" pitchFamily="49" charset="0"/>
                <a:cs typeface="Courier New" panose="02070309020205020404" pitchFamily="49" charset="0"/>
              </a:rPr>
              <a:t>url</a:t>
            </a:r>
            <a:r>
              <a:rPr lang="en-US" altLang="en-US" sz="1200" dirty="0">
                <a:solidFill>
                  <a:srgbClr val="000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572113802"/>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347788"/>
            <a:ext cx="3325090" cy="3168210"/>
          </a:xfrm>
        </p:spPr>
        <p:txBody>
          <a:bodyPr>
            <a:normAutofit fontScale="77500" lnSpcReduction="20000"/>
          </a:bodyPr>
          <a:lstStyle/>
          <a:p>
            <a:pPr marL="571486" indent="-514350">
              <a:buFont typeface="+mj-lt"/>
              <a:buAutoNum type="arabicPeriod"/>
            </a:pPr>
            <a:r>
              <a:rPr lang="en-US" dirty="0"/>
              <a:t>Run your </a:t>
            </a:r>
            <a:r>
              <a:rPr lang="en-US" b="1" i="1" dirty="0"/>
              <a:t> studentname</a:t>
            </a:r>
            <a:r>
              <a:rPr lang="en-US" b="1" dirty="0"/>
              <a:t>_json-parse3.py</a:t>
            </a:r>
            <a:r>
              <a:rPr lang="en-US" dirty="0"/>
              <a:t> script and verify it works. </a:t>
            </a:r>
          </a:p>
          <a:p>
            <a:pPr marL="571486" indent="-514350">
              <a:buFont typeface="+mj-lt"/>
              <a:buAutoNum type="arabicPeriod"/>
            </a:pPr>
            <a:r>
              <a:rPr lang="en-US" dirty="0"/>
              <a:t>Troubleshoot your code, if necessary. </a:t>
            </a:r>
          </a:p>
          <a:p>
            <a:pPr marL="571486" indent="-514350">
              <a:buFont typeface="+mj-lt"/>
              <a:buAutoNum type="arabicPeriod"/>
            </a:pPr>
            <a:r>
              <a:rPr lang="en-US" dirty="0"/>
              <a:t>You should get a similar output to what is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Activity - Test User Input</a:t>
            </a:r>
          </a:p>
        </p:txBody>
      </p:sp>
      <p:sp>
        <p:nvSpPr>
          <p:cNvPr id="5" name="Rectangle 4">
            <a:extLst>
              <a:ext uri="{FF2B5EF4-FFF2-40B4-BE49-F238E27FC236}">
                <a16:creationId xmlns:a16="http://schemas.microsoft.com/office/drawing/2014/main" id="{3B3EA4B7-4464-47AD-9E64-A1C931920ECE}"/>
              </a:ext>
            </a:extLst>
          </p:cNvPr>
          <p:cNvSpPr/>
          <p:nvPr/>
        </p:nvSpPr>
        <p:spPr>
          <a:xfrm>
            <a:off x="3491345" y="1223681"/>
            <a:ext cx="5204247" cy="3535355"/>
          </a:xfrm>
          <a:prstGeom prst="rect">
            <a:avLst/>
          </a:prstGeom>
          <a:ln>
            <a:solidFill>
              <a:schemeClr val="tx1"/>
            </a:solidFill>
          </a:ln>
        </p:spPr>
        <p:txBody>
          <a:bodyPr wrap="square">
            <a:noAutofit/>
          </a:bodyPr>
          <a:lstStyle/>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_parse-json3.py ==========</a:t>
            </a:r>
          </a:p>
          <a:p>
            <a:r>
              <a:rPr lang="en-US" sz="1100" dirty="0">
                <a:solidFill>
                  <a:srgbClr val="000000"/>
                </a:solidFill>
                <a:latin typeface="Courier New" panose="02070309020205020404" pitchFamily="49" charset="0"/>
                <a:cs typeface="Courier New" panose="02070309020205020404" pitchFamily="49" charset="0"/>
              </a:rPr>
              <a:t>Starting Location: </a:t>
            </a:r>
            <a:r>
              <a:rPr lang="en-US" sz="1100" b="1" dirty="0">
                <a:solidFill>
                  <a:srgbClr val="000000"/>
                </a:solidFill>
                <a:latin typeface="Courier New" panose="02070309020205020404" pitchFamily="49" charset="0"/>
                <a:cs typeface="Courier New" panose="02070309020205020404" pitchFamily="49" charset="0"/>
              </a:rPr>
              <a:t>Washington</a:t>
            </a:r>
          </a:p>
          <a:p>
            <a:r>
              <a:rPr lang="en-US" sz="1100" dirty="0">
                <a:solidFill>
                  <a:srgbClr val="000000"/>
                </a:solidFill>
                <a:latin typeface="Courier New" panose="02070309020205020404" pitchFamily="49" charset="0"/>
                <a:cs typeface="Courier New" panose="02070309020205020404" pitchFamily="49" charset="0"/>
              </a:rPr>
              <a:t>Destination: </a:t>
            </a:r>
            <a:r>
              <a:rPr lang="en-US" sz="1100" b="1" dirty="0">
                <a:solidFill>
                  <a:srgbClr val="000000"/>
                </a:solidFill>
                <a:latin typeface="Courier New" panose="02070309020205020404" pitchFamily="49" charset="0"/>
                <a:cs typeface="Courier New" panose="02070309020205020404" pitchFamily="49" charset="0"/>
              </a:rPr>
              <a:t>Baltimore</a:t>
            </a:r>
          </a:p>
          <a:p>
            <a:r>
              <a:rPr lang="en-US" sz="1100" dirty="0">
                <a:solidFill>
                  <a:srgbClr val="000000"/>
                </a:solidFill>
                <a:latin typeface="Courier New" panose="02070309020205020404" pitchFamily="49" charset="0"/>
                <a:cs typeface="Courier New" panose="02070309020205020404" pitchFamily="49" charset="0"/>
              </a:rPr>
              <a:t>URL: https://www.mapquestapi.com/directions/v2/route?key=your_api_key&amp;from=Washington&amp;to=Baltimore</a:t>
            </a:r>
          </a:p>
          <a:p>
            <a:r>
              <a:rPr lang="en-US" sz="1100" dirty="0">
                <a:solidFill>
                  <a:srgbClr val="000000"/>
                </a:solidFill>
                <a:latin typeface="Courier New" panose="02070309020205020404" pitchFamily="49" charset="0"/>
                <a:cs typeface="Courier New" panose="02070309020205020404" pitchFamily="49" charset="0"/>
              </a:rPr>
              <a:t>API Status: 0 = A successful route call.</a:t>
            </a:r>
          </a:p>
          <a:p>
            <a:endParaRPr lang="en-US" sz="1100" dirty="0">
              <a:solidFill>
                <a:srgbClr val="000000"/>
              </a:solidFill>
              <a:latin typeface="Courier New" panose="02070309020205020404" pitchFamily="49" charset="0"/>
              <a:cs typeface="Courier New" panose="02070309020205020404" pitchFamily="49" charset="0"/>
            </a:endParaRPr>
          </a:p>
          <a:p>
            <a:r>
              <a:rPr lang="en-US" sz="1100" dirty="0">
                <a:solidFill>
                  <a:srgbClr val="000000"/>
                </a:solidFill>
                <a:latin typeface="Courier New" panose="02070309020205020404" pitchFamily="49" charset="0"/>
                <a:cs typeface="Courier New" panose="02070309020205020404" pitchFamily="49" charset="0"/>
              </a:rPr>
              <a:t>Starting Location: </a:t>
            </a:r>
            <a:r>
              <a:rPr lang="en-US" sz="1100" b="1" dirty="0">
                <a:solidFill>
                  <a:srgbClr val="000000"/>
                </a:solidFill>
                <a:latin typeface="Courier New" panose="02070309020205020404" pitchFamily="49" charset="0"/>
                <a:cs typeface="Courier New" panose="02070309020205020404" pitchFamily="49" charset="0"/>
              </a:rPr>
              <a:t>&lt;</a:t>
            </a:r>
            <a:r>
              <a:rPr lang="en-US" sz="1100" b="1" dirty="0" err="1">
                <a:solidFill>
                  <a:srgbClr val="000000"/>
                </a:solidFill>
                <a:latin typeface="Courier New" panose="02070309020205020404" pitchFamily="49" charset="0"/>
                <a:cs typeface="Courier New" panose="02070309020205020404" pitchFamily="49" charset="0"/>
              </a:rPr>
              <a:t>Ctrl+C</a:t>
            </a:r>
            <a:r>
              <a:rPr lang="en-US" sz="1100" b="1" dirty="0">
                <a:solidFill>
                  <a:srgbClr val="000000"/>
                </a:solidFill>
                <a:latin typeface="Courier New" panose="02070309020205020404" pitchFamily="49" charset="0"/>
                <a:cs typeface="Courier New" panose="02070309020205020404" pitchFamily="49" charset="0"/>
              </a:rPr>
              <a:t>&gt;</a:t>
            </a:r>
          </a:p>
          <a:p>
            <a:r>
              <a:rPr lang="en-US" sz="1100" dirty="0">
                <a:solidFill>
                  <a:srgbClr val="000000"/>
                </a:solidFill>
                <a:latin typeface="Courier New" panose="02070309020205020404" pitchFamily="49" charset="0"/>
                <a:cs typeface="Courier New" panose="02070309020205020404" pitchFamily="49" charset="0"/>
              </a:rPr>
              <a:t>&gt;&gt;&gt;</a:t>
            </a:r>
          </a:p>
        </p:txBody>
      </p:sp>
    </p:spTree>
    <p:extLst>
      <p:ext uri="{BB962C8B-B14F-4D97-AF65-F5344CB8AC3E}">
        <p14:creationId xmlns:p14="http://schemas.microsoft.com/office/powerpoint/2010/main" val="2181057221"/>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descr="Add an &quot;if&quot; statement to check if the user enters &quot;q&quot; or &quot;quit&quot; to exit out of the query.">
            <a:extLst>
              <a:ext uri="{FF2B5EF4-FFF2-40B4-BE49-F238E27FC236}">
                <a16:creationId xmlns:a16="http://schemas.microsoft.com/office/drawing/2014/main" id="{B8830E98-5109-4E90-BDF4-EE83B7D3FD25}"/>
              </a:ext>
            </a:extLst>
          </p:cNvPr>
          <p:cNvSpPr/>
          <p:nvPr/>
        </p:nvSpPr>
        <p:spPr>
          <a:xfrm>
            <a:off x="872836" y="3033754"/>
            <a:ext cx="3095315" cy="207818"/>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descr="Add an &quot;if&quot; statement to check if the user enters &quot;q&quot; or &quot;quit&quot; to exit out of the query.">
            <a:extLst>
              <a:ext uri="{FF2B5EF4-FFF2-40B4-BE49-F238E27FC236}">
                <a16:creationId xmlns:a16="http://schemas.microsoft.com/office/drawing/2014/main" id="{E6EAE4CE-1AF7-44AA-98A7-69440C3B2CD7}"/>
              </a:ext>
            </a:extLst>
          </p:cNvPr>
          <p:cNvSpPr/>
          <p:nvPr/>
        </p:nvSpPr>
        <p:spPr>
          <a:xfrm>
            <a:off x="1246910" y="3251962"/>
            <a:ext cx="592282" cy="176645"/>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046452"/>
            <a:ext cx="8728362" cy="1000557"/>
          </a:xfrm>
        </p:spPr>
        <p:txBody>
          <a:bodyPr>
            <a:normAutofit fontScale="77500" lnSpcReduction="20000"/>
          </a:bodyPr>
          <a:lstStyle/>
          <a:p>
            <a:pPr marL="342900" indent="-287338">
              <a:buFont typeface="+mj-lt"/>
              <a:buAutoNum type="arabicPeriod"/>
            </a:pPr>
            <a:r>
              <a:rPr lang="en-US" dirty="0"/>
              <a:t>Save your script as </a:t>
            </a:r>
            <a:r>
              <a:rPr lang="en-US" b="1" i="1" dirty="0"/>
              <a:t> studentname</a:t>
            </a:r>
            <a:r>
              <a:rPr lang="en-US" b="1" dirty="0"/>
              <a:t>_json-parse4.py</a:t>
            </a:r>
            <a:r>
              <a:rPr lang="en-US" dirty="0"/>
              <a:t>.</a:t>
            </a:r>
          </a:p>
          <a:p>
            <a:pPr marL="342900" indent="-287338">
              <a:buFont typeface="+mj-lt"/>
              <a:buAutoNum type="arabicPeriod"/>
            </a:pPr>
            <a:r>
              <a:rPr lang="en-US" dirty="0"/>
              <a:t>Add an if statement after the address variable to check if the user enters </a:t>
            </a:r>
            <a:r>
              <a:rPr lang="en-US" b="1" dirty="0"/>
              <a:t>q</a:t>
            </a:r>
            <a:r>
              <a:rPr lang="en-US" dirty="0"/>
              <a:t> or </a:t>
            </a:r>
            <a:r>
              <a:rPr lang="en-US" b="1" dirty="0"/>
              <a:t>quit</a:t>
            </a:r>
            <a:r>
              <a:rPr lang="en-US" dirty="0"/>
              <a:t>.</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Add Quit Functionality</a:t>
            </a:r>
          </a:p>
        </p:txBody>
      </p:sp>
      <p:sp>
        <p:nvSpPr>
          <p:cNvPr id="6" name="Rectangle 5" descr="Add an &quot;if&quot; statement to check if the user enters &quot;q&quot; or &quot;quit&quot; to exit out of the query.">
            <a:extLst>
              <a:ext uri="{FF2B5EF4-FFF2-40B4-BE49-F238E27FC236}">
                <a16:creationId xmlns:a16="http://schemas.microsoft.com/office/drawing/2014/main" id="{ED7E9142-1A2D-4E7A-8DA6-C98245162EEB}"/>
              </a:ext>
            </a:extLst>
          </p:cNvPr>
          <p:cNvSpPr/>
          <p:nvPr/>
        </p:nvSpPr>
        <p:spPr>
          <a:xfrm>
            <a:off x="872837" y="2473037"/>
            <a:ext cx="3121194" cy="207818"/>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descr="Add an &quot;if&quot; statement to check if the user enters &quot;q&quot; or &quot;quit&quot; to exit out of the query.">
            <a:extLst>
              <a:ext uri="{FF2B5EF4-FFF2-40B4-BE49-F238E27FC236}">
                <a16:creationId xmlns:a16="http://schemas.microsoft.com/office/drawing/2014/main" id="{1C83FCD7-2AAB-4C5B-8145-A3C2B9F6BC85}"/>
              </a:ext>
            </a:extLst>
          </p:cNvPr>
          <p:cNvSpPr/>
          <p:nvPr/>
        </p:nvSpPr>
        <p:spPr>
          <a:xfrm>
            <a:off x="1246910" y="2691245"/>
            <a:ext cx="592282" cy="176645"/>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AA68E309-AA17-4BBA-9439-403144FDFA4C}"/>
              </a:ext>
            </a:extLst>
          </p:cNvPr>
          <p:cNvSpPr/>
          <p:nvPr/>
        </p:nvSpPr>
        <p:spPr>
          <a:xfrm>
            <a:off x="436419" y="2078183"/>
            <a:ext cx="8259174" cy="2597726"/>
          </a:xfrm>
          <a:prstGeom prst="rect">
            <a:avLst/>
          </a:prstGeom>
          <a:ln>
            <a:solidFill>
              <a:schemeClr val="tx1"/>
            </a:solidFill>
          </a:ln>
        </p:spPr>
        <p:txBody>
          <a:bodyPr wrap="square">
            <a:noAutofit/>
          </a:bodyPr>
          <a:lstStyle/>
          <a:p>
            <a:r>
              <a:rPr lang="en-US" altLang="en-US" sz="1200" dirty="0">
                <a:solidFill>
                  <a:srgbClr val="000000"/>
                </a:solidFill>
                <a:latin typeface="Courier New" panose="02070309020205020404" pitchFamily="49" charset="0"/>
                <a:cs typeface="Courier New" panose="02070309020205020404" pitchFamily="49" charset="0"/>
              </a:rPr>
              <a:t>while True:</a:t>
            </a:r>
          </a:p>
          <a:p>
            <a:r>
              <a:rPr lang="en-US" altLang="en-US" sz="1200" dirty="0">
                <a:solidFill>
                  <a:srgbClr val="000000"/>
                </a:solidFill>
                <a:latin typeface="Courier New" panose="02070309020205020404" pitchFamily="49" charset="0"/>
                <a:cs typeface="Courier New" panose="02070309020205020404" pitchFamily="49" charset="0"/>
              </a:rPr>
              <a:t>    </a:t>
            </a:r>
            <a:r>
              <a:rPr lang="en-US" altLang="en-US" sz="1200" dirty="0" err="1">
                <a:solidFill>
                  <a:srgbClr val="000000"/>
                </a:solidFill>
                <a:latin typeface="Courier New" panose="02070309020205020404" pitchFamily="49" charset="0"/>
                <a:cs typeface="Courier New" panose="02070309020205020404" pitchFamily="49" charset="0"/>
              </a:rPr>
              <a:t>orig</a:t>
            </a:r>
            <a:r>
              <a:rPr lang="en-US" altLang="en-US" sz="1200" dirty="0">
                <a:solidFill>
                  <a:srgbClr val="000000"/>
                </a:solidFill>
                <a:latin typeface="Courier New" panose="02070309020205020404" pitchFamily="49" charset="0"/>
                <a:cs typeface="Courier New" panose="02070309020205020404" pitchFamily="49" charset="0"/>
              </a:rPr>
              <a:t> = input("Starting Location: ")</a:t>
            </a:r>
          </a:p>
          <a:p>
            <a:r>
              <a:rPr lang="en-US" altLang="en-US" sz="1200" dirty="0">
                <a:solidFill>
                  <a:srgbClr val="000000"/>
                </a:solidFill>
                <a:latin typeface="Courier New" panose="02070309020205020404" pitchFamily="49" charset="0"/>
                <a:cs typeface="Courier New" panose="02070309020205020404" pitchFamily="49" charset="0"/>
              </a:rPr>
              <a:t>    if </a:t>
            </a:r>
            <a:r>
              <a:rPr lang="en-US" altLang="en-US" sz="1200" dirty="0" err="1">
                <a:solidFill>
                  <a:srgbClr val="000000"/>
                </a:solidFill>
                <a:latin typeface="Courier New" panose="02070309020205020404" pitchFamily="49" charset="0"/>
                <a:cs typeface="Courier New" panose="02070309020205020404" pitchFamily="49" charset="0"/>
              </a:rPr>
              <a:t>orig</a:t>
            </a:r>
            <a:r>
              <a:rPr lang="en-US" altLang="en-US" sz="1200" dirty="0">
                <a:solidFill>
                  <a:srgbClr val="000000"/>
                </a:solidFill>
                <a:latin typeface="Courier New" panose="02070309020205020404" pitchFamily="49" charset="0"/>
                <a:cs typeface="Courier New" panose="02070309020205020404" pitchFamily="49" charset="0"/>
              </a:rPr>
              <a:t> == "quit" or </a:t>
            </a:r>
            <a:r>
              <a:rPr lang="en-US" altLang="en-US" sz="1200" dirty="0" err="1">
                <a:solidFill>
                  <a:srgbClr val="000000"/>
                </a:solidFill>
                <a:latin typeface="Courier New" panose="02070309020205020404" pitchFamily="49" charset="0"/>
                <a:cs typeface="Courier New" panose="02070309020205020404" pitchFamily="49" charset="0"/>
              </a:rPr>
              <a:t>orig</a:t>
            </a:r>
            <a:r>
              <a:rPr lang="en-US" altLang="en-US" sz="1200" dirty="0">
                <a:solidFill>
                  <a:srgbClr val="000000"/>
                </a:solidFill>
                <a:latin typeface="Courier New" panose="02070309020205020404" pitchFamily="49" charset="0"/>
                <a:cs typeface="Courier New" panose="02070309020205020404" pitchFamily="49" charset="0"/>
              </a:rPr>
              <a:t> == "q":</a:t>
            </a:r>
          </a:p>
          <a:p>
            <a:r>
              <a:rPr lang="en-US" altLang="en-US" sz="1200" dirty="0">
                <a:solidFill>
                  <a:srgbClr val="000000"/>
                </a:solidFill>
                <a:latin typeface="Courier New" panose="02070309020205020404" pitchFamily="49" charset="0"/>
                <a:cs typeface="Courier New" panose="02070309020205020404" pitchFamily="49" charset="0"/>
              </a:rPr>
              <a:t>        break</a:t>
            </a:r>
          </a:p>
          <a:p>
            <a:r>
              <a:rPr lang="en-US" altLang="en-US" sz="1200" dirty="0">
                <a:solidFill>
                  <a:srgbClr val="000000"/>
                </a:solidFill>
                <a:latin typeface="Courier New" panose="02070309020205020404" pitchFamily="49" charset="0"/>
                <a:cs typeface="Courier New" panose="02070309020205020404" pitchFamily="49" charset="0"/>
              </a:rPr>
              <a:t>    </a:t>
            </a:r>
            <a:r>
              <a:rPr lang="en-US" altLang="en-US" sz="1200" dirty="0" err="1">
                <a:solidFill>
                  <a:srgbClr val="000000"/>
                </a:solidFill>
                <a:latin typeface="Courier New" panose="02070309020205020404" pitchFamily="49" charset="0"/>
                <a:cs typeface="Courier New" panose="02070309020205020404" pitchFamily="49" charset="0"/>
              </a:rPr>
              <a:t>dest</a:t>
            </a:r>
            <a:r>
              <a:rPr lang="en-US" altLang="en-US" sz="1200" dirty="0">
                <a:solidFill>
                  <a:srgbClr val="000000"/>
                </a:solidFill>
                <a:latin typeface="Courier New" panose="02070309020205020404" pitchFamily="49" charset="0"/>
                <a:cs typeface="Courier New" panose="02070309020205020404" pitchFamily="49" charset="0"/>
              </a:rPr>
              <a:t> = input("Destination: ")</a:t>
            </a:r>
          </a:p>
          <a:p>
            <a:r>
              <a:rPr lang="en-US" altLang="en-US" sz="1200" dirty="0">
                <a:solidFill>
                  <a:srgbClr val="000000"/>
                </a:solidFill>
                <a:latin typeface="Courier New" panose="02070309020205020404" pitchFamily="49" charset="0"/>
                <a:cs typeface="Courier New" panose="02070309020205020404" pitchFamily="49" charset="0"/>
              </a:rPr>
              <a:t>    if </a:t>
            </a:r>
            <a:r>
              <a:rPr lang="en-US" altLang="en-US" sz="1200" dirty="0" err="1">
                <a:solidFill>
                  <a:srgbClr val="000000"/>
                </a:solidFill>
                <a:latin typeface="Courier New" panose="02070309020205020404" pitchFamily="49" charset="0"/>
                <a:cs typeface="Courier New" panose="02070309020205020404" pitchFamily="49" charset="0"/>
              </a:rPr>
              <a:t>dest</a:t>
            </a:r>
            <a:r>
              <a:rPr lang="en-US" altLang="en-US" sz="1200" dirty="0">
                <a:solidFill>
                  <a:srgbClr val="000000"/>
                </a:solidFill>
                <a:latin typeface="Courier New" panose="02070309020205020404" pitchFamily="49" charset="0"/>
                <a:cs typeface="Courier New" panose="02070309020205020404" pitchFamily="49" charset="0"/>
              </a:rPr>
              <a:t> == "quit" or </a:t>
            </a:r>
            <a:r>
              <a:rPr lang="en-US" altLang="en-US" sz="1200" dirty="0" err="1">
                <a:solidFill>
                  <a:srgbClr val="000000"/>
                </a:solidFill>
                <a:latin typeface="Courier New" panose="02070309020205020404" pitchFamily="49" charset="0"/>
                <a:cs typeface="Courier New" panose="02070309020205020404" pitchFamily="49" charset="0"/>
              </a:rPr>
              <a:t>dest</a:t>
            </a:r>
            <a:r>
              <a:rPr lang="en-US" altLang="en-US" sz="1200" dirty="0">
                <a:solidFill>
                  <a:srgbClr val="000000"/>
                </a:solidFill>
                <a:latin typeface="Courier New" panose="02070309020205020404" pitchFamily="49" charset="0"/>
                <a:cs typeface="Courier New" panose="02070309020205020404" pitchFamily="49" charset="0"/>
              </a:rPr>
              <a:t> == "q":</a:t>
            </a:r>
          </a:p>
          <a:p>
            <a:r>
              <a:rPr lang="en-US" altLang="en-US" sz="1200" dirty="0">
                <a:solidFill>
                  <a:srgbClr val="000000"/>
                </a:solidFill>
                <a:latin typeface="Courier New" panose="02070309020205020404" pitchFamily="49" charset="0"/>
                <a:cs typeface="Courier New" panose="02070309020205020404" pitchFamily="49" charset="0"/>
              </a:rPr>
              <a:t>        break</a:t>
            </a:r>
          </a:p>
        </p:txBody>
      </p:sp>
    </p:spTree>
    <p:extLst>
      <p:ext uri="{BB962C8B-B14F-4D97-AF65-F5344CB8AC3E}">
        <p14:creationId xmlns:p14="http://schemas.microsoft.com/office/powerpoint/2010/main" val="179783947"/>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347788"/>
            <a:ext cx="3190792" cy="3168210"/>
          </a:xfrm>
        </p:spPr>
        <p:txBody>
          <a:bodyPr>
            <a:normAutofit fontScale="77500" lnSpcReduction="20000"/>
          </a:bodyPr>
          <a:lstStyle/>
          <a:p>
            <a:pPr marL="344488" indent="-288925">
              <a:buFont typeface="+mj-lt"/>
              <a:buAutoNum type="arabicPeriod"/>
            </a:pPr>
            <a:r>
              <a:rPr lang="en-US" dirty="0"/>
              <a:t>Run your </a:t>
            </a:r>
            <a:r>
              <a:rPr lang="en-US" b="1" i="1" dirty="0"/>
              <a:t> studentname</a:t>
            </a:r>
            <a:r>
              <a:rPr lang="en-US" b="1" dirty="0"/>
              <a:t>_json-parse4.py</a:t>
            </a:r>
            <a:r>
              <a:rPr lang="en-US" dirty="0"/>
              <a:t> script and verify it works. </a:t>
            </a:r>
          </a:p>
          <a:p>
            <a:pPr marL="344488" indent="-288925">
              <a:buFont typeface="+mj-lt"/>
              <a:buAutoNum type="arabicPeriod"/>
            </a:pPr>
            <a:r>
              <a:rPr lang="en-US" dirty="0"/>
              <a:t>Troubleshoot your code, if necessary. </a:t>
            </a:r>
          </a:p>
          <a:p>
            <a:pPr marL="344488" indent="-288925">
              <a:buFont typeface="+mj-lt"/>
              <a:buAutoNum type="arabicPeriod"/>
            </a:pPr>
            <a:r>
              <a:rPr lang="en-US" dirty="0"/>
              <a:t>You should get a similar output to what is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Activity - Test Quit Functionality</a:t>
            </a:r>
          </a:p>
        </p:txBody>
      </p:sp>
      <p:sp>
        <p:nvSpPr>
          <p:cNvPr id="5" name="Rectangle 4">
            <a:extLst>
              <a:ext uri="{FF2B5EF4-FFF2-40B4-BE49-F238E27FC236}">
                <a16:creationId xmlns:a16="http://schemas.microsoft.com/office/drawing/2014/main" id="{3B3EA4B7-4464-47AD-9E64-A1C931920ECE}"/>
              </a:ext>
            </a:extLst>
          </p:cNvPr>
          <p:cNvSpPr/>
          <p:nvPr/>
        </p:nvSpPr>
        <p:spPr>
          <a:xfrm>
            <a:off x="3491345" y="1223681"/>
            <a:ext cx="5204247" cy="3535355"/>
          </a:xfrm>
          <a:prstGeom prst="rect">
            <a:avLst/>
          </a:prstGeom>
          <a:ln>
            <a:solidFill>
              <a:schemeClr val="tx1"/>
            </a:solidFill>
          </a:ln>
        </p:spPr>
        <p:txBody>
          <a:bodyPr wrap="square">
            <a:noAutofit/>
          </a:bodyPr>
          <a:lstStyle/>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_parse-json4.py ==========</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q</a:t>
            </a:r>
          </a:p>
          <a:p>
            <a:r>
              <a:rPr lang="en-US" altLang="en-US" sz="1100" dirty="0">
                <a:solidFill>
                  <a:srgbClr val="000000"/>
                </a:solidFill>
                <a:latin typeface="Courier New" panose="02070309020205020404" pitchFamily="49" charset="0"/>
                <a:cs typeface="Courier New" panose="02070309020205020404" pitchFamily="49" charset="0"/>
              </a:rPr>
              <a:t>&gt;&gt;&gt; </a:t>
            </a:r>
          </a:p>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_parse-json4.py ==========</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quit</a:t>
            </a:r>
          </a:p>
          <a:p>
            <a:r>
              <a:rPr lang="en-US" altLang="en-US" sz="1100" dirty="0">
                <a:solidFill>
                  <a:srgbClr val="000000"/>
                </a:solidFill>
                <a:latin typeface="Courier New" panose="02070309020205020404" pitchFamily="49" charset="0"/>
                <a:cs typeface="Courier New" panose="02070309020205020404" pitchFamily="49" charset="0"/>
              </a:rPr>
              <a:t>&gt;&gt;&gt; </a:t>
            </a:r>
          </a:p>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_parse-json4.py ==========</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Washington</a:t>
            </a:r>
          </a:p>
          <a:p>
            <a:r>
              <a:rPr lang="en-US" altLang="en-US" sz="1100" dirty="0">
                <a:solidFill>
                  <a:srgbClr val="000000"/>
                </a:solidFill>
                <a:latin typeface="Courier New" panose="02070309020205020404" pitchFamily="49" charset="0"/>
                <a:cs typeface="Courier New" panose="02070309020205020404" pitchFamily="49" charset="0"/>
              </a:rPr>
              <a:t>Destination: </a:t>
            </a:r>
            <a:r>
              <a:rPr lang="en-US" altLang="en-US" sz="1100" b="1" dirty="0">
                <a:solidFill>
                  <a:srgbClr val="000000"/>
                </a:solidFill>
                <a:latin typeface="Courier New" panose="02070309020205020404" pitchFamily="49" charset="0"/>
                <a:cs typeface="Courier New" panose="02070309020205020404" pitchFamily="49" charset="0"/>
              </a:rPr>
              <a:t>q</a:t>
            </a:r>
          </a:p>
          <a:p>
            <a:r>
              <a:rPr lang="en-US" altLang="en-US" sz="1100" dirty="0">
                <a:solidFill>
                  <a:srgbClr val="000000"/>
                </a:solidFill>
                <a:latin typeface="Courier New" panose="02070309020205020404" pitchFamily="49" charset="0"/>
                <a:cs typeface="Courier New" panose="02070309020205020404" pitchFamily="49" charset="0"/>
              </a:rPr>
              <a:t>&gt;&gt;&gt; </a:t>
            </a:r>
          </a:p>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_parse-json4.py ==========</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Washington</a:t>
            </a:r>
          </a:p>
          <a:p>
            <a:r>
              <a:rPr lang="en-US" altLang="en-US" sz="1100" dirty="0">
                <a:solidFill>
                  <a:srgbClr val="000000"/>
                </a:solidFill>
                <a:latin typeface="Courier New" panose="02070309020205020404" pitchFamily="49" charset="0"/>
                <a:cs typeface="Courier New" panose="02070309020205020404" pitchFamily="49" charset="0"/>
              </a:rPr>
              <a:t>Destination: </a:t>
            </a:r>
            <a:r>
              <a:rPr lang="en-US" altLang="en-US" sz="1100" b="1" dirty="0">
                <a:solidFill>
                  <a:srgbClr val="000000"/>
                </a:solidFill>
                <a:latin typeface="Courier New" panose="02070309020205020404" pitchFamily="49" charset="0"/>
                <a:cs typeface="Courier New" panose="02070309020205020404" pitchFamily="49" charset="0"/>
              </a:rPr>
              <a:t>quit</a:t>
            </a:r>
          </a:p>
          <a:p>
            <a:r>
              <a:rPr lang="en-US" altLang="en-US" sz="1100" dirty="0">
                <a:solidFill>
                  <a:srgbClr val="000000"/>
                </a:solidFill>
                <a:latin typeface="Courier New" panose="02070309020205020404" pitchFamily="49" charset="0"/>
                <a:cs typeface="Courier New" panose="02070309020205020404" pitchFamily="49" charset="0"/>
              </a:rPr>
              <a:t>&gt;&gt;&gt; </a:t>
            </a:r>
          </a:p>
        </p:txBody>
      </p:sp>
    </p:spTree>
    <p:extLst>
      <p:ext uri="{BB962C8B-B14F-4D97-AF65-F5344CB8AC3E}">
        <p14:creationId xmlns:p14="http://schemas.microsoft.com/office/powerpoint/2010/main" val="568868868"/>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descr="You can add the trip duration, miles, and fuel used based on pre-determined calculations.">
            <a:extLst>
              <a:ext uri="{FF2B5EF4-FFF2-40B4-BE49-F238E27FC236}">
                <a16:creationId xmlns:a16="http://schemas.microsoft.com/office/drawing/2014/main" id="{756A0268-DD54-49ED-B301-B3F700AA864A}"/>
              </a:ext>
            </a:extLst>
          </p:cNvPr>
          <p:cNvSpPr/>
          <p:nvPr/>
        </p:nvSpPr>
        <p:spPr>
          <a:xfrm>
            <a:off x="491706" y="3351951"/>
            <a:ext cx="2424022" cy="564442"/>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3D9C4EE4-D318-4653-A8E0-F5A3377B809C}"/>
              </a:ext>
            </a:extLst>
          </p:cNvPr>
          <p:cNvSpPr>
            <a:spLocks noGrp="1"/>
          </p:cNvSpPr>
          <p:nvPr>
            <p:ph type="body" sz="quarter" idx="10"/>
          </p:nvPr>
        </p:nvSpPr>
        <p:spPr>
          <a:xfrm>
            <a:off x="311727" y="991254"/>
            <a:ext cx="5554235" cy="854799"/>
          </a:xfrm>
        </p:spPr>
        <p:txBody>
          <a:bodyPr>
            <a:normAutofit fontScale="77500" lnSpcReduction="20000"/>
          </a:bodyPr>
          <a:lstStyle/>
          <a:p>
            <a:pPr marL="57136" indent="0">
              <a:buNone/>
            </a:pPr>
            <a:r>
              <a:rPr lang="en-US" dirty="0"/>
              <a:t>The final application prints the values for the </a:t>
            </a:r>
            <a:r>
              <a:rPr lang="en-US" b="1" dirty="0"/>
              <a:t>distance</a:t>
            </a:r>
            <a:r>
              <a:rPr lang="en-US" dirty="0"/>
              <a:t>, </a:t>
            </a:r>
            <a:r>
              <a:rPr lang="en-US" b="1" dirty="0" err="1"/>
              <a:t>formattedTime</a:t>
            </a:r>
            <a:r>
              <a:rPr lang="en-US" dirty="0"/>
              <a:t>, and </a:t>
            </a:r>
            <a:r>
              <a:rPr lang="en-US" b="1" dirty="0" err="1"/>
              <a:t>fuelUsed</a:t>
            </a:r>
            <a:r>
              <a:rPr lang="en-US" dirty="0"/>
              <a:t> keys from the route dictionary.</a:t>
            </a:r>
          </a:p>
        </p:txBody>
      </p:sp>
      <p:sp>
        <p:nvSpPr>
          <p:cNvPr id="8" name="Title 7">
            <a:extLst>
              <a:ext uri="{FF2B5EF4-FFF2-40B4-BE49-F238E27FC236}">
                <a16:creationId xmlns:a16="http://schemas.microsoft.com/office/drawing/2014/main" id="{F4750EDD-B7FA-4B65-BEF1-EF02089E5DB6}"/>
              </a:ext>
            </a:extLst>
          </p:cNvPr>
          <p:cNvSpPr>
            <a:spLocks noGrp="1"/>
          </p:cNvSpPr>
          <p:nvPr>
            <p:ph type="title"/>
          </p:nvPr>
        </p:nvSpPr>
        <p:spPr/>
        <p:txBody>
          <a:bodyPr/>
          <a:lstStyle/>
          <a:p>
            <a:r>
              <a:rPr lang="en-US" dirty="0"/>
              <a:t>Displaying Trip Data</a:t>
            </a:r>
          </a:p>
        </p:txBody>
      </p:sp>
      <p:sp>
        <p:nvSpPr>
          <p:cNvPr id="9" name="Rectangle 8">
            <a:extLst>
              <a:ext uri="{FF2B5EF4-FFF2-40B4-BE49-F238E27FC236}">
                <a16:creationId xmlns:a16="http://schemas.microsoft.com/office/drawing/2014/main" id="{6CD38B62-13B2-431D-B967-18CE52536F5B}"/>
              </a:ext>
            </a:extLst>
          </p:cNvPr>
          <p:cNvSpPr/>
          <p:nvPr/>
        </p:nvSpPr>
        <p:spPr>
          <a:xfrm>
            <a:off x="436420" y="1850758"/>
            <a:ext cx="5395038" cy="2764373"/>
          </a:xfrm>
          <a:prstGeom prst="rect">
            <a:avLst/>
          </a:prstGeom>
          <a:ln>
            <a:solidFill>
              <a:schemeClr val="tx1"/>
            </a:solidFill>
          </a:ln>
        </p:spPr>
        <p:txBody>
          <a:bodyPr wrap="square">
            <a:noAutofit/>
          </a:bodyPr>
          <a:lstStyle/>
          <a:p>
            <a:r>
              <a:rPr lang="en-US" altLang="en-US" sz="1200" dirty="0">
                <a:solidFill>
                  <a:srgbClr val="000000"/>
                </a:solidFill>
                <a:latin typeface="Courier New" panose="02070309020205020404" pitchFamily="49" charset="0"/>
                <a:cs typeface="Courier New" panose="02070309020205020404" pitchFamily="49" charset="0"/>
              </a:rPr>
              <a:t>Starting Location: Washington</a:t>
            </a:r>
          </a:p>
          <a:p>
            <a:r>
              <a:rPr lang="en-US" altLang="en-US" sz="1200" dirty="0">
                <a:solidFill>
                  <a:srgbClr val="000000"/>
                </a:solidFill>
                <a:latin typeface="Courier New" panose="02070309020205020404" pitchFamily="49" charset="0"/>
                <a:cs typeface="Courier New" panose="02070309020205020404" pitchFamily="49" charset="0"/>
              </a:rPr>
              <a:t>Destination: Baltimore</a:t>
            </a:r>
          </a:p>
          <a:p>
            <a:r>
              <a:rPr lang="en-US" altLang="en-US" sz="1200" dirty="0">
                <a:solidFill>
                  <a:srgbClr val="000000"/>
                </a:solidFill>
                <a:latin typeface="Courier New" panose="02070309020205020404" pitchFamily="49" charset="0"/>
                <a:cs typeface="Courier New" panose="02070309020205020404" pitchFamily="49" charset="0"/>
              </a:rPr>
              <a:t>URL: https://www.mapquestapi.com/directions/v2/route?to=Baltimore&amp;key=Your_api_key&amp;from=Washington</a:t>
            </a:r>
          </a:p>
          <a:p>
            <a:r>
              <a:rPr lang="en-US" altLang="en-US" sz="1200" dirty="0">
                <a:solidFill>
                  <a:srgbClr val="000000"/>
                </a:solidFill>
                <a:latin typeface="Courier New" panose="02070309020205020404" pitchFamily="49" charset="0"/>
                <a:cs typeface="Courier New" panose="02070309020205020404" pitchFamily="49" charset="0"/>
              </a:rPr>
              <a:t>API Status: 0</a:t>
            </a:r>
          </a:p>
          <a:p>
            <a:endParaRPr lang="en-US" altLang="en-US" sz="1200" dirty="0">
              <a:solidFill>
                <a:srgbClr val="000000"/>
              </a:solidFill>
              <a:latin typeface="Courier New" panose="02070309020205020404" pitchFamily="49" charset="0"/>
              <a:cs typeface="Courier New" panose="02070309020205020404" pitchFamily="49" charset="0"/>
            </a:endParaRPr>
          </a:p>
          <a:p>
            <a:r>
              <a:rPr lang="en-US" altLang="en-US" sz="1200" dirty="0">
                <a:solidFill>
                  <a:srgbClr val="000000"/>
                </a:solidFill>
                <a:latin typeface="Courier New" panose="02070309020205020404" pitchFamily="49" charset="0"/>
                <a:cs typeface="Courier New" panose="02070309020205020404" pitchFamily="49" charset="0"/>
              </a:rPr>
              <a:t>Directions from Washington to Baltimore</a:t>
            </a:r>
          </a:p>
          <a:p>
            <a:r>
              <a:rPr lang="en-US" altLang="en-US" sz="1200" dirty="0">
                <a:solidFill>
                  <a:srgbClr val="000000"/>
                </a:solidFill>
                <a:latin typeface="Courier New" panose="02070309020205020404" pitchFamily="49" charset="0"/>
                <a:cs typeface="Courier New" panose="02070309020205020404" pitchFamily="49" charset="0"/>
              </a:rPr>
              <a:t>Trip Duration:   00:49:19</a:t>
            </a:r>
          </a:p>
          <a:p>
            <a:r>
              <a:rPr lang="en-US" altLang="en-US" sz="1200" dirty="0">
                <a:solidFill>
                  <a:srgbClr val="000000"/>
                </a:solidFill>
                <a:latin typeface="Courier New" panose="02070309020205020404" pitchFamily="49" charset="0"/>
                <a:cs typeface="Courier New" panose="02070309020205020404" pitchFamily="49" charset="0"/>
              </a:rPr>
              <a:t>Miles:           38.089</a:t>
            </a:r>
          </a:p>
          <a:p>
            <a:r>
              <a:rPr lang="en-US" altLang="en-US" sz="1200" dirty="0">
                <a:solidFill>
                  <a:srgbClr val="000000"/>
                </a:solidFill>
                <a:latin typeface="Courier New" panose="02070309020205020404" pitchFamily="49" charset="0"/>
                <a:cs typeface="Courier New" panose="02070309020205020404" pitchFamily="49" charset="0"/>
              </a:rPr>
              <a:t>Fuel Used (Gal): 1.65</a:t>
            </a:r>
          </a:p>
          <a:p>
            <a:r>
              <a:rPr lang="en-US" altLang="en-US" sz="1200" dirty="0">
                <a:solidFill>
                  <a:srgbClr val="000000"/>
                </a:solidFill>
                <a:latin typeface="Courier New" panose="02070309020205020404" pitchFamily="49" charset="0"/>
                <a:cs typeface="Courier New" panose="02070309020205020404" pitchFamily="49" charset="0"/>
              </a:rPr>
              <a:t>=============================================</a:t>
            </a:r>
          </a:p>
          <a:p>
            <a:r>
              <a:rPr lang="en-US" altLang="en-US" sz="1200" dirty="0">
                <a:solidFill>
                  <a:srgbClr val="000000"/>
                </a:solidFill>
                <a:latin typeface="Courier New" panose="02070309020205020404" pitchFamily="49" charset="0"/>
                <a:cs typeface="Courier New" panose="02070309020205020404" pitchFamily="49" charset="0"/>
              </a:rPr>
              <a:t>Starting Location: q</a:t>
            </a:r>
          </a:p>
          <a:p>
            <a:r>
              <a:rPr lang="en-US" altLang="en-US" sz="1200" dirty="0">
                <a:solidFill>
                  <a:srgbClr val="000000"/>
                </a:solidFill>
                <a:latin typeface="Courier New" panose="02070309020205020404" pitchFamily="49" charset="0"/>
                <a:cs typeface="Courier New" panose="02070309020205020404" pitchFamily="49" charset="0"/>
              </a:rPr>
              <a:t>&gt;&gt;&gt; </a:t>
            </a:r>
          </a:p>
        </p:txBody>
      </p:sp>
      <p:pic>
        <p:nvPicPr>
          <p:cNvPr id="16" name="Picture 15" descr="Sample trip data">
            <a:extLst>
              <a:ext uri="{FF2B5EF4-FFF2-40B4-BE49-F238E27FC236}">
                <a16:creationId xmlns:a16="http://schemas.microsoft.com/office/drawing/2014/main" id="{991E0354-9B64-4DF5-A595-9BDBFD21E000}"/>
              </a:ext>
            </a:extLst>
          </p:cNvPr>
          <p:cNvPicPr/>
          <p:nvPr/>
        </p:nvPicPr>
        <p:blipFill>
          <a:blip r:embed="rId3"/>
          <a:stretch>
            <a:fillRect/>
          </a:stretch>
        </p:blipFill>
        <p:spPr>
          <a:xfrm>
            <a:off x="5934973" y="1741595"/>
            <a:ext cx="3086680" cy="2890790"/>
          </a:xfrm>
          <a:prstGeom prst="rect">
            <a:avLst/>
          </a:prstGeom>
        </p:spPr>
      </p:pic>
    </p:spTree>
    <p:extLst>
      <p:ext uri="{BB962C8B-B14F-4D97-AF65-F5344CB8AC3E}">
        <p14:creationId xmlns:p14="http://schemas.microsoft.com/office/powerpoint/2010/main" val="615116839"/>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descr="Parse and display your trip data">
            <a:extLst>
              <a:ext uri="{FF2B5EF4-FFF2-40B4-BE49-F238E27FC236}">
                <a16:creationId xmlns:a16="http://schemas.microsoft.com/office/drawing/2014/main" id="{3654B551-B28C-422F-BA53-20138BB0A92E}"/>
              </a:ext>
            </a:extLst>
          </p:cNvPr>
          <p:cNvSpPr/>
          <p:nvPr/>
        </p:nvSpPr>
        <p:spPr>
          <a:xfrm>
            <a:off x="888455" y="3372549"/>
            <a:ext cx="6387834" cy="946532"/>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id="{3D9C4EE4-D318-4653-A8E0-F5A3377B809C}"/>
              </a:ext>
            </a:extLst>
          </p:cNvPr>
          <p:cNvSpPr>
            <a:spLocks noGrp="1"/>
          </p:cNvSpPr>
          <p:nvPr>
            <p:ph type="body" sz="quarter" idx="10"/>
          </p:nvPr>
        </p:nvSpPr>
        <p:spPr>
          <a:xfrm>
            <a:off x="311727" y="991254"/>
            <a:ext cx="7245013" cy="1790857"/>
          </a:xfrm>
        </p:spPr>
        <p:txBody>
          <a:bodyPr>
            <a:normAutofit fontScale="70000" lnSpcReduction="20000"/>
          </a:bodyPr>
          <a:lstStyle/>
          <a:p>
            <a:pPr marL="571486" indent="-514350">
              <a:buFont typeface="+mj-lt"/>
              <a:buAutoNum type="arabicPeriod"/>
            </a:pPr>
            <a:r>
              <a:rPr lang="en-US" dirty="0"/>
              <a:t>Save your script as </a:t>
            </a:r>
            <a:r>
              <a:rPr lang="en-US" b="1" i="1" dirty="0"/>
              <a:t>studentname</a:t>
            </a:r>
            <a:r>
              <a:rPr lang="en-US" b="1" dirty="0"/>
              <a:t>_json-parse5.py</a:t>
            </a:r>
            <a:r>
              <a:rPr lang="en-US" dirty="0"/>
              <a:t>. </a:t>
            </a:r>
          </a:p>
          <a:p>
            <a:pPr marL="571486" indent="-514350">
              <a:buFont typeface="+mj-lt"/>
              <a:buAutoNum type="arabicPeriod"/>
            </a:pPr>
            <a:r>
              <a:rPr lang="en-US" dirty="0"/>
              <a:t>Below the API status print command, add print statements that display the from and to locations, as well as the </a:t>
            </a:r>
            <a:r>
              <a:rPr lang="en-US" b="1" dirty="0" err="1"/>
              <a:t>formattedTime</a:t>
            </a:r>
            <a:r>
              <a:rPr lang="en-US" dirty="0"/>
              <a:t>, </a:t>
            </a:r>
            <a:r>
              <a:rPr lang="en-US" b="1" dirty="0"/>
              <a:t>distance</a:t>
            </a:r>
            <a:r>
              <a:rPr lang="en-US" dirty="0"/>
              <a:t>, and </a:t>
            </a:r>
            <a:r>
              <a:rPr lang="en-US" b="1" dirty="0" err="1"/>
              <a:t>fuelUsed</a:t>
            </a:r>
            <a:r>
              <a:rPr lang="en-US" dirty="0"/>
              <a:t> keys. </a:t>
            </a:r>
          </a:p>
          <a:p>
            <a:pPr marL="571486" indent="-514350">
              <a:buFont typeface="+mj-lt"/>
              <a:buAutoNum type="arabicPeriod"/>
            </a:pPr>
            <a:r>
              <a:rPr lang="en-US" dirty="0"/>
              <a:t>Add a print statement that will display a double line before the next request for a starting location as shown below.</a:t>
            </a:r>
          </a:p>
        </p:txBody>
      </p:sp>
      <p:sp>
        <p:nvSpPr>
          <p:cNvPr id="8" name="Title 7">
            <a:extLst>
              <a:ext uri="{FF2B5EF4-FFF2-40B4-BE49-F238E27FC236}">
                <a16:creationId xmlns:a16="http://schemas.microsoft.com/office/drawing/2014/main" id="{F4750EDD-B7FA-4B65-BEF1-EF02089E5DB6}"/>
              </a:ext>
            </a:extLst>
          </p:cNvPr>
          <p:cNvSpPr>
            <a:spLocks noGrp="1"/>
          </p:cNvSpPr>
          <p:nvPr>
            <p:ph type="title"/>
          </p:nvPr>
        </p:nvSpPr>
        <p:spPr/>
        <p:txBody>
          <a:bodyPr/>
          <a:lstStyle/>
          <a:p>
            <a:r>
              <a:rPr lang="en-US" dirty="0"/>
              <a:t>Parse and Display Trip Data</a:t>
            </a:r>
          </a:p>
        </p:txBody>
      </p:sp>
      <p:sp>
        <p:nvSpPr>
          <p:cNvPr id="9" name="Rectangle 8">
            <a:extLst>
              <a:ext uri="{FF2B5EF4-FFF2-40B4-BE49-F238E27FC236}">
                <a16:creationId xmlns:a16="http://schemas.microsoft.com/office/drawing/2014/main" id="{6CD38B62-13B2-431D-B967-18CE52536F5B}"/>
              </a:ext>
            </a:extLst>
          </p:cNvPr>
          <p:cNvSpPr/>
          <p:nvPr/>
        </p:nvSpPr>
        <p:spPr>
          <a:xfrm>
            <a:off x="436419" y="2950233"/>
            <a:ext cx="8075283" cy="1456397"/>
          </a:xfrm>
          <a:prstGeom prst="rect">
            <a:avLst/>
          </a:prstGeom>
          <a:ln>
            <a:solidFill>
              <a:schemeClr val="tx1"/>
            </a:solidFill>
          </a:ln>
        </p:spPr>
        <p:txBody>
          <a:bodyPr wrap="square">
            <a:noAutofit/>
          </a:bodyPr>
          <a:lstStyle/>
          <a:p>
            <a:r>
              <a:rPr lang="en-US" altLang="en-US" sz="1200" dirty="0">
                <a:solidFill>
                  <a:srgbClr val="000000"/>
                </a:solidFill>
                <a:latin typeface="Courier New" panose="02070309020205020404" pitchFamily="49" charset="0"/>
                <a:cs typeface="Courier New" panose="02070309020205020404" pitchFamily="49" charset="0"/>
              </a:rPr>
              <a:t>if </a:t>
            </a:r>
            <a:r>
              <a:rPr lang="en-US" altLang="en-US" sz="1200" dirty="0" err="1">
                <a:solidFill>
                  <a:srgbClr val="000000"/>
                </a:solidFill>
                <a:latin typeface="Courier New" panose="02070309020205020404" pitchFamily="49" charset="0"/>
                <a:cs typeface="Courier New" panose="02070309020205020404" pitchFamily="49" charset="0"/>
              </a:rPr>
              <a:t>json_status</a:t>
            </a:r>
            <a:r>
              <a:rPr lang="en-US" altLang="en-US" sz="1200" dirty="0">
                <a:solidFill>
                  <a:srgbClr val="000000"/>
                </a:solidFill>
                <a:latin typeface="Courier New" panose="02070309020205020404" pitchFamily="49" charset="0"/>
                <a:cs typeface="Courier New" panose="02070309020205020404" pitchFamily="49" charset="0"/>
              </a:rPr>
              <a:t> == 0:</a:t>
            </a:r>
          </a:p>
          <a:p>
            <a:r>
              <a:rPr lang="en-US" altLang="en-US" sz="1200" dirty="0">
                <a:solidFill>
                  <a:srgbClr val="000000"/>
                </a:solidFill>
                <a:latin typeface="Courier New" panose="02070309020205020404" pitchFamily="49" charset="0"/>
                <a:cs typeface="Courier New" panose="02070309020205020404" pitchFamily="49" charset="0"/>
              </a:rPr>
              <a:t>    </a:t>
            </a:r>
            <a:r>
              <a:rPr lang="en-US" sz="1200" dirty="0">
                <a:solidFill>
                  <a:srgbClr val="000000"/>
                </a:solidFill>
                <a:latin typeface="Courier New" panose="02070309020205020404" pitchFamily="49" charset="0"/>
                <a:cs typeface="Courier New" panose="02070309020205020404" pitchFamily="49" charset="0"/>
              </a:rPr>
              <a:t>print("API Status: " + str(</a:t>
            </a:r>
            <a:r>
              <a:rPr lang="en-US" sz="1200" dirty="0" err="1">
                <a:solidFill>
                  <a:srgbClr val="000000"/>
                </a:solidFill>
                <a:latin typeface="Courier New" panose="02070309020205020404" pitchFamily="49" charset="0"/>
                <a:cs typeface="Courier New" panose="02070309020205020404" pitchFamily="49" charset="0"/>
              </a:rPr>
              <a:t>json_status</a:t>
            </a:r>
            <a:r>
              <a:rPr lang="en-US" sz="1200" dirty="0">
                <a:solidFill>
                  <a:srgbClr val="000000"/>
                </a:solidFill>
                <a:latin typeface="Courier New" panose="02070309020205020404" pitchFamily="49" charset="0"/>
                <a:cs typeface="Courier New" panose="02070309020205020404" pitchFamily="49" charset="0"/>
              </a:rPr>
              <a:t>) + " = A successful route call.\n") </a:t>
            </a:r>
          </a:p>
          <a:p>
            <a:r>
              <a:rPr lang="en-US" altLang="en-US" sz="1200" dirty="0">
                <a:solidFill>
                  <a:srgbClr val="000000"/>
                </a:solidFill>
                <a:latin typeface="Courier New" panose="02070309020205020404" pitchFamily="49" charset="0"/>
                <a:cs typeface="Courier New" panose="02070309020205020404" pitchFamily="49" charset="0"/>
              </a:rPr>
              <a:t>    print("Directions from " + (</a:t>
            </a:r>
            <a:r>
              <a:rPr lang="en-US" altLang="en-US" sz="1200" dirty="0" err="1">
                <a:solidFill>
                  <a:srgbClr val="000000"/>
                </a:solidFill>
                <a:latin typeface="Courier New" panose="02070309020205020404" pitchFamily="49" charset="0"/>
                <a:cs typeface="Courier New" panose="02070309020205020404" pitchFamily="49" charset="0"/>
              </a:rPr>
              <a:t>orig</a:t>
            </a:r>
            <a:r>
              <a:rPr lang="en-US" altLang="en-US" sz="1200" dirty="0">
                <a:solidFill>
                  <a:srgbClr val="000000"/>
                </a:solidFill>
                <a:latin typeface="Courier New" panose="02070309020205020404" pitchFamily="49" charset="0"/>
                <a:cs typeface="Courier New" panose="02070309020205020404" pitchFamily="49" charset="0"/>
              </a:rPr>
              <a:t>) + " to " + (</a:t>
            </a:r>
            <a:r>
              <a:rPr lang="en-US" altLang="en-US" sz="1200" dirty="0" err="1">
                <a:solidFill>
                  <a:srgbClr val="000000"/>
                </a:solidFill>
                <a:latin typeface="Courier New" panose="02070309020205020404" pitchFamily="49" charset="0"/>
                <a:cs typeface="Courier New" panose="02070309020205020404" pitchFamily="49" charset="0"/>
              </a:rPr>
              <a:t>dest</a:t>
            </a:r>
            <a:r>
              <a:rPr lang="en-US" altLang="en-US" sz="1200" dirty="0">
                <a:solidFill>
                  <a:srgbClr val="000000"/>
                </a:solidFill>
                <a:latin typeface="Courier New" panose="02070309020205020404" pitchFamily="49" charset="0"/>
                <a:cs typeface="Courier New" panose="02070309020205020404" pitchFamily="49" charset="0"/>
              </a:rPr>
              <a:t>))</a:t>
            </a:r>
          </a:p>
          <a:p>
            <a:r>
              <a:rPr lang="en-US" altLang="en-US" sz="1200" dirty="0">
                <a:solidFill>
                  <a:srgbClr val="000000"/>
                </a:solidFill>
                <a:latin typeface="Courier New" panose="02070309020205020404" pitchFamily="49" charset="0"/>
                <a:cs typeface="Courier New" panose="02070309020205020404" pitchFamily="49" charset="0"/>
              </a:rPr>
              <a:t>    print("Trip Duration:   " + str(</a:t>
            </a:r>
            <a:r>
              <a:rPr lang="en-US" altLang="en-US" sz="1200" dirty="0" err="1">
                <a:solidFill>
                  <a:srgbClr val="000000"/>
                </a:solidFill>
                <a:latin typeface="Courier New" panose="02070309020205020404" pitchFamily="49" charset="0"/>
                <a:cs typeface="Courier New" panose="02070309020205020404" pitchFamily="49" charset="0"/>
              </a:rPr>
              <a:t>json_data</a:t>
            </a:r>
            <a:r>
              <a:rPr lang="en-US" altLang="en-US" sz="1200" dirty="0">
                <a:solidFill>
                  <a:srgbClr val="000000"/>
                </a:solidFill>
                <a:latin typeface="Courier New" panose="02070309020205020404" pitchFamily="49" charset="0"/>
                <a:cs typeface="Courier New" panose="02070309020205020404" pitchFamily="49" charset="0"/>
              </a:rPr>
              <a:t>["route"]["</a:t>
            </a:r>
            <a:r>
              <a:rPr lang="en-US" altLang="en-US" sz="1200" dirty="0" err="1">
                <a:solidFill>
                  <a:srgbClr val="000000"/>
                </a:solidFill>
                <a:latin typeface="Courier New" panose="02070309020205020404" pitchFamily="49" charset="0"/>
                <a:cs typeface="Courier New" panose="02070309020205020404" pitchFamily="49" charset="0"/>
              </a:rPr>
              <a:t>formattedTime</a:t>
            </a:r>
            <a:r>
              <a:rPr lang="en-US" altLang="en-US" sz="1200" dirty="0">
                <a:solidFill>
                  <a:srgbClr val="000000"/>
                </a:solidFill>
                <a:latin typeface="Courier New" panose="02070309020205020404" pitchFamily="49" charset="0"/>
                <a:cs typeface="Courier New" panose="02070309020205020404" pitchFamily="49" charset="0"/>
              </a:rPr>
              <a:t>"]))</a:t>
            </a:r>
          </a:p>
          <a:p>
            <a:r>
              <a:rPr lang="en-US" altLang="en-US" sz="1200" dirty="0">
                <a:solidFill>
                  <a:srgbClr val="000000"/>
                </a:solidFill>
                <a:latin typeface="Courier New" panose="02070309020205020404" pitchFamily="49" charset="0"/>
                <a:cs typeface="Courier New" panose="02070309020205020404" pitchFamily="49" charset="0"/>
              </a:rPr>
              <a:t>    print("Miles:           " + str(</a:t>
            </a:r>
            <a:r>
              <a:rPr lang="en-US" altLang="en-US" sz="1200" dirty="0" err="1">
                <a:solidFill>
                  <a:srgbClr val="000000"/>
                </a:solidFill>
                <a:latin typeface="Courier New" panose="02070309020205020404" pitchFamily="49" charset="0"/>
                <a:cs typeface="Courier New" panose="02070309020205020404" pitchFamily="49" charset="0"/>
              </a:rPr>
              <a:t>json_data</a:t>
            </a:r>
            <a:r>
              <a:rPr lang="en-US" altLang="en-US" sz="1200" dirty="0">
                <a:solidFill>
                  <a:srgbClr val="000000"/>
                </a:solidFill>
                <a:latin typeface="Courier New" panose="02070309020205020404" pitchFamily="49" charset="0"/>
                <a:cs typeface="Courier New" panose="02070309020205020404" pitchFamily="49" charset="0"/>
              </a:rPr>
              <a:t>["route"]["distance"]))</a:t>
            </a:r>
          </a:p>
          <a:p>
            <a:r>
              <a:rPr lang="en-US" altLang="en-US" sz="1200" dirty="0">
                <a:solidFill>
                  <a:srgbClr val="000000"/>
                </a:solidFill>
                <a:latin typeface="Courier New" panose="02070309020205020404" pitchFamily="49" charset="0"/>
                <a:cs typeface="Courier New" panose="02070309020205020404" pitchFamily="49" charset="0"/>
              </a:rPr>
              <a:t>    print("Fuel(Gal):       " + str(</a:t>
            </a:r>
            <a:r>
              <a:rPr lang="en-US" altLang="en-US" sz="1200" dirty="0" err="1">
                <a:solidFill>
                  <a:srgbClr val="000000"/>
                </a:solidFill>
                <a:latin typeface="Courier New" panose="02070309020205020404" pitchFamily="49" charset="0"/>
                <a:cs typeface="Courier New" panose="02070309020205020404" pitchFamily="49" charset="0"/>
              </a:rPr>
              <a:t>json_data</a:t>
            </a:r>
            <a:r>
              <a:rPr lang="en-US" altLang="en-US" sz="1200" dirty="0">
                <a:solidFill>
                  <a:srgbClr val="000000"/>
                </a:solidFill>
                <a:latin typeface="Courier New" panose="02070309020205020404" pitchFamily="49" charset="0"/>
                <a:cs typeface="Courier New" panose="02070309020205020404" pitchFamily="49" charset="0"/>
              </a:rPr>
              <a:t>["route"]["</a:t>
            </a:r>
            <a:r>
              <a:rPr lang="en-US" altLang="en-US" sz="1200" dirty="0" err="1">
                <a:solidFill>
                  <a:srgbClr val="000000"/>
                </a:solidFill>
                <a:latin typeface="Courier New" panose="02070309020205020404" pitchFamily="49" charset="0"/>
                <a:cs typeface="Courier New" panose="02070309020205020404" pitchFamily="49" charset="0"/>
              </a:rPr>
              <a:t>fuelUsed</a:t>
            </a:r>
            <a:r>
              <a:rPr lang="en-US" altLang="en-US" sz="1200" dirty="0">
                <a:solidFill>
                  <a:srgbClr val="000000"/>
                </a:solidFill>
                <a:latin typeface="Courier New" panose="02070309020205020404" pitchFamily="49" charset="0"/>
                <a:cs typeface="Courier New" panose="02070309020205020404" pitchFamily="49" charset="0"/>
              </a:rPr>
              <a:t>"])) </a:t>
            </a:r>
          </a:p>
          <a:p>
            <a:r>
              <a:rPr lang="en-US" altLang="en-US" sz="1200" dirty="0">
                <a:solidFill>
                  <a:srgbClr val="000000"/>
                </a:solidFill>
                <a:latin typeface="Courier New" panose="02070309020205020404" pitchFamily="49" charset="0"/>
                <a:cs typeface="Courier New" panose="02070309020205020404" pitchFamily="49" charset="0"/>
              </a:rPr>
              <a:t>    print("=============================================")</a:t>
            </a:r>
          </a:p>
        </p:txBody>
      </p:sp>
    </p:spTree>
    <p:extLst>
      <p:ext uri="{BB962C8B-B14F-4D97-AF65-F5344CB8AC3E}">
        <p14:creationId xmlns:p14="http://schemas.microsoft.com/office/powerpoint/2010/main" val="612302795"/>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347788"/>
            <a:ext cx="3190792" cy="3168210"/>
          </a:xfrm>
        </p:spPr>
        <p:txBody>
          <a:bodyPr>
            <a:normAutofit fontScale="77500" lnSpcReduction="20000"/>
          </a:bodyPr>
          <a:lstStyle/>
          <a:p>
            <a:pPr marL="344488" indent="-288925">
              <a:buFont typeface="+mj-lt"/>
              <a:buAutoNum type="arabicPeriod"/>
            </a:pPr>
            <a:r>
              <a:rPr lang="en-US" dirty="0"/>
              <a:t>Run your </a:t>
            </a:r>
            <a:r>
              <a:rPr lang="en-US" b="1" i="1" dirty="0"/>
              <a:t> studentname</a:t>
            </a:r>
            <a:r>
              <a:rPr lang="en-US" b="1" dirty="0"/>
              <a:t>_json-parse5.py</a:t>
            </a:r>
            <a:r>
              <a:rPr lang="en-US" dirty="0"/>
              <a:t> script and verify it works. </a:t>
            </a:r>
          </a:p>
          <a:p>
            <a:pPr marL="344488" indent="-288925">
              <a:buFont typeface="+mj-lt"/>
              <a:buAutoNum type="arabicPeriod"/>
            </a:pPr>
            <a:r>
              <a:rPr lang="en-US" dirty="0"/>
              <a:t>Troubleshoot your code, if necessary. </a:t>
            </a:r>
          </a:p>
          <a:p>
            <a:pPr marL="344488" indent="-288925">
              <a:buFont typeface="+mj-lt"/>
              <a:buAutoNum type="arabicPeriod"/>
            </a:pPr>
            <a:r>
              <a:rPr lang="en-US" dirty="0"/>
              <a:t>You should get a similar output to what is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Activity - Test Trip Data Display</a:t>
            </a:r>
          </a:p>
        </p:txBody>
      </p:sp>
      <p:sp>
        <p:nvSpPr>
          <p:cNvPr id="5" name="Rectangle 4">
            <a:extLst>
              <a:ext uri="{FF2B5EF4-FFF2-40B4-BE49-F238E27FC236}">
                <a16:creationId xmlns:a16="http://schemas.microsoft.com/office/drawing/2014/main" id="{3B3EA4B7-4464-47AD-9E64-A1C931920ECE}"/>
              </a:ext>
            </a:extLst>
          </p:cNvPr>
          <p:cNvSpPr/>
          <p:nvPr/>
        </p:nvSpPr>
        <p:spPr>
          <a:xfrm>
            <a:off x="3491345" y="1223681"/>
            <a:ext cx="5204247" cy="3535355"/>
          </a:xfrm>
          <a:prstGeom prst="rect">
            <a:avLst/>
          </a:prstGeom>
          <a:ln>
            <a:solidFill>
              <a:schemeClr val="tx1"/>
            </a:solidFill>
          </a:ln>
        </p:spPr>
        <p:txBody>
          <a:bodyPr wrap="square">
            <a:noAutofit/>
          </a:bodyPr>
          <a:lstStyle/>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_parse-json5.py ==========</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Washington</a:t>
            </a:r>
          </a:p>
          <a:p>
            <a:r>
              <a:rPr lang="en-US" altLang="en-US" sz="1100" dirty="0">
                <a:solidFill>
                  <a:srgbClr val="000000"/>
                </a:solidFill>
                <a:latin typeface="Courier New" panose="02070309020205020404" pitchFamily="49" charset="0"/>
                <a:cs typeface="Courier New" panose="02070309020205020404" pitchFamily="49" charset="0"/>
              </a:rPr>
              <a:t>Destination: </a:t>
            </a:r>
            <a:r>
              <a:rPr lang="en-US" altLang="en-US" sz="1100" b="1" dirty="0">
                <a:solidFill>
                  <a:srgbClr val="000000"/>
                </a:solidFill>
                <a:latin typeface="Courier New" panose="02070309020205020404" pitchFamily="49" charset="0"/>
                <a:cs typeface="Courier New" panose="02070309020205020404" pitchFamily="49" charset="0"/>
              </a:rPr>
              <a:t>Baltimore</a:t>
            </a:r>
          </a:p>
          <a:p>
            <a:r>
              <a:rPr lang="en-US" altLang="en-US" sz="1100" dirty="0">
                <a:solidFill>
                  <a:srgbClr val="000000"/>
                </a:solidFill>
                <a:latin typeface="Courier New" panose="02070309020205020404" pitchFamily="49" charset="0"/>
                <a:cs typeface="Courier New" panose="02070309020205020404" pitchFamily="49" charset="0"/>
              </a:rPr>
              <a:t>URL: https://www.mapquestapi.com/directions/v2/route?to=Baltimore&amp;key=Your_api_key&amp;from=Washington</a:t>
            </a:r>
          </a:p>
          <a:p>
            <a:r>
              <a:rPr lang="en-US" altLang="en-US" sz="1100" dirty="0">
                <a:solidFill>
                  <a:srgbClr val="000000"/>
                </a:solidFill>
                <a:latin typeface="Courier New" panose="02070309020205020404" pitchFamily="49" charset="0"/>
                <a:cs typeface="Courier New" panose="02070309020205020404" pitchFamily="49" charset="0"/>
              </a:rPr>
              <a:t>API Status: 0 = A successful route call.</a:t>
            </a:r>
          </a:p>
          <a:p>
            <a:endParaRPr lang="en-US" altLang="en-US" sz="1100" dirty="0">
              <a:solidFill>
                <a:srgbClr val="000000"/>
              </a:solidFill>
              <a:latin typeface="Courier New" panose="02070309020205020404" pitchFamily="49" charset="0"/>
              <a:cs typeface="Courier New" panose="02070309020205020404" pitchFamily="49" charset="0"/>
            </a:endParaRPr>
          </a:p>
          <a:p>
            <a:r>
              <a:rPr lang="en-US" altLang="en-US" sz="1100" dirty="0">
                <a:solidFill>
                  <a:srgbClr val="000000"/>
                </a:solidFill>
                <a:latin typeface="Courier New" panose="02070309020205020404" pitchFamily="49" charset="0"/>
                <a:cs typeface="Courier New" panose="02070309020205020404" pitchFamily="49" charset="0"/>
              </a:rPr>
              <a:t>Directions from Washington to Baltimore</a:t>
            </a:r>
          </a:p>
          <a:p>
            <a:r>
              <a:rPr lang="en-US" altLang="en-US" sz="1100" dirty="0">
                <a:solidFill>
                  <a:srgbClr val="000000"/>
                </a:solidFill>
                <a:latin typeface="Courier New" panose="02070309020205020404" pitchFamily="49" charset="0"/>
                <a:cs typeface="Courier New" panose="02070309020205020404" pitchFamily="49" charset="0"/>
              </a:rPr>
              <a:t>Trip Duration:   00:49:19</a:t>
            </a:r>
          </a:p>
          <a:p>
            <a:r>
              <a:rPr lang="en-US" altLang="en-US" sz="1100" dirty="0">
                <a:solidFill>
                  <a:srgbClr val="000000"/>
                </a:solidFill>
                <a:latin typeface="Courier New" panose="02070309020205020404" pitchFamily="49" charset="0"/>
                <a:cs typeface="Courier New" panose="02070309020205020404" pitchFamily="49" charset="0"/>
              </a:rPr>
              <a:t>Miles:           38.089</a:t>
            </a:r>
          </a:p>
          <a:p>
            <a:r>
              <a:rPr lang="en-US" altLang="en-US" sz="1100" dirty="0">
                <a:solidFill>
                  <a:srgbClr val="000000"/>
                </a:solidFill>
                <a:latin typeface="Courier New" panose="02070309020205020404" pitchFamily="49" charset="0"/>
                <a:cs typeface="Courier New" panose="02070309020205020404" pitchFamily="49" charset="0"/>
              </a:rPr>
              <a:t>Fuel Used (Gal): 1.65</a:t>
            </a:r>
          </a:p>
          <a:p>
            <a:r>
              <a:rPr lang="en-US" altLang="en-US" sz="1100" dirty="0">
                <a:solidFill>
                  <a:srgbClr val="000000"/>
                </a:solidFill>
                <a:latin typeface="Courier New" panose="02070309020205020404" pitchFamily="49" charset="0"/>
                <a:cs typeface="Courier New" panose="02070309020205020404" pitchFamily="49" charset="0"/>
              </a:rPr>
              <a:t>=============================================</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q</a:t>
            </a:r>
          </a:p>
          <a:p>
            <a:r>
              <a:rPr lang="en-US" altLang="en-US" sz="1100" dirty="0">
                <a:solidFill>
                  <a:srgbClr val="000000"/>
                </a:solidFill>
                <a:latin typeface="Courier New" panose="02070309020205020404" pitchFamily="49" charset="0"/>
                <a:cs typeface="Courier New" panose="02070309020205020404" pitchFamily="49" charset="0"/>
              </a:rPr>
              <a:t>&gt;&gt;&gt;</a:t>
            </a:r>
          </a:p>
        </p:txBody>
      </p:sp>
    </p:spTree>
    <p:extLst>
      <p:ext uri="{BB962C8B-B14F-4D97-AF65-F5344CB8AC3E}">
        <p14:creationId xmlns:p14="http://schemas.microsoft.com/office/powerpoint/2010/main" val="4227144402"/>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3D9C4EE4-D318-4653-A8E0-F5A3377B809C}"/>
              </a:ext>
            </a:extLst>
          </p:cNvPr>
          <p:cNvSpPr>
            <a:spLocks noGrp="1"/>
          </p:cNvSpPr>
          <p:nvPr>
            <p:ph type="body" sz="quarter" idx="10"/>
          </p:nvPr>
        </p:nvSpPr>
        <p:spPr>
          <a:xfrm>
            <a:off x="311727" y="991254"/>
            <a:ext cx="7245013" cy="1311999"/>
          </a:xfrm>
        </p:spPr>
        <p:txBody>
          <a:bodyPr>
            <a:normAutofit/>
          </a:bodyPr>
          <a:lstStyle/>
          <a:p>
            <a:pPr marL="57136" indent="0">
              <a:buNone/>
            </a:pPr>
            <a:r>
              <a:rPr lang="en-US" sz="2400" dirty="0"/>
              <a:t>Convert the </a:t>
            </a:r>
            <a:r>
              <a:rPr lang="en-US" sz="2400" b="1" dirty="0"/>
              <a:t>distance</a:t>
            </a:r>
            <a:r>
              <a:rPr lang="en-US" sz="2400" dirty="0"/>
              <a:t> and </a:t>
            </a:r>
            <a:r>
              <a:rPr lang="en-US" sz="2400" b="1" dirty="0" err="1"/>
              <a:t>fuelUsed</a:t>
            </a:r>
            <a:r>
              <a:rPr lang="en-US" sz="2400" dirty="0"/>
              <a:t> values to the metric system.</a:t>
            </a:r>
          </a:p>
        </p:txBody>
      </p:sp>
      <p:sp>
        <p:nvSpPr>
          <p:cNvPr id="8" name="Title 7">
            <a:extLst>
              <a:ext uri="{FF2B5EF4-FFF2-40B4-BE49-F238E27FC236}">
                <a16:creationId xmlns:a16="http://schemas.microsoft.com/office/drawing/2014/main" id="{F4750EDD-B7FA-4B65-BEF1-EF02089E5DB6}"/>
              </a:ext>
            </a:extLst>
          </p:cNvPr>
          <p:cNvSpPr>
            <a:spLocks noGrp="1"/>
          </p:cNvSpPr>
          <p:nvPr>
            <p:ph type="title"/>
          </p:nvPr>
        </p:nvSpPr>
        <p:spPr/>
        <p:txBody>
          <a:bodyPr/>
          <a:lstStyle/>
          <a:p>
            <a:r>
              <a:rPr lang="en-US" dirty="0"/>
              <a:t>Convert Imperial to Metric</a:t>
            </a:r>
          </a:p>
        </p:txBody>
      </p:sp>
      <p:sp>
        <p:nvSpPr>
          <p:cNvPr id="5" name="Rectangle 4" descr="Convert distance and fuelUsed to metric values.">
            <a:extLst>
              <a:ext uri="{FF2B5EF4-FFF2-40B4-BE49-F238E27FC236}">
                <a16:creationId xmlns:a16="http://schemas.microsoft.com/office/drawing/2014/main" id="{925BB448-BE2E-4936-A8D6-9A77EE9A9ED9}"/>
              </a:ext>
            </a:extLst>
          </p:cNvPr>
          <p:cNvSpPr/>
          <p:nvPr/>
        </p:nvSpPr>
        <p:spPr>
          <a:xfrm>
            <a:off x="1540208" y="2993170"/>
            <a:ext cx="909694" cy="181351"/>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descr="Convert distance and fuelUsed to metric values.">
            <a:extLst>
              <a:ext uri="{FF2B5EF4-FFF2-40B4-BE49-F238E27FC236}">
                <a16:creationId xmlns:a16="http://schemas.microsoft.com/office/drawing/2014/main" id="{CC01BE9E-5F5A-4633-B44C-48D617150FC8}"/>
              </a:ext>
            </a:extLst>
          </p:cNvPr>
          <p:cNvSpPr/>
          <p:nvPr/>
        </p:nvSpPr>
        <p:spPr>
          <a:xfrm>
            <a:off x="2540872" y="3191578"/>
            <a:ext cx="297219" cy="155471"/>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descr="Convert distance and fuelUsed to metric values.">
            <a:extLst>
              <a:ext uri="{FF2B5EF4-FFF2-40B4-BE49-F238E27FC236}">
                <a16:creationId xmlns:a16="http://schemas.microsoft.com/office/drawing/2014/main" id="{E3E577DC-2277-488B-97DC-F05CE234FB76}"/>
              </a:ext>
            </a:extLst>
          </p:cNvPr>
          <p:cNvSpPr/>
          <p:nvPr/>
        </p:nvSpPr>
        <p:spPr>
          <a:xfrm>
            <a:off x="6879959" y="3010423"/>
            <a:ext cx="366230" cy="146845"/>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descr="Convert distance and fuelUsed to metric values.">
            <a:extLst>
              <a:ext uri="{FF2B5EF4-FFF2-40B4-BE49-F238E27FC236}">
                <a16:creationId xmlns:a16="http://schemas.microsoft.com/office/drawing/2014/main" id="{B368F8B9-8DD6-4473-9646-F5C4D297D718}"/>
              </a:ext>
            </a:extLst>
          </p:cNvPr>
          <p:cNvSpPr/>
          <p:nvPr/>
        </p:nvSpPr>
        <p:spPr>
          <a:xfrm>
            <a:off x="6879959" y="3191577"/>
            <a:ext cx="366230" cy="146845"/>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CD38B62-13B2-431D-B967-18CE52536F5B}"/>
              </a:ext>
            </a:extLst>
          </p:cNvPr>
          <p:cNvSpPr/>
          <p:nvPr/>
        </p:nvSpPr>
        <p:spPr>
          <a:xfrm>
            <a:off x="436419" y="2950234"/>
            <a:ext cx="7163453" cy="560718"/>
          </a:xfrm>
          <a:prstGeom prst="rect">
            <a:avLst/>
          </a:prstGeom>
          <a:ln>
            <a:solidFill>
              <a:schemeClr val="tx1"/>
            </a:solidFill>
          </a:ln>
        </p:spPr>
        <p:txBody>
          <a:bodyPr wrap="square">
            <a:noAutofit/>
          </a:bodyPr>
          <a:lstStyle/>
          <a:p>
            <a:r>
              <a:rPr lang="en-US" altLang="en-US" sz="1200" dirty="0">
                <a:solidFill>
                  <a:srgbClr val="000000"/>
                </a:solidFill>
                <a:latin typeface="Courier New" panose="02070309020205020404" pitchFamily="49" charset="0"/>
                <a:cs typeface="Courier New" panose="02070309020205020404" pitchFamily="49" charset="0"/>
              </a:rPr>
              <a:t>    print("Kilometers:      " + str((</a:t>
            </a:r>
            <a:r>
              <a:rPr lang="en-US" altLang="en-US" sz="1200" dirty="0" err="1">
                <a:solidFill>
                  <a:srgbClr val="000000"/>
                </a:solidFill>
                <a:latin typeface="Courier New" panose="02070309020205020404" pitchFamily="49" charset="0"/>
                <a:cs typeface="Courier New" panose="02070309020205020404" pitchFamily="49" charset="0"/>
              </a:rPr>
              <a:t>json_data</a:t>
            </a:r>
            <a:r>
              <a:rPr lang="en-US" altLang="en-US" sz="1200" dirty="0">
                <a:solidFill>
                  <a:srgbClr val="000000"/>
                </a:solidFill>
                <a:latin typeface="Courier New" panose="02070309020205020404" pitchFamily="49" charset="0"/>
                <a:cs typeface="Courier New" panose="02070309020205020404" pitchFamily="49" charset="0"/>
              </a:rPr>
              <a:t>["route"]["distance"])*1.61))</a:t>
            </a:r>
          </a:p>
          <a:p>
            <a:r>
              <a:rPr lang="en-US" altLang="en-US" sz="1200" dirty="0">
                <a:solidFill>
                  <a:srgbClr val="000000"/>
                </a:solidFill>
                <a:latin typeface="Courier New" panose="02070309020205020404" pitchFamily="49" charset="0"/>
                <a:cs typeface="Courier New" panose="02070309020205020404" pitchFamily="49" charset="0"/>
              </a:rPr>
              <a:t>    print("Fuel Used (</a:t>
            </a:r>
            <a:r>
              <a:rPr lang="en-US" altLang="en-US" sz="1200" dirty="0" err="1">
                <a:solidFill>
                  <a:srgbClr val="000000"/>
                </a:solidFill>
                <a:latin typeface="Courier New" panose="02070309020205020404" pitchFamily="49" charset="0"/>
                <a:cs typeface="Courier New" panose="02070309020205020404" pitchFamily="49" charset="0"/>
              </a:rPr>
              <a:t>Ltr</a:t>
            </a:r>
            <a:r>
              <a:rPr lang="en-US" altLang="en-US" sz="1200" dirty="0">
                <a:solidFill>
                  <a:srgbClr val="000000"/>
                </a:solidFill>
                <a:latin typeface="Courier New" panose="02070309020205020404" pitchFamily="49" charset="0"/>
                <a:cs typeface="Courier New" panose="02070309020205020404" pitchFamily="49" charset="0"/>
              </a:rPr>
              <a:t>): " + str((</a:t>
            </a:r>
            <a:r>
              <a:rPr lang="en-US" altLang="en-US" sz="1200" dirty="0" err="1">
                <a:solidFill>
                  <a:srgbClr val="000000"/>
                </a:solidFill>
                <a:latin typeface="Courier New" panose="02070309020205020404" pitchFamily="49" charset="0"/>
                <a:cs typeface="Courier New" panose="02070309020205020404" pitchFamily="49" charset="0"/>
              </a:rPr>
              <a:t>json_data</a:t>
            </a:r>
            <a:r>
              <a:rPr lang="en-US" altLang="en-US" sz="1200" dirty="0">
                <a:solidFill>
                  <a:srgbClr val="000000"/>
                </a:solidFill>
                <a:latin typeface="Courier New" panose="02070309020205020404" pitchFamily="49" charset="0"/>
                <a:cs typeface="Courier New" panose="02070309020205020404" pitchFamily="49" charset="0"/>
              </a:rPr>
              <a:t>["route"]["</a:t>
            </a:r>
            <a:r>
              <a:rPr lang="en-US" altLang="en-US" sz="1200" dirty="0" err="1">
                <a:solidFill>
                  <a:srgbClr val="000000"/>
                </a:solidFill>
                <a:latin typeface="Courier New" panose="02070309020205020404" pitchFamily="49" charset="0"/>
                <a:cs typeface="Courier New" panose="02070309020205020404" pitchFamily="49" charset="0"/>
              </a:rPr>
              <a:t>fuelUsed</a:t>
            </a:r>
            <a:r>
              <a:rPr lang="en-US" altLang="en-US" sz="1200" dirty="0">
                <a:solidFill>
                  <a:srgbClr val="000000"/>
                </a:solidFill>
                <a:latin typeface="Courier New" panose="02070309020205020404" pitchFamily="49" charset="0"/>
                <a:cs typeface="Courier New" panose="02070309020205020404" pitchFamily="49" charset="0"/>
              </a:rPr>
              <a:t>"])*3.78))</a:t>
            </a:r>
          </a:p>
        </p:txBody>
      </p:sp>
    </p:spTree>
    <p:extLst>
      <p:ext uri="{BB962C8B-B14F-4D97-AF65-F5344CB8AC3E}">
        <p14:creationId xmlns:p14="http://schemas.microsoft.com/office/powerpoint/2010/main" val="162758828"/>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347788"/>
            <a:ext cx="3190792" cy="3168210"/>
          </a:xfrm>
        </p:spPr>
        <p:txBody>
          <a:bodyPr>
            <a:normAutofit fontScale="77500" lnSpcReduction="20000"/>
          </a:bodyPr>
          <a:lstStyle/>
          <a:p>
            <a:pPr marL="344488" indent="-288925">
              <a:buFont typeface="+mj-lt"/>
              <a:buAutoNum type="arabicPeriod"/>
            </a:pPr>
            <a:r>
              <a:rPr lang="en-US" dirty="0"/>
              <a:t>Run your </a:t>
            </a:r>
            <a:r>
              <a:rPr lang="en-US" b="1" i="1" dirty="0"/>
              <a:t> studentname</a:t>
            </a:r>
            <a:r>
              <a:rPr lang="en-US" b="1" dirty="0"/>
              <a:t>_json-parse5.py</a:t>
            </a:r>
            <a:r>
              <a:rPr lang="en-US" dirty="0"/>
              <a:t> script and verify it works. </a:t>
            </a:r>
          </a:p>
          <a:p>
            <a:pPr marL="344488" indent="-288925">
              <a:buFont typeface="+mj-lt"/>
              <a:buAutoNum type="arabicPeriod"/>
            </a:pPr>
            <a:r>
              <a:rPr lang="en-US" dirty="0"/>
              <a:t>Troubleshoot your code, if necessary. </a:t>
            </a:r>
          </a:p>
          <a:p>
            <a:pPr marL="344488" indent="-288925">
              <a:buFont typeface="+mj-lt"/>
              <a:buAutoNum type="arabicPeriod"/>
            </a:pPr>
            <a:r>
              <a:rPr lang="en-US" dirty="0"/>
              <a:t>You should get a similar output to what is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Activity - Test Metric Conversion</a:t>
            </a:r>
          </a:p>
        </p:txBody>
      </p:sp>
      <p:sp>
        <p:nvSpPr>
          <p:cNvPr id="6" name="Rectangle 5" descr="Test your metric conversions.">
            <a:extLst>
              <a:ext uri="{FF2B5EF4-FFF2-40B4-BE49-F238E27FC236}">
                <a16:creationId xmlns:a16="http://schemas.microsoft.com/office/drawing/2014/main" id="{8B0269AC-2D36-46C8-A564-5A5651E663C3}"/>
              </a:ext>
            </a:extLst>
          </p:cNvPr>
          <p:cNvSpPr/>
          <p:nvPr/>
        </p:nvSpPr>
        <p:spPr>
          <a:xfrm>
            <a:off x="3550163" y="2932786"/>
            <a:ext cx="2169150" cy="172724"/>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descr="Test your metric conversions.">
            <a:extLst>
              <a:ext uri="{FF2B5EF4-FFF2-40B4-BE49-F238E27FC236}">
                <a16:creationId xmlns:a16="http://schemas.microsoft.com/office/drawing/2014/main" id="{D56F2A77-95FD-4C3E-A709-D6622DEDCF6B}"/>
              </a:ext>
            </a:extLst>
          </p:cNvPr>
          <p:cNvSpPr/>
          <p:nvPr/>
        </p:nvSpPr>
        <p:spPr>
          <a:xfrm>
            <a:off x="3550162" y="3105314"/>
            <a:ext cx="2902395" cy="181350"/>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B3EA4B7-4464-47AD-9E64-A1C931920ECE}"/>
              </a:ext>
            </a:extLst>
          </p:cNvPr>
          <p:cNvSpPr/>
          <p:nvPr/>
        </p:nvSpPr>
        <p:spPr>
          <a:xfrm>
            <a:off x="3491345" y="1223681"/>
            <a:ext cx="5204247" cy="3535355"/>
          </a:xfrm>
          <a:prstGeom prst="rect">
            <a:avLst/>
          </a:prstGeom>
          <a:ln>
            <a:solidFill>
              <a:schemeClr val="tx1"/>
            </a:solidFill>
          </a:ln>
        </p:spPr>
        <p:txBody>
          <a:bodyPr wrap="square">
            <a:noAutofit/>
          </a:bodyPr>
          <a:lstStyle/>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_parse-json5.py ==========</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Washington</a:t>
            </a:r>
          </a:p>
          <a:p>
            <a:r>
              <a:rPr lang="en-US" altLang="en-US" sz="1100" dirty="0">
                <a:solidFill>
                  <a:srgbClr val="000000"/>
                </a:solidFill>
                <a:latin typeface="Courier New" panose="02070309020205020404" pitchFamily="49" charset="0"/>
                <a:cs typeface="Courier New" panose="02070309020205020404" pitchFamily="49" charset="0"/>
              </a:rPr>
              <a:t>Destination: </a:t>
            </a:r>
            <a:r>
              <a:rPr lang="en-US" altLang="en-US" sz="1100" b="1" dirty="0">
                <a:solidFill>
                  <a:srgbClr val="000000"/>
                </a:solidFill>
                <a:latin typeface="Courier New" panose="02070309020205020404" pitchFamily="49" charset="0"/>
                <a:cs typeface="Courier New" panose="02070309020205020404" pitchFamily="49" charset="0"/>
              </a:rPr>
              <a:t>Baltimore</a:t>
            </a:r>
          </a:p>
          <a:p>
            <a:r>
              <a:rPr lang="en-US" altLang="en-US" sz="1100" dirty="0">
                <a:solidFill>
                  <a:srgbClr val="000000"/>
                </a:solidFill>
                <a:latin typeface="Courier New" panose="02070309020205020404" pitchFamily="49" charset="0"/>
                <a:cs typeface="Courier New" panose="02070309020205020404" pitchFamily="49" charset="0"/>
              </a:rPr>
              <a:t>URL: https://www.mapquestapi.com/directions/v2/route?to=Baltimore&amp;key=Your_api_key&amp;from=Washington</a:t>
            </a:r>
          </a:p>
          <a:p>
            <a:r>
              <a:rPr lang="en-US" altLang="en-US" sz="1100" dirty="0">
                <a:solidFill>
                  <a:srgbClr val="000000"/>
                </a:solidFill>
                <a:latin typeface="Courier New" panose="02070309020205020404" pitchFamily="49" charset="0"/>
                <a:cs typeface="Courier New" panose="02070309020205020404" pitchFamily="49" charset="0"/>
              </a:rPr>
              <a:t>API Status: 0 = A successful route call.</a:t>
            </a:r>
          </a:p>
          <a:p>
            <a:endParaRPr lang="en-US" altLang="en-US" sz="1100" dirty="0">
              <a:solidFill>
                <a:srgbClr val="000000"/>
              </a:solidFill>
              <a:latin typeface="Courier New" panose="02070309020205020404" pitchFamily="49" charset="0"/>
              <a:cs typeface="Courier New" panose="02070309020205020404" pitchFamily="49" charset="0"/>
            </a:endParaRPr>
          </a:p>
          <a:p>
            <a:r>
              <a:rPr lang="en-US" altLang="en-US" sz="1100" dirty="0">
                <a:solidFill>
                  <a:srgbClr val="000000"/>
                </a:solidFill>
                <a:latin typeface="Courier New" panose="02070309020205020404" pitchFamily="49" charset="0"/>
                <a:cs typeface="Courier New" panose="02070309020205020404" pitchFamily="49" charset="0"/>
              </a:rPr>
              <a:t>Directions from Washington to Baltimore</a:t>
            </a:r>
          </a:p>
          <a:p>
            <a:r>
              <a:rPr lang="en-US" altLang="en-US" sz="1100" dirty="0">
                <a:solidFill>
                  <a:srgbClr val="000000"/>
                </a:solidFill>
                <a:latin typeface="Courier New" panose="02070309020205020404" pitchFamily="49" charset="0"/>
                <a:cs typeface="Courier New" panose="02070309020205020404" pitchFamily="49" charset="0"/>
              </a:rPr>
              <a:t>Trip Duration:   00:49:19</a:t>
            </a:r>
          </a:p>
          <a:p>
            <a:r>
              <a:rPr lang="en-US" altLang="en-US" sz="1100" dirty="0">
                <a:solidFill>
                  <a:srgbClr val="000000"/>
                </a:solidFill>
                <a:latin typeface="Courier New" panose="02070309020205020404" pitchFamily="49" charset="0"/>
                <a:cs typeface="Courier New" panose="02070309020205020404" pitchFamily="49" charset="0"/>
              </a:rPr>
              <a:t>Kilometers:      61.32329</a:t>
            </a:r>
          </a:p>
          <a:p>
            <a:r>
              <a:rPr lang="en-US" altLang="en-US" sz="1100" dirty="0">
                <a:solidFill>
                  <a:srgbClr val="000000"/>
                </a:solidFill>
                <a:latin typeface="Courier New" panose="02070309020205020404" pitchFamily="49" charset="0"/>
                <a:cs typeface="Courier New" panose="02070309020205020404" pitchFamily="49" charset="0"/>
              </a:rPr>
              <a:t>Fuel Used (</a:t>
            </a:r>
            <a:r>
              <a:rPr lang="en-US" altLang="en-US" sz="1100" dirty="0" err="1">
                <a:solidFill>
                  <a:srgbClr val="000000"/>
                </a:solidFill>
                <a:latin typeface="Courier New" panose="02070309020205020404" pitchFamily="49" charset="0"/>
                <a:cs typeface="Courier New" panose="02070309020205020404" pitchFamily="49" charset="0"/>
              </a:rPr>
              <a:t>Ltr</a:t>
            </a:r>
            <a:r>
              <a:rPr lang="en-US" altLang="en-US" sz="1100" dirty="0">
                <a:solidFill>
                  <a:srgbClr val="000000"/>
                </a:solidFill>
                <a:latin typeface="Courier New" panose="02070309020205020404" pitchFamily="49" charset="0"/>
                <a:cs typeface="Courier New" panose="02070309020205020404" pitchFamily="49" charset="0"/>
              </a:rPr>
              <a:t>): 6.236999999999999</a:t>
            </a:r>
          </a:p>
          <a:p>
            <a:r>
              <a:rPr lang="en-US" altLang="en-US" sz="1100" dirty="0">
                <a:solidFill>
                  <a:srgbClr val="000000"/>
                </a:solidFill>
                <a:latin typeface="Courier New" panose="02070309020205020404" pitchFamily="49" charset="0"/>
                <a:cs typeface="Courier New" panose="02070309020205020404" pitchFamily="49" charset="0"/>
              </a:rPr>
              <a:t>=============================================</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q</a:t>
            </a:r>
          </a:p>
          <a:p>
            <a:r>
              <a:rPr lang="en-US" altLang="en-US" sz="1100" dirty="0">
                <a:solidFill>
                  <a:srgbClr val="000000"/>
                </a:solidFill>
                <a:latin typeface="Courier New" panose="02070309020205020404" pitchFamily="49" charset="0"/>
                <a:cs typeface="Courier New" panose="02070309020205020404" pitchFamily="49" charset="0"/>
              </a:rPr>
              <a:t>&gt;&gt;&gt;</a:t>
            </a:r>
          </a:p>
        </p:txBody>
      </p:sp>
    </p:spTree>
    <p:extLst>
      <p:ext uri="{BB962C8B-B14F-4D97-AF65-F5344CB8AC3E}">
        <p14:creationId xmlns:p14="http://schemas.microsoft.com/office/powerpoint/2010/main" val="2890952675"/>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3D9C4EE4-D318-4653-A8E0-F5A3377B809C}"/>
              </a:ext>
            </a:extLst>
          </p:cNvPr>
          <p:cNvSpPr>
            <a:spLocks noGrp="1"/>
          </p:cNvSpPr>
          <p:nvPr>
            <p:ph type="body" sz="quarter" idx="10"/>
          </p:nvPr>
        </p:nvSpPr>
        <p:spPr>
          <a:xfrm>
            <a:off x="311727" y="991254"/>
            <a:ext cx="8142160" cy="1648251"/>
          </a:xfrm>
        </p:spPr>
        <p:txBody>
          <a:bodyPr>
            <a:noAutofit/>
          </a:bodyPr>
          <a:lstStyle/>
          <a:p>
            <a:pPr marL="57136" indent="0">
              <a:buNone/>
            </a:pPr>
            <a:r>
              <a:rPr lang="en-US" sz="2400" dirty="0"/>
              <a:t>Use the </a:t>
            </a:r>
            <a:r>
              <a:rPr lang="en-US" sz="2400" b="1" dirty="0"/>
              <a:t>"{:.2f}".format</a:t>
            </a:r>
            <a:r>
              <a:rPr lang="en-US" sz="2400" dirty="0"/>
              <a:t> argument to format the float values to 2 decimal places before converting them to string values, as shown below. </a:t>
            </a:r>
          </a:p>
          <a:p>
            <a:pPr marL="57136" indent="0">
              <a:buNone/>
            </a:pPr>
            <a:r>
              <a:rPr lang="en-US" sz="2400" dirty="0"/>
              <a:t>Each statement should be on one line.</a:t>
            </a:r>
          </a:p>
        </p:txBody>
      </p:sp>
      <p:sp>
        <p:nvSpPr>
          <p:cNvPr id="8" name="Title 7">
            <a:extLst>
              <a:ext uri="{FF2B5EF4-FFF2-40B4-BE49-F238E27FC236}">
                <a16:creationId xmlns:a16="http://schemas.microsoft.com/office/drawing/2014/main" id="{F4750EDD-B7FA-4B65-BEF1-EF02089E5DB6}"/>
              </a:ext>
            </a:extLst>
          </p:cNvPr>
          <p:cNvSpPr>
            <a:spLocks noGrp="1"/>
          </p:cNvSpPr>
          <p:nvPr>
            <p:ph type="title"/>
          </p:nvPr>
        </p:nvSpPr>
        <p:spPr/>
        <p:txBody>
          <a:bodyPr/>
          <a:lstStyle/>
          <a:p>
            <a:r>
              <a:rPr lang="en-US" dirty="0"/>
              <a:t>Format to 2 Decimal Places</a:t>
            </a:r>
          </a:p>
        </p:txBody>
      </p:sp>
      <p:sp>
        <p:nvSpPr>
          <p:cNvPr id="5" name="Rectangle 4" descr="Format your string to two places.">
            <a:extLst>
              <a:ext uri="{FF2B5EF4-FFF2-40B4-BE49-F238E27FC236}">
                <a16:creationId xmlns:a16="http://schemas.microsoft.com/office/drawing/2014/main" id="{925BB448-BE2E-4936-A8D6-9A77EE9A9ED9}"/>
              </a:ext>
            </a:extLst>
          </p:cNvPr>
          <p:cNvSpPr/>
          <p:nvPr/>
        </p:nvSpPr>
        <p:spPr>
          <a:xfrm>
            <a:off x="3286663" y="3010422"/>
            <a:ext cx="1388853" cy="155471"/>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descr="Format your string to two places.">
            <a:extLst>
              <a:ext uri="{FF2B5EF4-FFF2-40B4-BE49-F238E27FC236}">
                <a16:creationId xmlns:a16="http://schemas.microsoft.com/office/drawing/2014/main" id="{013EEA91-CFDA-4922-BE5C-CF297526EE92}"/>
              </a:ext>
            </a:extLst>
          </p:cNvPr>
          <p:cNvSpPr/>
          <p:nvPr/>
        </p:nvSpPr>
        <p:spPr>
          <a:xfrm>
            <a:off x="3286663" y="3182950"/>
            <a:ext cx="1388853" cy="155471"/>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CD38B62-13B2-431D-B967-18CE52536F5B}"/>
              </a:ext>
            </a:extLst>
          </p:cNvPr>
          <p:cNvSpPr/>
          <p:nvPr/>
        </p:nvSpPr>
        <p:spPr>
          <a:xfrm>
            <a:off x="155275" y="2950234"/>
            <a:ext cx="8583283" cy="560718"/>
          </a:xfrm>
          <a:prstGeom prst="rect">
            <a:avLst/>
          </a:prstGeom>
          <a:ln>
            <a:solidFill>
              <a:schemeClr val="tx1"/>
            </a:solidFill>
          </a:ln>
        </p:spPr>
        <p:txBody>
          <a:bodyPr wrap="square">
            <a:noAutofit/>
          </a:bodyPr>
          <a:lstStyle/>
          <a:p>
            <a:r>
              <a:rPr lang="en-US" altLang="en-US" sz="1200" dirty="0">
                <a:solidFill>
                  <a:srgbClr val="000000"/>
                </a:solidFill>
                <a:latin typeface="Courier New" panose="02070309020205020404" pitchFamily="49" charset="0"/>
                <a:cs typeface="Courier New" panose="02070309020205020404" pitchFamily="49" charset="0"/>
              </a:rPr>
              <a:t> print("Kilometers:      " + str("{:.2f}".format((</a:t>
            </a:r>
            <a:r>
              <a:rPr lang="en-US" altLang="en-US" sz="1200" dirty="0" err="1">
                <a:solidFill>
                  <a:srgbClr val="000000"/>
                </a:solidFill>
                <a:latin typeface="Courier New" panose="02070309020205020404" pitchFamily="49" charset="0"/>
                <a:cs typeface="Courier New" panose="02070309020205020404" pitchFamily="49" charset="0"/>
              </a:rPr>
              <a:t>json_data</a:t>
            </a:r>
            <a:r>
              <a:rPr lang="en-US" altLang="en-US" sz="1200" dirty="0">
                <a:solidFill>
                  <a:srgbClr val="000000"/>
                </a:solidFill>
                <a:latin typeface="Courier New" panose="02070309020205020404" pitchFamily="49" charset="0"/>
                <a:cs typeface="Courier New" panose="02070309020205020404" pitchFamily="49" charset="0"/>
              </a:rPr>
              <a:t>["route"]["distance"])*1.61)))</a:t>
            </a:r>
          </a:p>
          <a:p>
            <a:r>
              <a:rPr lang="en-US" altLang="en-US" sz="1200" dirty="0">
                <a:solidFill>
                  <a:srgbClr val="000000"/>
                </a:solidFill>
                <a:latin typeface="Courier New" panose="02070309020205020404" pitchFamily="49" charset="0"/>
                <a:cs typeface="Courier New" panose="02070309020205020404" pitchFamily="49" charset="0"/>
              </a:rPr>
              <a:t> print("Fuel Used (</a:t>
            </a:r>
            <a:r>
              <a:rPr lang="en-US" altLang="en-US" sz="1200" dirty="0" err="1">
                <a:solidFill>
                  <a:srgbClr val="000000"/>
                </a:solidFill>
                <a:latin typeface="Courier New" panose="02070309020205020404" pitchFamily="49" charset="0"/>
                <a:cs typeface="Courier New" panose="02070309020205020404" pitchFamily="49" charset="0"/>
              </a:rPr>
              <a:t>Ltr</a:t>
            </a:r>
            <a:r>
              <a:rPr lang="en-US" altLang="en-US" sz="1200" dirty="0">
                <a:solidFill>
                  <a:srgbClr val="000000"/>
                </a:solidFill>
                <a:latin typeface="Courier New" panose="02070309020205020404" pitchFamily="49" charset="0"/>
                <a:cs typeface="Courier New" panose="02070309020205020404" pitchFamily="49" charset="0"/>
              </a:rPr>
              <a:t>): " + str("{:.2f}".format((</a:t>
            </a:r>
            <a:r>
              <a:rPr lang="en-US" altLang="en-US" sz="1200" dirty="0" err="1">
                <a:solidFill>
                  <a:srgbClr val="000000"/>
                </a:solidFill>
                <a:latin typeface="Courier New" panose="02070309020205020404" pitchFamily="49" charset="0"/>
                <a:cs typeface="Courier New" panose="02070309020205020404" pitchFamily="49" charset="0"/>
              </a:rPr>
              <a:t>json_data</a:t>
            </a:r>
            <a:r>
              <a:rPr lang="en-US" altLang="en-US" sz="1200" dirty="0">
                <a:solidFill>
                  <a:srgbClr val="000000"/>
                </a:solidFill>
                <a:latin typeface="Courier New" panose="02070309020205020404" pitchFamily="49" charset="0"/>
                <a:cs typeface="Courier New" panose="02070309020205020404" pitchFamily="49" charset="0"/>
              </a:rPr>
              <a:t>["route"]["</a:t>
            </a:r>
            <a:r>
              <a:rPr lang="en-US" altLang="en-US" sz="1200" dirty="0" err="1">
                <a:solidFill>
                  <a:srgbClr val="000000"/>
                </a:solidFill>
                <a:latin typeface="Courier New" panose="02070309020205020404" pitchFamily="49" charset="0"/>
                <a:cs typeface="Courier New" panose="02070309020205020404" pitchFamily="49" charset="0"/>
              </a:rPr>
              <a:t>fuelUsed</a:t>
            </a:r>
            <a:r>
              <a:rPr lang="en-US" altLang="en-US" sz="1200" dirty="0">
                <a:solidFill>
                  <a:srgbClr val="000000"/>
                </a:solidFill>
                <a:latin typeface="Courier New" panose="02070309020205020404" pitchFamily="49" charset="0"/>
                <a:cs typeface="Courier New" panose="02070309020205020404" pitchFamily="49" charset="0"/>
              </a:rPr>
              <a:t>"])*3.78)))</a:t>
            </a:r>
          </a:p>
        </p:txBody>
      </p:sp>
    </p:spTree>
    <p:extLst>
      <p:ext uri="{BB962C8B-B14F-4D97-AF65-F5344CB8AC3E}">
        <p14:creationId xmlns:p14="http://schemas.microsoft.com/office/powerpoint/2010/main" val="3588993407"/>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347788"/>
            <a:ext cx="3190792" cy="3168210"/>
          </a:xfrm>
        </p:spPr>
        <p:txBody>
          <a:bodyPr>
            <a:normAutofit fontScale="77500" lnSpcReduction="20000"/>
          </a:bodyPr>
          <a:lstStyle/>
          <a:p>
            <a:pPr marL="344488" indent="-288925">
              <a:buFont typeface="+mj-lt"/>
              <a:buAutoNum type="arabicPeriod"/>
            </a:pPr>
            <a:r>
              <a:rPr lang="en-US" dirty="0"/>
              <a:t>Run your </a:t>
            </a:r>
            <a:r>
              <a:rPr lang="en-US" b="1" i="1" dirty="0"/>
              <a:t> studentname</a:t>
            </a:r>
            <a:r>
              <a:rPr lang="en-US" b="1" dirty="0"/>
              <a:t>_json-parse5.py</a:t>
            </a:r>
            <a:r>
              <a:rPr lang="en-US" dirty="0"/>
              <a:t> script and verify it works. </a:t>
            </a:r>
          </a:p>
          <a:p>
            <a:pPr marL="344488" indent="-288925">
              <a:buFont typeface="+mj-lt"/>
              <a:buAutoNum type="arabicPeriod"/>
            </a:pPr>
            <a:r>
              <a:rPr lang="en-US" dirty="0"/>
              <a:t>Troubleshoot your code, if necessary. </a:t>
            </a:r>
          </a:p>
          <a:p>
            <a:pPr marL="344488" indent="-288925">
              <a:buFont typeface="+mj-lt"/>
              <a:buAutoNum type="arabicPeriod"/>
            </a:pPr>
            <a:r>
              <a:rPr lang="en-US" dirty="0"/>
              <a:t>You should get a similar output to what is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Activity - Test Formatting Decimal Places</a:t>
            </a:r>
          </a:p>
        </p:txBody>
      </p:sp>
      <p:sp>
        <p:nvSpPr>
          <p:cNvPr id="6" name="Rectangle 5" descr="Test your formatted decimal places.">
            <a:extLst>
              <a:ext uri="{FF2B5EF4-FFF2-40B4-BE49-F238E27FC236}">
                <a16:creationId xmlns:a16="http://schemas.microsoft.com/office/drawing/2014/main" id="{8B0269AC-2D36-46C8-A564-5A5651E663C3}"/>
              </a:ext>
            </a:extLst>
          </p:cNvPr>
          <p:cNvSpPr/>
          <p:nvPr/>
        </p:nvSpPr>
        <p:spPr>
          <a:xfrm>
            <a:off x="3550163" y="2932786"/>
            <a:ext cx="1936237" cy="181350"/>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descr="Test your formatted decimal places.">
            <a:extLst>
              <a:ext uri="{FF2B5EF4-FFF2-40B4-BE49-F238E27FC236}">
                <a16:creationId xmlns:a16="http://schemas.microsoft.com/office/drawing/2014/main" id="{D56F2A77-95FD-4C3E-A709-D6622DEDCF6B}"/>
              </a:ext>
            </a:extLst>
          </p:cNvPr>
          <p:cNvSpPr/>
          <p:nvPr/>
        </p:nvSpPr>
        <p:spPr>
          <a:xfrm>
            <a:off x="3550163" y="3105313"/>
            <a:ext cx="1936238" cy="189977"/>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B3EA4B7-4464-47AD-9E64-A1C931920ECE}"/>
              </a:ext>
            </a:extLst>
          </p:cNvPr>
          <p:cNvSpPr/>
          <p:nvPr/>
        </p:nvSpPr>
        <p:spPr>
          <a:xfrm>
            <a:off x="3491345" y="1223681"/>
            <a:ext cx="5204247" cy="3535355"/>
          </a:xfrm>
          <a:prstGeom prst="rect">
            <a:avLst/>
          </a:prstGeom>
          <a:ln>
            <a:solidFill>
              <a:schemeClr val="tx1"/>
            </a:solidFill>
          </a:ln>
        </p:spPr>
        <p:txBody>
          <a:bodyPr wrap="square">
            <a:noAutofit/>
          </a:bodyPr>
          <a:lstStyle/>
          <a:p>
            <a:r>
              <a:rPr lang="en-US" sz="1100" dirty="0">
                <a:solidFill>
                  <a:srgbClr val="000000"/>
                </a:solidFill>
                <a:latin typeface="Courier New" panose="02070309020205020404" pitchFamily="49" charset="0"/>
                <a:cs typeface="Courier New" panose="02070309020205020404" pitchFamily="49" charset="0"/>
              </a:rPr>
              <a:t>========== RESTART: /home/user/</a:t>
            </a:r>
            <a:r>
              <a:rPr lang="en-US" sz="1100" i="1" dirty="0">
                <a:solidFill>
                  <a:srgbClr val="000000"/>
                </a:solidFill>
                <a:latin typeface="Courier New" panose="02070309020205020404" pitchFamily="49" charset="0"/>
                <a:cs typeface="Courier New" panose="02070309020205020404" pitchFamily="49" charset="0"/>
              </a:rPr>
              <a:t>studentname</a:t>
            </a:r>
            <a:r>
              <a:rPr lang="en-US" sz="1100" dirty="0">
                <a:solidFill>
                  <a:srgbClr val="000000"/>
                </a:solidFill>
                <a:latin typeface="Courier New" panose="02070309020205020404" pitchFamily="49" charset="0"/>
                <a:cs typeface="Courier New" panose="02070309020205020404" pitchFamily="49" charset="0"/>
              </a:rPr>
              <a:t>_parse-json5.py ==========</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Washington</a:t>
            </a:r>
          </a:p>
          <a:p>
            <a:r>
              <a:rPr lang="en-US" altLang="en-US" sz="1100" dirty="0">
                <a:solidFill>
                  <a:srgbClr val="000000"/>
                </a:solidFill>
                <a:latin typeface="Courier New" panose="02070309020205020404" pitchFamily="49" charset="0"/>
                <a:cs typeface="Courier New" panose="02070309020205020404" pitchFamily="49" charset="0"/>
              </a:rPr>
              <a:t>Destination: </a:t>
            </a:r>
            <a:r>
              <a:rPr lang="en-US" altLang="en-US" sz="1100" b="1" dirty="0">
                <a:solidFill>
                  <a:srgbClr val="000000"/>
                </a:solidFill>
                <a:latin typeface="Courier New" panose="02070309020205020404" pitchFamily="49" charset="0"/>
                <a:cs typeface="Courier New" panose="02070309020205020404" pitchFamily="49" charset="0"/>
              </a:rPr>
              <a:t>Baltimore</a:t>
            </a:r>
          </a:p>
          <a:p>
            <a:r>
              <a:rPr lang="en-US" altLang="en-US" sz="1100" dirty="0">
                <a:solidFill>
                  <a:srgbClr val="000000"/>
                </a:solidFill>
                <a:latin typeface="Courier New" panose="02070309020205020404" pitchFamily="49" charset="0"/>
                <a:cs typeface="Courier New" panose="02070309020205020404" pitchFamily="49" charset="0"/>
              </a:rPr>
              <a:t>URL: https://www.mapquestapi.com/directions/v2/route?key=your_api_key&amp;to=Baltimore&amp;from=Washington</a:t>
            </a:r>
          </a:p>
          <a:p>
            <a:r>
              <a:rPr lang="en-US" altLang="en-US" sz="1100" dirty="0">
                <a:solidFill>
                  <a:srgbClr val="000000"/>
                </a:solidFill>
                <a:latin typeface="Courier New" panose="02070309020205020404" pitchFamily="49" charset="0"/>
                <a:cs typeface="Courier New" panose="02070309020205020404" pitchFamily="49" charset="0"/>
              </a:rPr>
              <a:t>API Status: 0 = A successful route call.</a:t>
            </a:r>
          </a:p>
          <a:p>
            <a:endParaRPr lang="en-US" altLang="en-US" sz="1100" dirty="0">
              <a:solidFill>
                <a:srgbClr val="000000"/>
              </a:solidFill>
              <a:latin typeface="Courier New" panose="02070309020205020404" pitchFamily="49" charset="0"/>
              <a:cs typeface="Courier New" panose="02070309020205020404" pitchFamily="49" charset="0"/>
            </a:endParaRPr>
          </a:p>
          <a:p>
            <a:r>
              <a:rPr lang="en-US" altLang="en-US" sz="1100" dirty="0">
                <a:solidFill>
                  <a:srgbClr val="000000"/>
                </a:solidFill>
                <a:latin typeface="Courier New" panose="02070309020205020404" pitchFamily="49" charset="0"/>
                <a:cs typeface="Courier New" panose="02070309020205020404" pitchFamily="49" charset="0"/>
              </a:rPr>
              <a:t>Directions from Washington to Baltimore</a:t>
            </a:r>
          </a:p>
          <a:p>
            <a:r>
              <a:rPr lang="en-US" altLang="en-US" sz="1100" dirty="0">
                <a:solidFill>
                  <a:srgbClr val="000000"/>
                </a:solidFill>
                <a:latin typeface="Courier New" panose="02070309020205020404" pitchFamily="49" charset="0"/>
                <a:cs typeface="Courier New" panose="02070309020205020404" pitchFamily="49" charset="0"/>
              </a:rPr>
              <a:t>Trip Duration:   00:49:19</a:t>
            </a:r>
          </a:p>
          <a:p>
            <a:r>
              <a:rPr lang="en-US" altLang="en-US" sz="1100" dirty="0">
                <a:solidFill>
                  <a:srgbClr val="000000"/>
                </a:solidFill>
                <a:latin typeface="Courier New" panose="02070309020205020404" pitchFamily="49" charset="0"/>
                <a:cs typeface="Courier New" panose="02070309020205020404" pitchFamily="49" charset="0"/>
              </a:rPr>
              <a:t>Kilometers:      61.32</a:t>
            </a:r>
          </a:p>
          <a:p>
            <a:r>
              <a:rPr lang="en-US" altLang="en-US" sz="1100" dirty="0">
                <a:solidFill>
                  <a:srgbClr val="000000"/>
                </a:solidFill>
                <a:latin typeface="Courier New" panose="02070309020205020404" pitchFamily="49" charset="0"/>
                <a:cs typeface="Courier New" panose="02070309020205020404" pitchFamily="49" charset="0"/>
              </a:rPr>
              <a:t>Fuel Used (</a:t>
            </a:r>
            <a:r>
              <a:rPr lang="en-US" altLang="en-US" sz="1100" dirty="0" err="1">
                <a:solidFill>
                  <a:srgbClr val="000000"/>
                </a:solidFill>
                <a:latin typeface="Courier New" panose="02070309020205020404" pitchFamily="49" charset="0"/>
                <a:cs typeface="Courier New" panose="02070309020205020404" pitchFamily="49" charset="0"/>
              </a:rPr>
              <a:t>Ltr</a:t>
            </a:r>
            <a:r>
              <a:rPr lang="en-US" altLang="en-US" sz="1100" dirty="0">
                <a:solidFill>
                  <a:srgbClr val="000000"/>
                </a:solidFill>
                <a:latin typeface="Courier New" panose="02070309020205020404" pitchFamily="49" charset="0"/>
                <a:cs typeface="Courier New" panose="02070309020205020404" pitchFamily="49" charset="0"/>
              </a:rPr>
              <a:t>): 6.24</a:t>
            </a:r>
          </a:p>
          <a:p>
            <a:r>
              <a:rPr lang="en-US" altLang="en-US" sz="1100" dirty="0">
                <a:solidFill>
                  <a:srgbClr val="000000"/>
                </a:solidFill>
                <a:latin typeface="Courier New" panose="02070309020205020404" pitchFamily="49" charset="0"/>
                <a:cs typeface="Courier New" panose="02070309020205020404" pitchFamily="49" charset="0"/>
              </a:rPr>
              <a:t>=============================================</a:t>
            </a:r>
          </a:p>
          <a:p>
            <a:r>
              <a:rPr lang="en-US" altLang="en-US" sz="1100" dirty="0">
                <a:solidFill>
                  <a:srgbClr val="000000"/>
                </a:solidFill>
                <a:latin typeface="Courier New" panose="02070309020205020404" pitchFamily="49" charset="0"/>
                <a:cs typeface="Courier New" panose="02070309020205020404" pitchFamily="49" charset="0"/>
              </a:rPr>
              <a:t>Starting Location: </a:t>
            </a:r>
            <a:r>
              <a:rPr lang="en-US" altLang="en-US" sz="1100" b="1" dirty="0">
                <a:solidFill>
                  <a:srgbClr val="000000"/>
                </a:solidFill>
                <a:latin typeface="Courier New" panose="02070309020205020404" pitchFamily="49" charset="0"/>
                <a:cs typeface="Courier New" panose="02070309020205020404" pitchFamily="49" charset="0"/>
              </a:rPr>
              <a:t>q</a:t>
            </a:r>
          </a:p>
          <a:p>
            <a:r>
              <a:rPr lang="en-US" altLang="en-US" sz="1100" dirty="0">
                <a:solidFill>
                  <a:srgbClr val="000000"/>
                </a:solidFill>
                <a:latin typeface="Courier New" panose="02070309020205020404" pitchFamily="49" charset="0"/>
                <a:cs typeface="Courier New" panose="02070309020205020404" pitchFamily="49" charset="0"/>
              </a:rPr>
              <a:t>&gt;&gt;&gt; </a:t>
            </a:r>
          </a:p>
        </p:txBody>
      </p:sp>
    </p:spTree>
    <p:extLst>
      <p:ext uri="{BB962C8B-B14F-4D97-AF65-F5344CB8AC3E}">
        <p14:creationId xmlns:p14="http://schemas.microsoft.com/office/powerpoint/2010/main" val="82799741"/>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046452"/>
            <a:ext cx="5468166" cy="3603185"/>
          </a:xfrm>
        </p:spPr>
        <p:txBody>
          <a:bodyPr>
            <a:normAutofit/>
          </a:bodyPr>
          <a:lstStyle/>
          <a:p>
            <a:pPr marL="344488" lvl="3" indent="-288925">
              <a:spcBef>
                <a:spcPts val="1110"/>
              </a:spcBef>
              <a:buClr>
                <a:schemeClr val="accent1">
                  <a:lumMod val="75000"/>
                </a:schemeClr>
              </a:buClr>
              <a:buFont typeface="+mj-lt"/>
              <a:buAutoNum type="arabicPeriod"/>
            </a:pPr>
            <a:r>
              <a:rPr lang="en-US" sz="2700" dirty="0">
                <a:solidFill>
                  <a:schemeClr val="accent1"/>
                </a:solidFill>
              </a:rPr>
              <a:t>Locate the </a:t>
            </a:r>
            <a:r>
              <a:rPr lang="en-US" sz="2700" b="1" dirty="0">
                <a:solidFill>
                  <a:schemeClr val="accent1"/>
                </a:solidFill>
              </a:rPr>
              <a:t>legs</a:t>
            </a:r>
            <a:r>
              <a:rPr lang="en-US" sz="2700" dirty="0">
                <a:solidFill>
                  <a:schemeClr val="accent1"/>
                </a:solidFill>
              </a:rPr>
              <a:t> list inside the </a:t>
            </a:r>
            <a:r>
              <a:rPr lang="en-US" sz="2700" b="1" dirty="0">
                <a:solidFill>
                  <a:schemeClr val="accent1"/>
                </a:solidFill>
              </a:rPr>
              <a:t>route</a:t>
            </a:r>
            <a:r>
              <a:rPr lang="en-US" sz="2700" dirty="0">
                <a:solidFill>
                  <a:schemeClr val="accent1"/>
                </a:solidFill>
              </a:rPr>
              <a:t> dictionary. </a:t>
            </a:r>
          </a:p>
          <a:p>
            <a:pPr marL="344488" lvl="3" indent="-288925">
              <a:spcBef>
                <a:spcPts val="1110"/>
              </a:spcBef>
              <a:buClr>
                <a:schemeClr val="accent1">
                  <a:lumMod val="75000"/>
                </a:schemeClr>
              </a:buClr>
              <a:buFont typeface="+mj-lt"/>
              <a:buAutoNum type="arabicPeriod"/>
            </a:pPr>
            <a:r>
              <a:rPr lang="en-US" sz="2700" dirty="0">
                <a:solidFill>
                  <a:schemeClr val="accent1"/>
                </a:solidFill>
              </a:rPr>
              <a:t>The legs list includes one big dictionary with most of the JSON data. </a:t>
            </a:r>
          </a:p>
          <a:p>
            <a:pPr marL="344488" lvl="3" indent="-288925">
              <a:spcBef>
                <a:spcPts val="1110"/>
              </a:spcBef>
              <a:buClr>
                <a:schemeClr val="accent1">
                  <a:lumMod val="75000"/>
                </a:schemeClr>
              </a:buClr>
              <a:buFont typeface="+mj-lt"/>
              <a:buAutoNum type="arabicPeriod"/>
            </a:pPr>
            <a:r>
              <a:rPr lang="en-US" sz="2700" dirty="0">
                <a:solidFill>
                  <a:schemeClr val="accent1"/>
                </a:solidFill>
              </a:rPr>
              <a:t>Find the </a:t>
            </a:r>
            <a:r>
              <a:rPr lang="en-US" sz="2700" b="1" dirty="0">
                <a:solidFill>
                  <a:schemeClr val="accent1"/>
                </a:solidFill>
              </a:rPr>
              <a:t>maneuvers</a:t>
            </a:r>
            <a:r>
              <a:rPr lang="en-US" sz="2700" dirty="0">
                <a:solidFill>
                  <a:schemeClr val="accent1"/>
                </a:solidFill>
              </a:rPr>
              <a:t> list and collapse each of the seven dictionaries inside.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Inspect the Directions JSON Data</a:t>
            </a:r>
          </a:p>
        </p:txBody>
      </p:sp>
      <p:pic>
        <p:nvPicPr>
          <p:cNvPr id="11" name="Picture 10" descr="Sample directions with JSON data.">
            <a:extLst>
              <a:ext uri="{FF2B5EF4-FFF2-40B4-BE49-F238E27FC236}">
                <a16:creationId xmlns:a16="http://schemas.microsoft.com/office/drawing/2014/main" id="{5E97BAB3-4C83-4688-A439-94D1D83D880F}"/>
              </a:ext>
            </a:extLst>
          </p:cNvPr>
          <p:cNvPicPr/>
          <p:nvPr/>
        </p:nvPicPr>
        <p:blipFill>
          <a:blip r:embed="rId2"/>
          <a:stretch>
            <a:fillRect/>
          </a:stretch>
        </p:blipFill>
        <p:spPr>
          <a:xfrm>
            <a:off x="5855807" y="974785"/>
            <a:ext cx="2904089" cy="3785733"/>
          </a:xfrm>
          <a:prstGeom prst="rect">
            <a:avLst/>
          </a:prstGeom>
        </p:spPr>
      </p:pic>
    </p:spTree>
    <p:extLst>
      <p:ext uri="{BB962C8B-B14F-4D97-AF65-F5344CB8AC3E}">
        <p14:creationId xmlns:p14="http://schemas.microsoft.com/office/powerpoint/2010/main" val="3628211781"/>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046452"/>
            <a:ext cx="5079977" cy="3603185"/>
          </a:xfrm>
        </p:spPr>
        <p:txBody>
          <a:bodyPr>
            <a:normAutofit fontScale="92500"/>
          </a:bodyPr>
          <a:lstStyle/>
          <a:p>
            <a:pPr marL="569913" lvl="3" indent="-514350">
              <a:spcBef>
                <a:spcPts val="1110"/>
              </a:spcBef>
              <a:buClr>
                <a:schemeClr val="accent1">
                  <a:lumMod val="75000"/>
                </a:schemeClr>
              </a:buClr>
              <a:buFont typeface="+mj-lt"/>
              <a:buAutoNum type="arabicPeriod"/>
            </a:pPr>
            <a:r>
              <a:rPr lang="en-US" sz="2700" dirty="0">
                <a:solidFill>
                  <a:schemeClr val="accent1"/>
                </a:solidFill>
              </a:rPr>
              <a:t>Expand the first dictionary in the maneuvers list. Each dictionary contains a </a:t>
            </a:r>
            <a:r>
              <a:rPr lang="en-US" sz="2700" b="1" dirty="0">
                <a:solidFill>
                  <a:schemeClr val="accent1"/>
                </a:solidFill>
              </a:rPr>
              <a:t>narrative</a:t>
            </a:r>
            <a:r>
              <a:rPr lang="en-US" sz="2700" dirty="0">
                <a:solidFill>
                  <a:schemeClr val="accent1"/>
                </a:solidFill>
              </a:rPr>
              <a:t> key with a value, such as “Start out going north...” </a:t>
            </a:r>
          </a:p>
          <a:p>
            <a:pPr marL="569913" lvl="3" indent="-514350">
              <a:spcBef>
                <a:spcPts val="1110"/>
              </a:spcBef>
              <a:buClr>
                <a:schemeClr val="accent1">
                  <a:lumMod val="75000"/>
                </a:schemeClr>
              </a:buClr>
              <a:buFont typeface="+mj-lt"/>
              <a:buAutoNum type="arabicPeriod"/>
            </a:pPr>
            <a:r>
              <a:rPr lang="en-US" sz="2700" dirty="0">
                <a:solidFill>
                  <a:schemeClr val="accent1"/>
                </a:solidFill>
              </a:rPr>
              <a:t>You will parse the JSON data to extract the values for narrative and distance keys to display inside your application.</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Inspect the Maneuvers JSON Data</a:t>
            </a:r>
          </a:p>
        </p:txBody>
      </p:sp>
      <p:pic>
        <p:nvPicPr>
          <p:cNvPr id="5" name="Picture 4" descr="Inspect the maneuvers JSON data by reviewing the narrative.">
            <a:extLst>
              <a:ext uri="{FF2B5EF4-FFF2-40B4-BE49-F238E27FC236}">
                <a16:creationId xmlns:a16="http://schemas.microsoft.com/office/drawing/2014/main" id="{17D1426B-4A8C-4A66-B6E3-A97049F92017}"/>
              </a:ext>
            </a:extLst>
          </p:cNvPr>
          <p:cNvPicPr/>
          <p:nvPr/>
        </p:nvPicPr>
        <p:blipFill>
          <a:blip r:embed="rId2"/>
          <a:stretch>
            <a:fillRect/>
          </a:stretch>
        </p:blipFill>
        <p:spPr>
          <a:xfrm>
            <a:off x="5524676" y="1174139"/>
            <a:ext cx="3408916" cy="3251212"/>
          </a:xfrm>
          <a:prstGeom prst="rect">
            <a:avLst/>
          </a:prstGeom>
        </p:spPr>
      </p:pic>
    </p:spTree>
    <p:extLst>
      <p:ext uri="{BB962C8B-B14F-4D97-AF65-F5344CB8AC3E}">
        <p14:creationId xmlns:p14="http://schemas.microsoft.com/office/powerpoint/2010/main" val="114570047"/>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descr="Iterate through the directions data.">
            <a:extLst>
              <a:ext uri="{FF2B5EF4-FFF2-40B4-BE49-F238E27FC236}">
                <a16:creationId xmlns:a16="http://schemas.microsoft.com/office/drawing/2014/main" id="{008CA572-2410-48C4-A5BF-36261AED13E3}"/>
              </a:ext>
            </a:extLst>
          </p:cNvPr>
          <p:cNvSpPr/>
          <p:nvPr/>
        </p:nvSpPr>
        <p:spPr>
          <a:xfrm>
            <a:off x="927330" y="3790866"/>
            <a:ext cx="7584005" cy="167190"/>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descr="Iterate through the directions data.">
            <a:extLst>
              <a:ext uri="{FF2B5EF4-FFF2-40B4-BE49-F238E27FC236}">
                <a16:creationId xmlns:a16="http://schemas.microsoft.com/office/drawing/2014/main" id="{5E411AB4-362A-449E-A479-852DB24B83C1}"/>
              </a:ext>
            </a:extLst>
          </p:cNvPr>
          <p:cNvSpPr/>
          <p:nvPr/>
        </p:nvSpPr>
        <p:spPr>
          <a:xfrm>
            <a:off x="611650" y="3601702"/>
            <a:ext cx="4621647" cy="175199"/>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046452"/>
            <a:ext cx="8436618" cy="2162573"/>
          </a:xfrm>
        </p:spPr>
        <p:txBody>
          <a:bodyPr>
            <a:normAutofit fontScale="70000" lnSpcReduction="20000"/>
          </a:bodyPr>
          <a:lstStyle/>
          <a:p>
            <a:pPr marL="287338" indent="-231775">
              <a:buFont typeface="+mj-lt"/>
              <a:buAutoNum type="arabicPeriod"/>
            </a:pPr>
            <a:r>
              <a:rPr lang="en-US" dirty="0"/>
              <a:t>Save your script as </a:t>
            </a:r>
            <a:r>
              <a:rPr lang="en-US" b="1" i="1" dirty="0"/>
              <a:t>studentname</a:t>
            </a:r>
            <a:r>
              <a:rPr lang="en-US" b="1" dirty="0"/>
              <a:t>_json-parse6.py</a:t>
            </a:r>
            <a:r>
              <a:rPr lang="en-US" dirty="0"/>
              <a:t>.</a:t>
            </a:r>
          </a:p>
          <a:p>
            <a:pPr marL="287338" indent="-231775">
              <a:buFont typeface="+mj-lt"/>
              <a:buAutoNum type="arabicPeriod"/>
            </a:pPr>
            <a:r>
              <a:rPr lang="en-US" dirty="0"/>
              <a:t>Add an if statement below the double line print statement to check the </a:t>
            </a:r>
            <a:r>
              <a:rPr lang="en-US" b="1" dirty="0" err="1"/>
              <a:t>json_status</a:t>
            </a:r>
            <a:r>
              <a:rPr lang="en-US" dirty="0"/>
              <a:t>. </a:t>
            </a:r>
          </a:p>
          <a:p>
            <a:pPr marL="287338" indent="-231775">
              <a:buFont typeface="+mj-lt"/>
              <a:buAutoNum type="arabicPeriod"/>
            </a:pPr>
            <a:r>
              <a:rPr lang="en-US" dirty="0"/>
              <a:t>The for loop iterates through each </a:t>
            </a:r>
            <a:r>
              <a:rPr lang="en-US" b="1" dirty="0"/>
              <a:t>maneuvers</a:t>
            </a:r>
            <a:r>
              <a:rPr lang="en-US" dirty="0"/>
              <a:t> list, prints the narrative, and prints the distance in kilometers formatting for 2 decimal places.</a:t>
            </a:r>
          </a:p>
          <a:p>
            <a:pPr marL="287338" indent="-231775">
              <a:buFont typeface="+mj-lt"/>
              <a:buAutoNum type="arabicPeriod"/>
            </a:pPr>
            <a:r>
              <a:rPr lang="en-US" dirty="0"/>
              <a:t>Add a print statement that will display a double line at the end of the list of maneuvers.</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Iterate Through the Directions Data</a:t>
            </a:r>
          </a:p>
        </p:txBody>
      </p:sp>
      <p:sp>
        <p:nvSpPr>
          <p:cNvPr id="8" name="Rectangle 7">
            <a:extLst>
              <a:ext uri="{FF2B5EF4-FFF2-40B4-BE49-F238E27FC236}">
                <a16:creationId xmlns:a16="http://schemas.microsoft.com/office/drawing/2014/main" id="{AA68E309-AA17-4BBA-9439-403144FDFA4C}"/>
              </a:ext>
            </a:extLst>
          </p:cNvPr>
          <p:cNvSpPr/>
          <p:nvPr/>
        </p:nvSpPr>
        <p:spPr>
          <a:xfrm>
            <a:off x="189781" y="3386864"/>
            <a:ext cx="8807570" cy="1090246"/>
          </a:xfrm>
          <a:prstGeom prst="rect">
            <a:avLst/>
          </a:prstGeom>
          <a:ln>
            <a:solidFill>
              <a:schemeClr val="tx1"/>
            </a:solidFill>
          </a:ln>
        </p:spPr>
        <p:txBody>
          <a:bodyPr wrap="square">
            <a:noAutofit/>
          </a:bodyPr>
          <a:lstStyle/>
          <a:p>
            <a:r>
              <a:rPr lang="en-US" altLang="en-US" sz="1100" dirty="0">
                <a:solidFill>
                  <a:srgbClr val="000000"/>
                </a:solidFill>
                <a:latin typeface="Courier New" panose="02070309020205020404" pitchFamily="49" charset="0"/>
                <a:cs typeface="Courier New" panose="02070309020205020404" pitchFamily="49" charset="0"/>
              </a:rPr>
              <a:t>    print("=============================================")</a:t>
            </a:r>
          </a:p>
          <a:p>
            <a:r>
              <a:rPr lang="en-US" altLang="en-US" sz="1100" dirty="0">
                <a:solidFill>
                  <a:srgbClr val="000000"/>
                </a:solidFill>
                <a:latin typeface="Courier New" panose="02070309020205020404" pitchFamily="49" charset="0"/>
                <a:cs typeface="Courier New" panose="02070309020205020404" pitchFamily="49" charset="0"/>
              </a:rPr>
              <a:t>    for each in </a:t>
            </a:r>
            <a:r>
              <a:rPr lang="en-US" altLang="en-US" sz="1100" dirty="0" err="1">
                <a:solidFill>
                  <a:srgbClr val="000000"/>
                </a:solidFill>
                <a:latin typeface="Courier New" panose="02070309020205020404" pitchFamily="49" charset="0"/>
                <a:cs typeface="Courier New" panose="02070309020205020404" pitchFamily="49" charset="0"/>
              </a:rPr>
              <a:t>json_data</a:t>
            </a:r>
            <a:r>
              <a:rPr lang="en-US" altLang="en-US" sz="1100" dirty="0">
                <a:solidFill>
                  <a:srgbClr val="000000"/>
                </a:solidFill>
                <a:latin typeface="Courier New" panose="02070309020205020404" pitchFamily="49" charset="0"/>
                <a:cs typeface="Courier New" panose="02070309020205020404" pitchFamily="49" charset="0"/>
              </a:rPr>
              <a:t>["route"]["legs"][0]["maneuvers"]:</a:t>
            </a:r>
          </a:p>
          <a:p>
            <a:r>
              <a:rPr lang="en-US" altLang="en-US" sz="1100" dirty="0">
                <a:solidFill>
                  <a:srgbClr val="000000"/>
                </a:solidFill>
                <a:latin typeface="Courier New" panose="02070309020205020404" pitchFamily="49" charset="0"/>
                <a:cs typeface="Courier New" panose="02070309020205020404" pitchFamily="49" charset="0"/>
              </a:rPr>
              <a:t>        print((each["narrative"]) + " (" + str("{:.2f}".format((each["distance"])*1.61) + " km)"))</a:t>
            </a:r>
          </a:p>
          <a:p>
            <a:r>
              <a:rPr lang="en-US" altLang="en-US" sz="1100" dirty="0">
                <a:solidFill>
                  <a:srgbClr val="000000"/>
                </a:solidFill>
                <a:latin typeface="Courier New" panose="02070309020205020404" pitchFamily="49" charset="0"/>
                <a:cs typeface="Courier New" panose="02070309020205020404" pitchFamily="49" charset="0"/>
              </a:rPr>
              <a:t>    print("=============================================\n")</a:t>
            </a:r>
          </a:p>
          <a:p>
            <a:endParaRPr lang="en-US" altLang="en-US" sz="12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15287185"/>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347788"/>
            <a:ext cx="3325090" cy="3168210"/>
          </a:xfrm>
        </p:spPr>
        <p:txBody>
          <a:bodyPr>
            <a:normAutofit fontScale="85000" lnSpcReduction="20000"/>
          </a:bodyPr>
          <a:lstStyle/>
          <a:p>
            <a:pPr marL="287338" indent="-231775">
              <a:buFont typeface="+mj-lt"/>
              <a:buAutoNum type="arabicPeriod"/>
            </a:pPr>
            <a:r>
              <a:rPr lang="en-US" dirty="0"/>
              <a:t>Run your </a:t>
            </a:r>
            <a:r>
              <a:rPr lang="en-US" b="1" i="1" dirty="0"/>
              <a:t> studentname</a:t>
            </a:r>
            <a:r>
              <a:rPr lang="en-US" b="1" dirty="0"/>
              <a:t>_json-parse6.py</a:t>
            </a:r>
            <a:r>
              <a:rPr lang="en-US" dirty="0"/>
              <a:t> script and verify it works. </a:t>
            </a:r>
          </a:p>
          <a:p>
            <a:pPr marL="287338" indent="-231775">
              <a:buFont typeface="+mj-lt"/>
              <a:buAutoNum type="arabicPeriod"/>
            </a:pPr>
            <a:r>
              <a:rPr lang="en-US" dirty="0"/>
              <a:t>Troubleshoot your code, if necessary. </a:t>
            </a:r>
          </a:p>
          <a:p>
            <a:pPr marL="287338" indent="-231775">
              <a:buFont typeface="+mj-lt"/>
              <a:buAutoNum type="arabicPeriod"/>
            </a:pPr>
            <a:r>
              <a:rPr lang="en-US" dirty="0"/>
              <a:t>You should get a similar output to what is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4284216" cy="731837"/>
          </a:xfrm>
        </p:spPr>
        <p:txBody>
          <a:bodyPr>
            <a:noAutofit/>
          </a:bodyPr>
          <a:lstStyle/>
          <a:p>
            <a:r>
              <a:rPr lang="en-US" sz="2800" dirty="0"/>
              <a:t>Activity - Test Iteration</a:t>
            </a:r>
          </a:p>
        </p:txBody>
      </p:sp>
      <p:sp>
        <p:nvSpPr>
          <p:cNvPr id="5" name="Rectangle 4">
            <a:extLst>
              <a:ext uri="{FF2B5EF4-FFF2-40B4-BE49-F238E27FC236}">
                <a16:creationId xmlns:a16="http://schemas.microsoft.com/office/drawing/2014/main" id="{3B3EA4B7-4464-47AD-9E64-A1C931920ECE}"/>
              </a:ext>
            </a:extLst>
          </p:cNvPr>
          <p:cNvSpPr/>
          <p:nvPr/>
        </p:nvSpPr>
        <p:spPr>
          <a:xfrm>
            <a:off x="4175184" y="403512"/>
            <a:ext cx="4865464" cy="4617062"/>
          </a:xfrm>
          <a:prstGeom prst="rect">
            <a:avLst/>
          </a:prstGeom>
          <a:ln>
            <a:solidFill>
              <a:schemeClr val="tx1"/>
            </a:solidFill>
          </a:ln>
        </p:spPr>
        <p:txBody>
          <a:bodyPr wrap="square">
            <a:noAutofit/>
          </a:bodyPr>
          <a:lstStyle/>
          <a:p>
            <a:r>
              <a:rPr lang="en-US" sz="1050" dirty="0">
                <a:solidFill>
                  <a:srgbClr val="000000"/>
                </a:solidFill>
                <a:latin typeface="Courier New" panose="02070309020205020404" pitchFamily="49" charset="0"/>
                <a:cs typeface="Courier New" panose="02070309020205020404" pitchFamily="49" charset="0"/>
              </a:rPr>
              <a:t>========= RESTART: /home/user/</a:t>
            </a:r>
            <a:r>
              <a:rPr lang="en-US" sz="1050" i="1" dirty="0">
                <a:solidFill>
                  <a:srgbClr val="000000"/>
                </a:solidFill>
                <a:latin typeface="Courier New" panose="02070309020205020404" pitchFamily="49" charset="0"/>
                <a:cs typeface="Courier New" panose="02070309020205020404" pitchFamily="49" charset="0"/>
              </a:rPr>
              <a:t>studentname</a:t>
            </a:r>
            <a:r>
              <a:rPr lang="en-US" sz="1050" dirty="0">
                <a:solidFill>
                  <a:srgbClr val="000000"/>
                </a:solidFill>
                <a:latin typeface="Courier New" panose="02070309020205020404" pitchFamily="49" charset="0"/>
                <a:cs typeface="Courier New" panose="02070309020205020404" pitchFamily="49" charset="0"/>
              </a:rPr>
              <a:t>_parse-json6.py ==========</a:t>
            </a:r>
          </a:p>
          <a:p>
            <a:r>
              <a:rPr lang="en-US" sz="1050" dirty="0">
                <a:solidFill>
                  <a:srgbClr val="000000"/>
                </a:solidFill>
                <a:latin typeface="Courier New" panose="02070309020205020404" pitchFamily="49" charset="0"/>
                <a:cs typeface="Courier New" panose="02070309020205020404" pitchFamily="49" charset="0"/>
              </a:rPr>
              <a:t>Starting Location: </a:t>
            </a:r>
            <a:r>
              <a:rPr lang="en-US" sz="1050" b="1" dirty="0">
                <a:solidFill>
                  <a:srgbClr val="000000"/>
                </a:solidFill>
                <a:latin typeface="Courier New" panose="02070309020205020404" pitchFamily="49" charset="0"/>
                <a:cs typeface="Courier New" panose="02070309020205020404" pitchFamily="49" charset="0"/>
              </a:rPr>
              <a:t>Washington</a:t>
            </a:r>
          </a:p>
          <a:p>
            <a:r>
              <a:rPr lang="en-US" sz="1050" dirty="0">
                <a:solidFill>
                  <a:srgbClr val="000000"/>
                </a:solidFill>
                <a:latin typeface="Courier New" panose="02070309020205020404" pitchFamily="49" charset="0"/>
                <a:cs typeface="Courier New" panose="02070309020205020404" pitchFamily="49" charset="0"/>
              </a:rPr>
              <a:t>Destination: </a:t>
            </a:r>
            <a:r>
              <a:rPr lang="en-US" sz="1050" b="1" dirty="0">
                <a:solidFill>
                  <a:srgbClr val="000000"/>
                </a:solidFill>
                <a:latin typeface="Courier New" panose="02070309020205020404" pitchFamily="49" charset="0"/>
                <a:cs typeface="Courier New" panose="02070309020205020404" pitchFamily="49" charset="0"/>
              </a:rPr>
              <a:t>Baltimore</a:t>
            </a:r>
          </a:p>
          <a:p>
            <a:r>
              <a:rPr lang="en-US" sz="1050" dirty="0">
                <a:solidFill>
                  <a:srgbClr val="000000"/>
                </a:solidFill>
                <a:latin typeface="Courier New" panose="02070309020205020404" pitchFamily="49" charset="0"/>
                <a:cs typeface="Courier New" panose="02070309020205020404" pitchFamily="49" charset="0"/>
              </a:rPr>
              <a:t>URL: https://www.mapquestapi.com/directions/v2/route?key=Your_api_key&amp;to=Baltimore&amp;from=Washington</a:t>
            </a:r>
          </a:p>
          <a:p>
            <a:r>
              <a:rPr lang="en-US" sz="1050" dirty="0">
                <a:solidFill>
                  <a:srgbClr val="000000"/>
                </a:solidFill>
                <a:latin typeface="Courier New" panose="02070309020205020404" pitchFamily="49" charset="0"/>
                <a:cs typeface="Courier New" panose="02070309020205020404" pitchFamily="49" charset="0"/>
              </a:rPr>
              <a:t>API Status: 0 = A successful route call.</a:t>
            </a:r>
          </a:p>
          <a:p>
            <a:endParaRPr lang="en-US" sz="1050" dirty="0">
              <a:solidFill>
                <a:srgbClr val="000000"/>
              </a:solidFill>
              <a:latin typeface="Courier New" panose="02070309020205020404" pitchFamily="49" charset="0"/>
              <a:cs typeface="Courier New" panose="02070309020205020404" pitchFamily="49" charset="0"/>
            </a:endParaRPr>
          </a:p>
          <a:p>
            <a:r>
              <a:rPr lang="en-US" sz="1050" dirty="0">
                <a:solidFill>
                  <a:srgbClr val="000000"/>
                </a:solidFill>
                <a:latin typeface="Courier New" panose="02070309020205020404" pitchFamily="49" charset="0"/>
                <a:cs typeface="Courier New" panose="02070309020205020404" pitchFamily="49" charset="0"/>
              </a:rPr>
              <a:t>Directions from Washington to Baltimore</a:t>
            </a:r>
          </a:p>
          <a:p>
            <a:r>
              <a:rPr lang="en-US" sz="1050" dirty="0">
                <a:solidFill>
                  <a:srgbClr val="000000"/>
                </a:solidFill>
                <a:latin typeface="Courier New" panose="02070309020205020404" pitchFamily="49" charset="0"/>
                <a:cs typeface="Courier New" panose="02070309020205020404" pitchFamily="49" charset="0"/>
              </a:rPr>
              <a:t>Trip Duration:   00:49:19</a:t>
            </a:r>
          </a:p>
          <a:p>
            <a:r>
              <a:rPr lang="en-US" sz="1050" dirty="0">
                <a:solidFill>
                  <a:srgbClr val="000000"/>
                </a:solidFill>
                <a:latin typeface="Courier New" panose="02070309020205020404" pitchFamily="49" charset="0"/>
                <a:cs typeface="Courier New" panose="02070309020205020404" pitchFamily="49" charset="0"/>
              </a:rPr>
              <a:t>Kilometers:      61.32</a:t>
            </a:r>
          </a:p>
          <a:p>
            <a:r>
              <a:rPr lang="en-US" sz="1050" dirty="0">
                <a:solidFill>
                  <a:srgbClr val="000000"/>
                </a:solidFill>
                <a:latin typeface="Courier New" panose="02070309020205020404" pitchFamily="49" charset="0"/>
                <a:cs typeface="Courier New" panose="02070309020205020404" pitchFamily="49" charset="0"/>
              </a:rPr>
              <a:t>Fuel Used (</a:t>
            </a:r>
            <a:r>
              <a:rPr lang="en-US" sz="1050" dirty="0" err="1">
                <a:solidFill>
                  <a:srgbClr val="000000"/>
                </a:solidFill>
                <a:latin typeface="Courier New" panose="02070309020205020404" pitchFamily="49" charset="0"/>
                <a:cs typeface="Courier New" panose="02070309020205020404" pitchFamily="49" charset="0"/>
              </a:rPr>
              <a:t>Ltr</a:t>
            </a:r>
            <a:r>
              <a:rPr lang="en-US" sz="1050" dirty="0">
                <a:solidFill>
                  <a:srgbClr val="000000"/>
                </a:solidFill>
                <a:latin typeface="Courier New" panose="02070309020205020404" pitchFamily="49" charset="0"/>
                <a:cs typeface="Courier New" panose="02070309020205020404" pitchFamily="49" charset="0"/>
              </a:rPr>
              <a:t>): 6.24</a:t>
            </a:r>
          </a:p>
          <a:p>
            <a:r>
              <a:rPr lang="en-US" sz="1050" dirty="0">
                <a:solidFill>
                  <a:srgbClr val="000000"/>
                </a:solidFill>
                <a:latin typeface="Courier New" panose="02070309020205020404" pitchFamily="49" charset="0"/>
                <a:cs typeface="Courier New" panose="02070309020205020404" pitchFamily="49" charset="0"/>
              </a:rPr>
              <a:t>=============================================</a:t>
            </a:r>
          </a:p>
          <a:p>
            <a:r>
              <a:rPr lang="en-US" sz="1050" dirty="0">
                <a:solidFill>
                  <a:srgbClr val="000000"/>
                </a:solidFill>
                <a:latin typeface="Courier New" panose="02070309020205020404" pitchFamily="49" charset="0"/>
                <a:cs typeface="Courier New" panose="02070309020205020404" pitchFamily="49" charset="0"/>
              </a:rPr>
              <a:t>Start out going north on 6th St/US-50 E/US-1 N toward Pennsylvania Ave/US-1 Alt N. (1.28 km)</a:t>
            </a:r>
          </a:p>
          <a:p>
            <a:r>
              <a:rPr lang="en-US" sz="1050" dirty="0">
                <a:solidFill>
                  <a:srgbClr val="000000"/>
                </a:solidFill>
                <a:latin typeface="Courier New" panose="02070309020205020404" pitchFamily="49" charset="0"/>
                <a:cs typeface="Courier New" panose="02070309020205020404" pitchFamily="49" charset="0"/>
              </a:rPr>
              <a:t>Turn right onto New York Ave/US-50 E. Continue to follow US-50 E (Crossing into Maryland). (7.51 km)</a:t>
            </a:r>
          </a:p>
          <a:p>
            <a:r>
              <a:rPr lang="en-US" sz="1050" dirty="0">
                <a:solidFill>
                  <a:srgbClr val="000000"/>
                </a:solidFill>
                <a:latin typeface="Courier New" panose="02070309020205020404" pitchFamily="49" charset="0"/>
                <a:cs typeface="Courier New" panose="02070309020205020404" pitchFamily="49" charset="0"/>
              </a:rPr>
              <a:t>Take the </a:t>
            </a:r>
            <a:r>
              <a:rPr lang="en-US" sz="1050" dirty="0" err="1">
                <a:solidFill>
                  <a:srgbClr val="000000"/>
                </a:solidFill>
                <a:latin typeface="Courier New" panose="02070309020205020404" pitchFamily="49" charset="0"/>
                <a:cs typeface="Courier New" panose="02070309020205020404" pitchFamily="49" charset="0"/>
              </a:rPr>
              <a:t>Balt</a:t>
            </a:r>
            <a:r>
              <a:rPr lang="en-US" sz="1050" dirty="0">
                <a:solidFill>
                  <a:srgbClr val="000000"/>
                </a:solidFill>
                <a:latin typeface="Courier New" panose="02070309020205020404" pitchFamily="49" charset="0"/>
                <a:cs typeface="Courier New" panose="02070309020205020404" pitchFamily="49" charset="0"/>
              </a:rPr>
              <a:t>-Wash Parkway exit on the left toward Baltimore. (0.88 km)</a:t>
            </a:r>
          </a:p>
          <a:p>
            <a:r>
              <a:rPr lang="en-US" sz="1050" dirty="0">
                <a:solidFill>
                  <a:srgbClr val="000000"/>
                </a:solidFill>
                <a:latin typeface="Courier New" panose="02070309020205020404" pitchFamily="49" charset="0"/>
                <a:cs typeface="Courier New" panose="02070309020205020404" pitchFamily="49" charset="0"/>
              </a:rPr>
              <a:t>Merge onto MD-295 N. (50.38 km)</a:t>
            </a:r>
          </a:p>
          <a:p>
            <a:r>
              <a:rPr lang="en-US" sz="1050" dirty="0">
                <a:solidFill>
                  <a:srgbClr val="000000"/>
                </a:solidFill>
                <a:latin typeface="Courier New" panose="02070309020205020404" pitchFamily="49" charset="0"/>
                <a:cs typeface="Courier New" panose="02070309020205020404" pitchFamily="49" charset="0"/>
              </a:rPr>
              <a:t>Turn right onto W Pratt St. (0.86 km)</a:t>
            </a:r>
          </a:p>
          <a:p>
            <a:r>
              <a:rPr lang="en-US" sz="1050" dirty="0">
                <a:solidFill>
                  <a:srgbClr val="000000"/>
                </a:solidFill>
                <a:latin typeface="Courier New" panose="02070309020205020404" pitchFamily="49" charset="0"/>
                <a:cs typeface="Courier New" panose="02070309020205020404" pitchFamily="49" charset="0"/>
              </a:rPr>
              <a:t>Turn left onto S Calvert St/MD-2. (0.43 km)</a:t>
            </a:r>
          </a:p>
          <a:p>
            <a:r>
              <a:rPr lang="en-US" sz="1050" dirty="0">
                <a:solidFill>
                  <a:srgbClr val="000000"/>
                </a:solidFill>
                <a:latin typeface="Courier New" panose="02070309020205020404" pitchFamily="49" charset="0"/>
                <a:cs typeface="Courier New" panose="02070309020205020404" pitchFamily="49" charset="0"/>
              </a:rPr>
              <a:t>Welcome to BALTIMORE, MD. (0.00 km)</a:t>
            </a:r>
          </a:p>
          <a:p>
            <a:r>
              <a:rPr lang="en-US" sz="1050" dirty="0">
                <a:solidFill>
                  <a:srgbClr val="000000"/>
                </a:solidFill>
                <a:latin typeface="Courier New" panose="02070309020205020404" pitchFamily="49" charset="0"/>
                <a:cs typeface="Courier New" panose="02070309020205020404" pitchFamily="49" charset="0"/>
              </a:rPr>
              <a:t>=============================================</a:t>
            </a:r>
          </a:p>
          <a:p>
            <a:endParaRPr lang="en-US" sz="1050" dirty="0">
              <a:solidFill>
                <a:srgbClr val="000000"/>
              </a:solidFill>
              <a:latin typeface="Courier New" panose="02070309020205020404" pitchFamily="49" charset="0"/>
              <a:cs typeface="Courier New" panose="02070309020205020404" pitchFamily="49" charset="0"/>
            </a:endParaRPr>
          </a:p>
          <a:p>
            <a:r>
              <a:rPr lang="en-US" sz="1050" dirty="0">
                <a:solidFill>
                  <a:srgbClr val="000000"/>
                </a:solidFill>
                <a:latin typeface="Courier New" panose="02070309020205020404" pitchFamily="49" charset="0"/>
                <a:cs typeface="Courier New" panose="02070309020205020404" pitchFamily="49" charset="0"/>
              </a:rPr>
              <a:t>Starting Location: </a:t>
            </a:r>
            <a:r>
              <a:rPr lang="en-US" sz="1050" b="1" dirty="0">
                <a:solidFill>
                  <a:srgbClr val="000000"/>
                </a:solidFill>
                <a:latin typeface="Courier New" panose="02070309020205020404" pitchFamily="49" charset="0"/>
                <a:cs typeface="Courier New" panose="02070309020205020404" pitchFamily="49" charset="0"/>
              </a:rPr>
              <a:t>q</a:t>
            </a:r>
          </a:p>
          <a:p>
            <a:r>
              <a:rPr lang="en-US" sz="1050" dirty="0">
                <a:solidFill>
                  <a:srgbClr val="000000"/>
                </a:solidFill>
                <a:latin typeface="Courier New" panose="02070309020205020404" pitchFamily="49" charset="0"/>
                <a:cs typeface="Courier New" panose="02070309020205020404" pitchFamily="49" charset="0"/>
              </a:rPr>
              <a:t>&gt;&gt;&gt;</a:t>
            </a:r>
            <a:endParaRPr lang="en-US" sz="11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45685204"/>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descr="Check for invalid user input.">
            <a:extLst>
              <a:ext uri="{FF2B5EF4-FFF2-40B4-BE49-F238E27FC236}">
                <a16:creationId xmlns:a16="http://schemas.microsoft.com/office/drawing/2014/main" id="{008CA572-2410-48C4-A5BF-36261AED13E3}"/>
              </a:ext>
            </a:extLst>
          </p:cNvPr>
          <p:cNvSpPr/>
          <p:nvPr/>
        </p:nvSpPr>
        <p:spPr>
          <a:xfrm>
            <a:off x="819023" y="3920247"/>
            <a:ext cx="8224393" cy="664402"/>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descr="Check for invalid user input.">
            <a:extLst>
              <a:ext uri="{FF2B5EF4-FFF2-40B4-BE49-F238E27FC236}">
                <a16:creationId xmlns:a16="http://schemas.microsoft.com/office/drawing/2014/main" id="{5E411AB4-362A-449E-A479-852DB24B83C1}"/>
              </a:ext>
            </a:extLst>
          </p:cNvPr>
          <p:cNvSpPr/>
          <p:nvPr/>
        </p:nvSpPr>
        <p:spPr>
          <a:xfrm>
            <a:off x="468939" y="3728162"/>
            <a:ext cx="2053728" cy="192085"/>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046452"/>
            <a:ext cx="8436618" cy="1891301"/>
          </a:xfrm>
        </p:spPr>
        <p:txBody>
          <a:bodyPr>
            <a:normAutofit fontScale="70000" lnSpcReduction="20000"/>
          </a:bodyPr>
          <a:lstStyle/>
          <a:p>
            <a:pPr marL="287338" indent="-231775">
              <a:buFont typeface="+mj-lt"/>
              <a:buAutoNum type="arabicPeriod"/>
            </a:pPr>
            <a:r>
              <a:rPr lang="en-US" dirty="0"/>
              <a:t>Save your script as </a:t>
            </a:r>
            <a:r>
              <a:rPr lang="en-US" b="1" i="1" dirty="0"/>
              <a:t>studentname</a:t>
            </a:r>
            <a:r>
              <a:rPr lang="en-US" b="1" dirty="0"/>
              <a:t>_json-parse7.py</a:t>
            </a:r>
            <a:r>
              <a:rPr lang="en-US" dirty="0"/>
              <a:t>.</a:t>
            </a:r>
          </a:p>
          <a:p>
            <a:pPr marL="287338" indent="-231775">
              <a:buFont typeface="+mj-lt"/>
              <a:buAutoNum type="arabicPeriod"/>
            </a:pPr>
            <a:r>
              <a:rPr lang="en-US" dirty="0"/>
              <a:t>The final step is to finish the if loop to respond to the user when the </a:t>
            </a:r>
            <a:r>
              <a:rPr lang="en-US" b="1" dirty="0" err="1"/>
              <a:t>json_status</a:t>
            </a:r>
            <a:r>
              <a:rPr lang="en-US" dirty="0"/>
              <a:t> does not equal 0. </a:t>
            </a:r>
          </a:p>
          <a:p>
            <a:pPr marL="287338" indent="-231775">
              <a:buFont typeface="+mj-lt"/>
              <a:buAutoNum type="arabicPeriod"/>
            </a:pPr>
            <a:r>
              <a:rPr lang="en-US" dirty="0"/>
              <a:t>The most common error will most likely be for invalid location entries.</a:t>
            </a:r>
          </a:p>
          <a:p>
            <a:pPr marL="287338" indent="-231775">
              <a:buFont typeface="+mj-lt"/>
              <a:buAutoNum type="arabicPeriod"/>
            </a:pPr>
            <a:r>
              <a:rPr lang="en-US" dirty="0"/>
              <a:t>Create a </a:t>
            </a:r>
            <a:r>
              <a:rPr lang="en-US" b="1" dirty="0" err="1"/>
              <a:t>elif</a:t>
            </a:r>
            <a:r>
              <a:rPr lang="en-US" dirty="0"/>
              <a:t> function that checks for </a:t>
            </a:r>
            <a:r>
              <a:rPr lang="en-US" b="1" dirty="0" err="1"/>
              <a:t>json_status</a:t>
            </a:r>
            <a:r>
              <a:rPr lang="en-US" b="1" dirty="0"/>
              <a:t> = 402 </a:t>
            </a:r>
            <a:r>
              <a:rPr lang="en-US" dirty="0"/>
              <a:t>and display a message, as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Check for Invalid User Input</a:t>
            </a:r>
          </a:p>
        </p:txBody>
      </p:sp>
      <p:sp>
        <p:nvSpPr>
          <p:cNvPr id="8" name="Rectangle 7">
            <a:extLst>
              <a:ext uri="{FF2B5EF4-FFF2-40B4-BE49-F238E27FC236}">
                <a16:creationId xmlns:a16="http://schemas.microsoft.com/office/drawing/2014/main" id="{AA68E309-AA17-4BBA-9439-403144FDFA4C}"/>
              </a:ext>
            </a:extLst>
          </p:cNvPr>
          <p:cNvSpPr/>
          <p:nvPr/>
        </p:nvSpPr>
        <p:spPr>
          <a:xfrm>
            <a:off x="110831" y="3035613"/>
            <a:ext cx="9061704" cy="1750979"/>
          </a:xfrm>
          <a:prstGeom prst="rect">
            <a:avLst/>
          </a:prstGeom>
          <a:ln>
            <a:solidFill>
              <a:schemeClr val="tx1"/>
            </a:solidFill>
          </a:ln>
        </p:spPr>
        <p:txBody>
          <a:bodyPr wrap="square">
            <a:noAutofit/>
          </a:bodyPr>
          <a:lstStyle/>
          <a:p>
            <a:r>
              <a:rPr lang="en-US" altLang="en-US" sz="1100" dirty="0">
                <a:solidFill>
                  <a:srgbClr val="000000"/>
                </a:solidFill>
                <a:latin typeface="Courier New" panose="02070309020205020404" pitchFamily="49" charset="0"/>
                <a:cs typeface="Courier New" panose="02070309020205020404" pitchFamily="49" charset="0"/>
              </a:rPr>
              <a:t>    if </a:t>
            </a:r>
            <a:r>
              <a:rPr lang="en-US" altLang="en-US" sz="1100" dirty="0" err="1">
                <a:solidFill>
                  <a:srgbClr val="000000"/>
                </a:solidFill>
                <a:latin typeface="Courier New" panose="02070309020205020404" pitchFamily="49" charset="0"/>
                <a:cs typeface="Courier New" panose="02070309020205020404" pitchFamily="49" charset="0"/>
              </a:rPr>
              <a:t>json_status</a:t>
            </a:r>
            <a:r>
              <a:rPr lang="en-US" altLang="en-US" sz="1100" dirty="0">
                <a:solidFill>
                  <a:srgbClr val="000000"/>
                </a:solidFill>
                <a:latin typeface="Courier New" panose="02070309020205020404" pitchFamily="49" charset="0"/>
                <a:cs typeface="Courier New" panose="02070309020205020404" pitchFamily="49" charset="0"/>
              </a:rPr>
              <a:t> == 0:</a:t>
            </a:r>
          </a:p>
          <a:p>
            <a:r>
              <a:rPr lang="en-US" altLang="en-US" sz="1100" dirty="0">
                <a:solidFill>
                  <a:srgbClr val="000000"/>
                </a:solidFill>
                <a:latin typeface="Courier New" panose="02070309020205020404" pitchFamily="49" charset="0"/>
                <a:cs typeface="Courier New" panose="02070309020205020404" pitchFamily="49" charset="0"/>
              </a:rPr>
              <a:t>        .</a:t>
            </a:r>
          </a:p>
          <a:p>
            <a:r>
              <a:rPr lang="en-US" altLang="en-US" sz="1100" dirty="0">
                <a:solidFill>
                  <a:srgbClr val="000000"/>
                </a:solidFill>
                <a:latin typeface="Courier New" panose="02070309020205020404" pitchFamily="49" charset="0"/>
                <a:cs typeface="Courier New" panose="02070309020205020404" pitchFamily="49" charset="0"/>
              </a:rPr>
              <a:t>        .</a:t>
            </a:r>
          </a:p>
          <a:p>
            <a:r>
              <a:rPr lang="en-US" altLang="en-US" sz="1100" dirty="0">
                <a:solidFill>
                  <a:srgbClr val="000000"/>
                </a:solidFill>
                <a:latin typeface="Courier New" panose="02070309020205020404" pitchFamily="49" charset="0"/>
                <a:cs typeface="Courier New" panose="02070309020205020404" pitchFamily="49" charset="0"/>
              </a:rPr>
              <a:t>        .</a:t>
            </a:r>
          </a:p>
          <a:p>
            <a:r>
              <a:rPr lang="en-US" altLang="en-US" sz="1100" dirty="0">
                <a:solidFill>
                  <a:srgbClr val="000000"/>
                </a:solidFill>
                <a:latin typeface="Courier New" panose="02070309020205020404" pitchFamily="49" charset="0"/>
                <a:cs typeface="Courier New" panose="02070309020205020404" pitchFamily="49" charset="0"/>
              </a:rPr>
              <a:t>    </a:t>
            </a:r>
            <a:r>
              <a:rPr lang="en-US" altLang="en-US" sz="1100" dirty="0" err="1">
                <a:solidFill>
                  <a:srgbClr val="000000"/>
                </a:solidFill>
                <a:latin typeface="Courier New" panose="02070309020205020404" pitchFamily="49" charset="0"/>
                <a:cs typeface="Courier New" panose="02070309020205020404" pitchFamily="49" charset="0"/>
              </a:rPr>
              <a:t>elif</a:t>
            </a:r>
            <a:r>
              <a:rPr lang="en-US" altLang="en-US" sz="1100" dirty="0">
                <a:solidFill>
                  <a:srgbClr val="000000"/>
                </a:solidFill>
                <a:latin typeface="Courier New" panose="02070309020205020404" pitchFamily="49" charset="0"/>
                <a:cs typeface="Courier New" panose="02070309020205020404" pitchFamily="49" charset="0"/>
              </a:rPr>
              <a:t> </a:t>
            </a:r>
            <a:r>
              <a:rPr lang="en-US" altLang="en-US" sz="1100" dirty="0" err="1">
                <a:solidFill>
                  <a:srgbClr val="000000"/>
                </a:solidFill>
                <a:latin typeface="Courier New" panose="02070309020205020404" pitchFamily="49" charset="0"/>
                <a:cs typeface="Courier New" panose="02070309020205020404" pitchFamily="49" charset="0"/>
              </a:rPr>
              <a:t>json_status</a:t>
            </a:r>
            <a:r>
              <a:rPr lang="en-US" altLang="en-US" sz="1100" dirty="0">
                <a:solidFill>
                  <a:srgbClr val="000000"/>
                </a:solidFill>
                <a:latin typeface="Courier New" panose="02070309020205020404" pitchFamily="49" charset="0"/>
                <a:cs typeface="Courier New" panose="02070309020205020404" pitchFamily="49" charset="0"/>
              </a:rPr>
              <a:t> == 402:</a:t>
            </a:r>
          </a:p>
          <a:p>
            <a:r>
              <a:rPr lang="en-US" altLang="en-US" sz="1100" dirty="0">
                <a:solidFill>
                  <a:srgbClr val="000000"/>
                </a:solidFill>
                <a:latin typeface="Courier New" panose="02070309020205020404" pitchFamily="49" charset="0"/>
                <a:cs typeface="Courier New" panose="02070309020205020404" pitchFamily="49" charset="0"/>
              </a:rPr>
              <a:t>        print("**********************************************")</a:t>
            </a:r>
          </a:p>
          <a:p>
            <a:r>
              <a:rPr lang="en-US" altLang="en-US" sz="1100" dirty="0">
                <a:solidFill>
                  <a:srgbClr val="000000"/>
                </a:solidFill>
                <a:latin typeface="Courier New" panose="02070309020205020404" pitchFamily="49" charset="0"/>
                <a:cs typeface="Courier New" panose="02070309020205020404" pitchFamily="49" charset="0"/>
              </a:rPr>
              <a:t>        print("For </a:t>
            </a:r>
            <a:r>
              <a:rPr lang="en-US" altLang="en-US" sz="1100" dirty="0" err="1">
                <a:solidFill>
                  <a:srgbClr val="000000"/>
                </a:solidFill>
                <a:latin typeface="Courier New" panose="02070309020205020404" pitchFamily="49" charset="0"/>
                <a:cs typeface="Courier New" panose="02070309020205020404" pitchFamily="49" charset="0"/>
              </a:rPr>
              <a:t>Staus</a:t>
            </a:r>
            <a:r>
              <a:rPr lang="en-US" altLang="en-US" sz="1100" dirty="0">
                <a:solidFill>
                  <a:srgbClr val="000000"/>
                </a:solidFill>
                <a:latin typeface="Courier New" panose="02070309020205020404" pitchFamily="49" charset="0"/>
                <a:cs typeface="Courier New" panose="02070309020205020404" pitchFamily="49" charset="0"/>
              </a:rPr>
              <a:t> Code: " + </a:t>
            </a:r>
            <a:r>
              <a:rPr lang="en-US" altLang="en-US" sz="1100" dirty="0" err="1">
                <a:solidFill>
                  <a:srgbClr val="000000"/>
                </a:solidFill>
                <a:latin typeface="Courier New" panose="02070309020205020404" pitchFamily="49" charset="0"/>
                <a:cs typeface="Courier New" panose="02070309020205020404" pitchFamily="49" charset="0"/>
              </a:rPr>
              <a:t>str</a:t>
            </a:r>
            <a:r>
              <a:rPr lang="en-US" altLang="en-US" sz="1100" dirty="0">
                <a:solidFill>
                  <a:srgbClr val="000000"/>
                </a:solidFill>
                <a:latin typeface="Courier New" panose="02070309020205020404" pitchFamily="49" charset="0"/>
                <a:cs typeface="Courier New" panose="02070309020205020404" pitchFamily="49" charset="0"/>
              </a:rPr>
              <a:t>(</a:t>
            </a:r>
            <a:r>
              <a:rPr lang="en-US" altLang="en-US" sz="1100" dirty="0" err="1">
                <a:solidFill>
                  <a:srgbClr val="000000"/>
                </a:solidFill>
                <a:latin typeface="Courier New" panose="02070309020205020404" pitchFamily="49" charset="0"/>
                <a:cs typeface="Courier New" panose="02070309020205020404" pitchFamily="49" charset="0"/>
              </a:rPr>
              <a:t>json_status</a:t>
            </a:r>
            <a:r>
              <a:rPr lang="en-US" altLang="en-US" sz="1100" dirty="0">
                <a:solidFill>
                  <a:srgbClr val="000000"/>
                </a:solidFill>
                <a:latin typeface="Courier New" panose="02070309020205020404" pitchFamily="49" charset="0"/>
                <a:cs typeface="Courier New" panose="02070309020205020404" pitchFamily="49" charset="0"/>
              </a:rPr>
              <a:t>) + "; Invalid user inputs for one or both locations.")</a:t>
            </a:r>
          </a:p>
          <a:p>
            <a:r>
              <a:rPr lang="en-US" altLang="en-US" sz="1100" dirty="0">
                <a:solidFill>
                  <a:srgbClr val="000000"/>
                </a:solidFill>
                <a:latin typeface="Courier New" panose="02070309020205020404" pitchFamily="49" charset="0"/>
                <a:cs typeface="Courier New" panose="02070309020205020404" pitchFamily="49" charset="0"/>
              </a:rPr>
              <a:t>        print("**********************************************\n")</a:t>
            </a:r>
          </a:p>
          <a:p>
            <a:r>
              <a:rPr lang="en-US" altLang="en-US" sz="1100" dirty="0">
                <a:solidFill>
                  <a:srgbClr val="000000"/>
                </a:solidFill>
                <a:latin typeface="Courier New" panose="02070309020205020404" pitchFamily="49" charset="0"/>
                <a:cs typeface="Courier New" panose="02070309020205020404" pitchFamily="49" charset="0"/>
              </a:rPr>
              <a:t>        print("=============================================")</a:t>
            </a:r>
          </a:p>
        </p:txBody>
      </p:sp>
    </p:spTree>
    <p:extLst>
      <p:ext uri="{BB962C8B-B14F-4D97-AF65-F5344CB8AC3E}">
        <p14:creationId xmlns:p14="http://schemas.microsoft.com/office/powerpoint/2010/main" val="521830297"/>
      </p:ext>
    </p:extLst>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descr="Check for other error types.">
            <a:extLst>
              <a:ext uri="{FF2B5EF4-FFF2-40B4-BE49-F238E27FC236}">
                <a16:creationId xmlns:a16="http://schemas.microsoft.com/office/drawing/2014/main" id="{008CA572-2410-48C4-A5BF-36261AED13E3}"/>
              </a:ext>
            </a:extLst>
          </p:cNvPr>
          <p:cNvSpPr/>
          <p:nvPr/>
        </p:nvSpPr>
        <p:spPr>
          <a:xfrm>
            <a:off x="927331" y="3790866"/>
            <a:ext cx="7020167" cy="664402"/>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descr="Check for other error types.">
            <a:extLst>
              <a:ext uri="{FF2B5EF4-FFF2-40B4-BE49-F238E27FC236}">
                <a16:creationId xmlns:a16="http://schemas.microsoft.com/office/drawing/2014/main" id="{5E411AB4-362A-449E-A479-852DB24B83C1}"/>
              </a:ext>
            </a:extLst>
          </p:cNvPr>
          <p:cNvSpPr/>
          <p:nvPr/>
        </p:nvSpPr>
        <p:spPr>
          <a:xfrm>
            <a:off x="611652" y="3601703"/>
            <a:ext cx="458391" cy="182358"/>
          </a:xfrm>
          <a:prstGeom prst="rect">
            <a:avLst/>
          </a:prstGeom>
          <a:solidFill>
            <a:schemeClr val="accent6">
              <a:lumMod val="60000"/>
              <a:lumOff val="40000"/>
            </a:schemeClr>
          </a:solidFill>
          <a:ln>
            <a:solidFill>
              <a:schemeClr val="accent6">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046453"/>
            <a:ext cx="8436618" cy="1706476"/>
          </a:xfrm>
        </p:spPr>
        <p:txBody>
          <a:bodyPr>
            <a:normAutofit fontScale="77500" lnSpcReduction="20000"/>
          </a:bodyPr>
          <a:lstStyle/>
          <a:p>
            <a:pPr marL="55563" indent="0">
              <a:buNone/>
            </a:pPr>
            <a:r>
              <a:rPr lang="en-US" dirty="0"/>
              <a:t>Invalid user inputs is only one error type. </a:t>
            </a:r>
          </a:p>
          <a:p>
            <a:pPr marL="55563" indent="0">
              <a:buNone/>
            </a:pPr>
            <a:r>
              <a:rPr lang="en-US" dirty="0"/>
              <a:t>You could write code to display error messages for other common errors. </a:t>
            </a:r>
          </a:p>
          <a:p>
            <a:pPr marL="55563" indent="0">
              <a:buNone/>
            </a:pPr>
            <a:r>
              <a:rPr lang="en-US" dirty="0"/>
              <a:t>For this application, add an </a:t>
            </a:r>
            <a:r>
              <a:rPr lang="en-US" b="1" dirty="0"/>
              <a:t>else</a:t>
            </a:r>
            <a:r>
              <a:rPr lang="en-US" dirty="0"/>
              <a:t> statement that ends the if loop and covers all other </a:t>
            </a:r>
            <a:r>
              <a:rPr lang="en-US" b="1" dirty="0" err="1"/>
              <a:t>json_status</a:t>
            </a:r>
            <a:r>
              <a:rPr lang="en-US" b="1" dirty="0"/>
              <a:t> </a:t>
            </a:r>
            <a:r>
              <a:rPr lang="en-US" dirty="0"/>
              <a:t>values, as shown here.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8939" y="341313"/>
            <a:ext cx="8345488" cy="731837"/>
          </a:xfrm>
        </p:spPr>
        <p:txBody>
          <a:bodyPr>
            <a:normAutofit/>
          </a:bodyPr>
          <a:lstStyle/>
          <a:p>
            <a:r>
              <a:rPr lang="en-US" dirty="0"/>
              <a:t>Check for Other Error Types</a:t>
            </a:r>
          </a:p>
        </p:txBody>
      </p:sp>
      <p:sp>
        <p:nvSpPr>
          <p:cNvPr id="8" name="Rectangle 7">
            <a:extLst>
              <a:ext uri="{FF2B5EF4-FFF2-40B4-BE49-F238E27FC236}">
                <a16:creationId xmlns:a16="http://schemas.microsoft.com/office/drawing/2014/main" id="{AA68E309-AA17-4BBA-9439-403144FDFA4C}"/>
              </a:ext>
            </a:extLst>
          </p:cNvPr>
          <p:cNvSpPr/>
          <p:nvPr/>
        </p:nvSpPr>
        <p:spPr>
          <a:xfrm>
            <a:off x="232342" y="2726925"/>
            <a:ext cx="9043415" cy="2023353"/>
          </a:xfrm>
          <a:prstGeom prst="rect">
            <a:avLst/>
          </a:prstGeom>
          <a:ln>
            <a:solidFill>
              <a:schemeClr val="tx1"/>
            </a:solidFill>
          </a:ln>
        </p:spPr>
        <p:txBody>
          <a:bodyPr wrap="square">
            <a:noAutofit/>
          </a:bodyPr>
          <a:lstStyle/>
          <a:p>
            <a:r>
              <a:rPr lang="en-US" altLang="en-US" sz="1100" dirty="0">
                <a:solidFill>
                  <a:srgbClr val="000000"/>
                </a:solidFill>
                <a:latin typeface="Courier New" panose="02070309020205020404" pitchFamily="49" charset="0"/>
                <a:cs typeface="Courier New" panose="02070309020205020404" pitchFamily="49" charset="0"/>
              </a:rPr>
              <a:t>    </a:t>
            </a:r>
            <a:r>
              <a:rPr lang="en-US" altLang="en-US" sz="1100" dirty="0" err="1">
                <a:solidFill>
                  <a:srgbClr val="000000"/>
                </a:solidFill>
                <a:latin typeface="Courier New" panose="02070309020205020404" pitchFamily="49" charset="0"/>
                <a:cs typeface="Courier New" panose="02070309020205020404" pitchFamily="49" charset="0"/>
              </a:rPr>
              <a:t>elif</a:t>
            </a:r>
            <a:r>
              <a:rPr lang="en-US" altLang="en-US" sz="1100" dirty="0">
                <a:solidFill>
                  <a:srgbClr val="000000"/>
                </a:solidFill>
                <a:latin typeface="Courier New" panose="02070309020205020404" pitchFamily="49" charset="0"/>
                <a:cs typeface="Courier New" panose="02070309020205020404" pitchFamily="49" charset="0"/>
              </a:rPr>
              <a:t> </a:t>
            </a:r>
            <a:r>
              <a:rPr lang="en-US" altLang="en-US" sz="1100" dirty="0" err="1">
                <a:solidFill>
                  <a:srgbClr val="000000"/>
                </a:solidFill>
                <a:latin typeface="Courier New" panose="02070309020205020404" pitchFamily="49" charset="0"/>
                <a:cs typeface="Courier New" panose="02070309020205020404" pitchFamily="49" charset="0"/>
              </a:rPr>
              <a:t>json_status</a:t>
            </a:r>
            <a:r>
              <a:rPr lang="en-US" altLang="en-US" sz="1100" dirty="0">
                <a:solidFill>
                  <a:srgbClr val="000000"/>
                </a:solidFill>
                <a:latin typeface="Courier New" panose="02070309020205020404" pitchFamily="49" charset="0"/>
                <a:cs typeface="Courier New" panose="02070309020205020404" pitchFamily="49" charset="0"/>
              </a:rPr>
              <a:t> == 402:</a:t>
            </a:r>
          </a:p>
          <a:p>
            <a:r>
              <a:rPr lang="en-US" altLang="en-US" sz="1100" dirty="0">
                <a:solidFill>
                  <a:srgbClr val="000000"/>
                </a:solidFill>
                <a:latin typeface="Courier New" panose="02070309020205020404" pitchFamily="49" charset="0"/>
                <a:cs typeface="Courier New" panose="02070309020205020404" pitchFamily="49" charset="0"/>
              </a:rPr>
              <a:t>        print("**********************************************")</a:t>
            </a:r>
          </a:p>
          <a:p>
            <a:r>
              <a:rPr lang="en-US" altLang="en-US" sz="1100" dirty="0">
                <a:solidFill>
                  <a:srgbClr val="000000"/>
                </a:solidFill>
                <a:latin typeface="Courier New" panose="02070309020205020404" pitchFamily="49" charset="0"/>
                <a:cs typeface="Courier New" panose="02070309020205020404" pitchFamily="49" charset="0"/>
              </a:rPr>
              <a:t>        print("For </a:t>
            </a:r>
            <a:r>
              <a:rPr lang="en-US" altLang="en-US" sz="1100" dirty="0" err="1">
                <a:solidFill>
                  <a:srgbClr val="000000"/>
                </a:solidFill>
                <a:latin typeface="Courier New" panose="02070309020205020404" pitchFamily="49" charset="0"/>
                <a:cs typeface="Courier New" panose="02070309020205020404" pitchFamily="49" charset="0"/>
              </a:rPr>
              <a:t>Staus</a:t>
            </a:r>
            <a:r>
              <a:rPr lang="en-US" altLang="en-US" sz="1100" dirty="0">
                <a:solidFill>
                  <a:srgbClr val="000000"/>
                </a:solidFill>
                <a:latin typeface="Courier New" panose="02070309020205020404" pitchFamily="49" charset="0"/>
                <a:cs typeface="Courier New" panose="02070309020205020404" pitchFamily="49" charset="0"/>
              </a:rPr>
              <a:t> Code: " + </a:t>
            </a:r>
            <a:r>
              <a:rPr lang="en-US" altLang="en-US" sz="1100" dirty="0" err="1">
                <a:solidFill>
                  <a:srgbClr val="000000"/>
                </a:solidFill>
                <a:latin typeface="Courier New" panose="02070309020205020404" pitchFamily="49" charset="0"/>
                <a:cs typeface="Courier New" panose="02070309020205020404" pitchFamily="49" charset="0"/>
              </a:rPr>
              <a:t>str</a:t>
            </a:r>
            <a:r>
              <a:rPr lang="en-US" altLang="en-US" sz="1100" dirty="0">
                <a:solidFill>
                  <a:srgbClr val="000000"/>
                </a:solidFill>
                <a:latin typeface="Courier New" panose="02070309020205020404" pitchFamily="49" charset="0"/>
                <a:cs typeface="Courier New" panose="02070309020205020404" pitchFamily="49" charset="0"/>
              </a:rPr>
              <a:t>(</a:t>
            </a:r>
            <a:r>
              <a:rPr lang="en-US" altLang="en-US" sz="1100" dirty="0" err="1">
                <a:solidFill>
                  <a:srgbClr val="000000"/>
                </a:solidFill>
                <a:latin typeface="Courier New" panose="02070309020205020404" pitchFamily="49" charset="0"/>
                <a:cs typeface="Courier New" panose="02070309020205020404" pitchFamily="49" charset="0"/>
              </a:rPr>
              <a:t>json_status</a:t>
            </a:r>
            <a:r>
              <a:rPr lang="en-US" altLang="en-US" sz="1100" dirty="0">
                <a:solidFill>
                  <a:srgbClr val="000000"/>
                </a:solidFill>
                <a:latin typeface="Courier New" panose="02070309020205020404" pitchFamily="49" charset="0"/>
                <a:cs typeface="Courier New" panose="02070309020205020404" pitchFamily="49" charset="0"/>
              </a:rPr>
              <a:t>) + "; Invalid user inputs for one or both locations.")</a:t>
            </a:r>
          </a:p>
          <a:p>
            <a:r>
              <a:rPr lang="en-US" altLang="en-US" sz="1100" dirty="0">
                <a:solidFill>
                  <a:srgbClr val="000000"/>
                </a:solidFill>
                <a:latin typeface="Courier New" panose="02070309020205020404" pitchFamily="49" charset="0"/>
                <a:cs typeface="Courier New" panose="02070309020205020404" pitchFamily="49" charset="0"/>
              </a:rPr>
              <a:t>        print("**********************************************\n")</a:t>
            </a:r>
          </a:p>
          <a:p>
            <a:r>
              <a:rPr lang="en-US" altLang="en-US" sz="1100" dirty="0">
                <a:solidFill>
                  <a:srgbClr val="000000"/>
                </a:solidFill>
                <a:latin typeface="Courier New" panose="02070309020205020404" pitchFamily="49" charset="0"/>
                <a:cs typeface="Courier New" panose="02070309020205020404" pitchFamily="49" charset="0"/>
              </a:rPr>
              <a:t>        print("=============================================")</a:t>
            </a:r>
          </a:p>
          <a:p>
            <a:r>
              <a:rPr lang="en-US" altLang="en-US" sz="1100" dirty="0">
                <a:solidFill>
                  <a:srgbClr val="000000"/>
                </a:solidFill>
                <a:latin typeface="Courier New" panose="02070309020205020404" pitchFamily="49" charset="0"/>
                <a:cs typeface="Courier New" panose="02070309020205020404" pitchFamily="49" charset="0"/>
              </a:rPr>
              <a:t>    else:</a:t>
            </a:r>
          </a:p>
          <a:p>
            <a:r>
              <a:rPr lang="en-US" altLang="en-US" sz="1100" dirty="0">
                <a:solidFill>
                  <a:srgbClr val="000000"/>
                </a:solidFill>
                <a:latin typeface="Courier New" panose="02070309020205020404" pitchFamily="49" charset="0"/>
                <a:cs typeface="Courier New" panose="02070309020205020404" pitchFamily="49" charset="0"/>
              </a:rPr>
              <a:t>        print("************************************************************************")</a:t>
            </a:r>
          </a:p>
          <a:p>
            <a:r>
              <a:rPr lang="en-US" altLang="en-US" sz="1100" dirty="0">
                <a:solidFill>
                  <a:srgbClr val="000000"/>
                </a:solidFill>
                <a:latin typeface="Courier New" panose="02070309020205020404" pitchFamily="49" charset="0"/>
                <a:cs typeface="Courier New" panose="02070309020205020404" pitchFamily="49" charset="0"/>
              </a:rPr>
              <a:t>        print("For </a:t>
            </a:r>
            <a:r>
              <a:rPr lang="en-US" altLang="en-US" sz="1100" dirty="0" err="1">
                <a:solidFill>
                  <a:srgbClr val="000000"/>
                </a:solidFill>
                <a:latin typeface="Courier New" panose="02070309020205020404" pitchFamily="49" charset="0"/>
                <a:cs typeface="Courier New" panose="02070309020205020404" pitchFamily="49" charset="0"/>
              </a:rPr>
              <a:t>Staus</a:t>
            </a:r>
            <a:r>
              <a:rPr lang="en-US" altLang="en-US" sz="1100" dirty="0">
                <a:solidFill>
                  <a:srgbClr val="000000"/>
                </a:solidFill>
                <a:latin typeface="Courier New" panose="02070309020205020404" pitchFamily="49" charset="0"/>
                <a:cs typeface="Courier New" panose="02070309020205020404" pitchFamily="49" charset="0"/>
              </a:rPr>
              <a:t> Code: " + str(</a:t>
            </a:r>
            <a:r>
              <a:rPr lang="en-US" altLang="en-US" sz="1100" dirty="0" err="1">
                <a:solidFill>
                  <a:srgbClr val="000000"/>
                </a:solidFill>
                <a:latin typeface="Courier New" panose="02070309020205020404" pitchFamily="49" charset="0"/>
                <a:cs typeface="Courier New" panose="02070309020205020404" pitchFamily="49" charset="0"/>
              </a:rPr>
              <a:t>json_status</a:t>
            </a:r>
            <a:r>
              <a:rPr lang="en-US" altLang="en-US" sz="1100" dirty="0">
                <a:solidFill>
                  <a:srgbClr val="000000"/>
                </a:solidFill>
                <a:latin typeface="Courier New" panose="02070309020205020404" pitchFamily="49" charset="0"/>
                <a:cs typeface="Courier New" panose="02070309020205020404" pitchFamily="49" charset="0"/>
              </a:rPr>
              <a:t>) + ", Refer to:")</a:t>
            </a:r>
          </a:p>
          <a:p>
            <a:r>
              <a:rPr lang="en-US" altLang="en-US" sz="1100" dirty="0">
                <a:solidFill>
                  <a:srgbClr val="000000"/>
                </a:solidFill>
                <a:latin typeface="Courier New" panose="02070309020205020404" pitchFamily="49" charset="0"/>
                <a:cs typeface="Courier New" panose="02070309020205020404" pitchFamily="49" charset="0"/>
              </a:rPr>
              <a:t>        print("https://developer.mapquest.com/documentation/directions-</a:t>
            </a:r>
            <a:r>
              <a:rPr lang="en-US" altLang="en-US" sz="1100" dirty="0" err="1">
                <a:solidFill>
                  <a:srgbClr val="000000"/>
                </a:solidFill>
                <a:latin typeface="Courier New" panose="02070309020205020404" pitchFamily="49" charset="0"/>
                <a:cs typeface="Courier New" panose="02070309020205020404" pitchFamily="49" charset="0"/>
              </a:rPr>
              <a:t>api</a:t>
            </a:r>
            <a:r>
              <a:rPr lang="en-US" altLang="en-US" sz="1100" dirty="0">
                <a:solidFill>
                  <a:srgbClr val="000000"/>
                </a:solidFill>
                <a:latin typeface="Courier New" panose="02070309020205020404" pitchFamily="49" charset="0"/>
                <a:cs typeface="Courier New" panose="02070309020205020404" pitchFamily="49" charset="0"/>
              </a:rPr>
              <a:t>/status-codes")</a:t>
            </a:r>
          </a:p>
          <a:p>
            <a:r>
              <a:rPr lang="en-US" altLang="en-US" sz="1100" dirty="0">
                <a:solidFill>
                  <a:srgbClr val="000000"/>
                </a:solidFill>
                <a:latin typeface="Courier New" panose="02070309020205020404" pitchFamily="49" charset="0"/>
                <a:cs typeface="Courier New" panose="02070309020205020404" pitchFamily="49" charset="0"/>
              </a:rPr>
              <a:t>        print("************************************************************************\n")</a:t>
            </a:r>
          </a:p>
        </p:txBody>
      </p:sp>
    </p:spTree>
    <p:extLst>
      <p:ext uri="{BB962C8B-B14F-4D97-AF65-F5344CB8AC3E}">
        <p14:creationId xmlns:p14="http://schemas.microsoft.com/office/powerpoint/2010/main" val="1136672688"/>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469EFA7-10C9-4DC7-958A-832295929A31}"/>
              </a:ext>
            </a:extLst>
          </p:cNvPr>
          <p:cNvSpPr>
            <a:spLocks noGrp="1"/>
          </p:cNvSpPr>
          <p:nvPr>
            <p:ph type="body" sz="quarter" idx="10"/>
          </p:nvPr>
        </p:nvSpPr>
        <p:spPr>
          <a:xfrm>
            <a:off x="259774" y="1347788"/>
            <a:ext cx="8378388" cy="3168210"/>
          </a:xfrm>
        </p:spPr>
        <p:txBody>
          <a:bodyPr>
            <a:normAutofit/>
          </a:bodyPr>
          <a:lstStyle/>
          <a:p>
            <a:pPr marL="287338" indent="-231775">
              <a:buFont typeface="+mj-lt"/>
              <a:buAutoNum type="arabicPeriod"/>
            </a:pPr>
            <a:r>
              <a:rPr lang="en-US" dirty="0"/>
              <a:t>Run your </a:t>
            </a:r>
            <a:r>
              <a:rPr lang="en-US" b="1" i="1" dirty="0"/>
              <a:t> studentname</a:t>
            </a:r>
            <a:r>
              <a:rPr lang="en-US" b="1" dirty="0"/>
              <a:t>_json-parse7.py</a:t>
            </a:r>
            <a:r>
              <a:rPr lang="en-US" dirty="0"/>
              <a:t> script and verify it works. </a:t>
            </a:r>
          </a:p>
          <a:p>
            <a:pPr marL="287338" indent="-231775">
              <a:buFont typeface="+mj-lt"/>
              <a:buAutoNum type="arabicPeriod"/>
            </a:pPr>
            <a:r>
              <a:rPr lang="en-US" dirty="0"/>
              <a:t>Troubleshoot your code, if necessary. </a:t>
            </a:r>
          </a:p>
          <a:p>
            <a:pPr marL="287338" indent="-231775">
              <a:buFont typeface="+mj-lt"/>
              <a:buAutoNum type="arabicPeriod"/>
            </a:pPr>
            <a:r>
              <a:rPr lang="en-US" dirty="0"/>
              <a:t>For errors, you should get a similar output as shown on the next slide.</a:t>
            </a:r>
          </a:p>
        </p:txBody>
      </p:sp>
      <p:sp>
        <p:nvSpPr>
          <p:cNvPr id="3" name="Title 2">
            <a:extLst>
              <a:ext uri="{FF2B5EF4-FFF2-40B4-BE49-F238E27FC236}">
                <a16:creationId xmlns:a16="http://schemas.microsoft.com/office/drawing/2014/main" id="{5E5F5CB8-BCD4-4967-9C5A-9E6F1EFD5C1E}"/>
              </a:ext>
            </a:extLst>
          </p:cNvPr>
          <p:cNvSpPr>
            <a:spLocks noGrp="1"/>
          </p:cNvSpPr>
          <p:nvPr>
            <p:ph type="title"/>
          </p:nvPr>
        </p:nvSpPr>
        <p:spPr>
          <a:xfrm>
            <a:off x="466928" y="331585"/>
            <a:ext cx="7869676" cy="68009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normAutofit/>
          </a:bodyPr>
          <a:lstStyle/>
          <a:p>
            <a:r>
              <a:rPr lang="en-US" dirty="0"/>
              <a:t>Activity - Test Full Application Functionality</a:t>
            </a:r>
          </a:p>
        </p:txBody>
      </p:sp>
    </p:spTree>
    <p:extLst>
      <p:ext uri="{BB962C8B-B14F-4D97-AF65-F5344CB8AC3E}">
        <p14:creationId xmlns:p14="http://schemas.microsoft.com/office/powerpoint/2010/main" val="3131101466"/>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B3EA4B7-4464-47AD-9E64-A1C931920ECE}"/>
              </a:ext>
            </a:extLst>
          </p:cNvPr>
          <p:cNvSpPr/>
          <p:nvPr/>
        </p:nvSpPr>
        <p:spPr>
          <a:xfrm>
            <a:off x="914400" y="220816"/>
            <a:ext cx="7791834" cy="4516554"/>
          </a:xfrm>
          <a:prstGeom prst="rect">
            <a:avLst/>
          </a:prstGeom>
          <a:ln>
            <a:solidFill>
              <a:schemeClr val="tx1"/>
            </a:solidFill>
          </a:ln>
        </p:spPr>
        <p:txBody>
          <a:bodyPr wrap="square">
            <a:noAutofit/>
          </a:bodyPr>
          <a:lstStyle/>
          <a:p>
            <a:r>
              <a:rPr lang="en-US" sz="1050" dirty="0">
                <a:solidFill>
                  <a:srgbClr val="000000"/>
                </a:solidFill>
                <a:latin typeface="Courier New" panose="02070309020205020404" pitchFamily="49" charset="0"/>
                <a:cs typeface="Courier New" panose="02070309020205020404" pitchFamily="49" charset="0"/>
              </a:rPr>
              <a:t>========= RESTART: /home/user/</a:t>
            </a:r>
            <a:r>
              <a:rPr lang="en-US" sz="1050" i="1" dirty="0">
                <a:solidFill>
                  <a:srgbClr val="000000"/>
                </a:solidFill>
                <a:latin typeface="Courier New" panose="02070309020205020404" pitchFamily="49" charset="0"/>
                <a:cs typeface="Courier New" panose="02070309020205020404" pitchFamily="49" charset="0"/>
              </a:rPr>
              <a:t>studentname</a:t>
            </a:r>
            <a:r>
              <a:rPr lang="en-US" sz="1050" dirty="0">
                <a:solidFill>
                  <a:srgbClr val="000000"/>
                </a:solidFill>
                <a:latin typeface="Courier New" panose="02070309020205020404" pitchFamily="49" charset="0"/>
                <a:cs typeface="Courier New" panose="02070309020205020404" pitchFamily="49" charset="0"/>
              </a:rPr>
              <a:t>_parse-json7.py ==========</a:t>
            </a:r>
          </a:p>
          <a:p>
            <a:r>
              <a:rPr lang="en-US" sz="1050" dirty="0">
                <a:solidFill>
                  <a:srgbClr val="000000"/>
                </a:solidFill>
                <a:latin typeface="Courier New" panose="02070309020205020404" pitchFamily="49" charset="0"/>
                <a:cs typeface="Courier New" panose="02070309020205020404" pitchFamily="49" charset="0"/>
              </a:rPr>
              <a:t>Starting Location: </a:t>
            </a:r>
            <a:r>
              <a:rPr lang="en-US" sz="1050" b="1" dirty="0">
                <a:solidFill>
                  <a:srgbClr val="000000"/>
                </a:solidFill>
                <a:latin typeface="Courier New" panose="02070309020205020404" pitchFamily="49" charset="0"/>
                <a:cs typeface="Courier New" panose="02070309020205020404" pitchFamily="49" charset="0"/>
              </a:rPr>
              <a:t>Washington</a:t>
            </a:r>
          </a:p>
          <a:p>
            <a:r>
              <a:rPr lang="en-US" sz="1050" dirty="0">
                <a:solidFill>
                  <a:srgbClr val="000000"/>
                </a:solidFill>
                <a:latin typeface="Courier New" panose="02070309020205020404" pitchFamily="49" charset="0"/>
                <a:cs typeface="Courier New" panose="02070309020205020404" pitchFamily="49" charset="0"/>
              </a:rPr>
              <a:t>Destination: </a:t>
            </a:r>
            <a:r>
              <a:rPr lang="en-US" sz="1050" b="1" dirty="0">
                <a:solidFill>
                  <a:srgbClr val="000000"/>
                </a:solidFill>
                <a:latin typeface="Courier New" panose="02070309020205020404" pitchFamily="49" charset="0"/>
                <a:cs typeface="Courier New" panose="02070309020205020404" pitchFamily="49" charset="0"/>
              </a:rPr>
              <a:t>Beijing</a:t>
            </a:r>
          </a:p>
          <a:p>
            <a:r>
              <a:rPr lang="en-US" sz="1050" dirty="0">
                <a:solidFill>
                  <a:srgbClr val="000000"/>
                </a:solidFill>
                <a:latin typeface="Courier New" panose="02070309020205020404" pitchFamily="49" charset="0"/>
                <a:cs typeface="Courier New" panose="02070309020205020404" pitchFamily="49" charset="0"/>
              </a:rPr>
              <a:t>URL: https://www.mapquestapi.com/directions/v2/route?key=your_api_key&amp;from=WashingtonTurn+right+onto+%E5%89%8D%E9%97%A8%E8%A5%BF%E5%A4%A7%E8%A1%97%2FQianmen+West+Street.+%281.01+km%29&amp;to=Beijing</a:t>
            </a:r>
          </a:p>
          <a:p>
            <a:endParaRPr lang="en-US" sz="1050" dirty="0">
              <a:solidFill>
                <a:srgbClr val="000000"/>
              </a:solidFill>
              <a:latin typeface="Courier New" panose="02070309020205020404" pitchFamily="49" charset="0"/>
              <a:cs typeface="Courier New" panose="02070309020205020404" pitchFamily="49" charset="0"/>
            </a:endParaRPr>
          </a:p>
          <a:p>
            <a:r>
              <a:rPr lang="en-US" sz="1050" dirty="0">
                <a:solidFill>
                  <a:srgbClr val="000000"/>
                </a:solidFill>
                <a:latin typeface="Courier New" panose="02070309020205020404" pitchFamily="49" charset="0"/>
                <a:cs typeface="Courier New" panose="02070309020205020404" pitchFamily="49" charset="0"/>
              </a:rPr>
              <a:t>****************************************************************</a:t>
            </a:r>
          </a:p>
          <a:p>
            <a:r>
              <a:rPr lang="en-US" sz="1050" dirty="0">
                <a:solidFill>
                  <a:srgbClr val="000000"/>
                </a:solidFill>
                <a:latin typeface="Courier New" panose="02070309020205020404" pitchFamily="49" charset="0"/>
                <a:cs typeface="Courier New" panose="02070309020205020404" pitchFamily="49" charset="0"/>
              </a:rPr>
              <a:t>Status Code: 402; Invalid user inputs for one or both locations.</a:t>
            </a:r>
          </a:p>
          <a:p>
            <a:r>
              <a:rPr lang="en-US" sz="1050" dirty="0">
                <a:solidFill>
                  <a:srgbClr val="000000"/>
                </a:solidFill>
                <a:latin typeface="Courier New" panose="02070309020205020404" pitchFamily="49" charset="0"/>
                <a:cs typeface="Courier New" panose="02070309020205020404" pitchFamily="49" charset="0"/>
              </a:rPr>
              <a:t>****************************************************************</a:t>
            </a:r>
          </a:p>
          <a:p>
            <a:endParaRPr lang="en-US" sz="1050" dirty="0">
              <a:solidFill>
                <a:srgbClr val="000000"/>
              </a:solidFill>
              <a:latin typeface="Courier New" panose="02070309020205020404" pitchFamily="49" charset="0"/>
              <a:cs typeface="Courier New" panose="02070309020205020404" pitchFamily="49" charset="0"/>
            </a:endParaRPr>
          </a:p>
          <a:p>
            <a:r>
              <a:rPr lang="en-US" sz="1050" dirty="0">
                <a:solidFill>
                  <a:srgbClr val="000000"/>
                </a:solidFill>
                <a:latin typeface="Courier New" panose="02070309020205020404" pitchFamily="49" charset="0"/>
                <a:cs typeface="Courier New" panose="02070309020205020404" pitchFamily="49" charset="0"/>
              </a:rPr>
              <a:t>Starting Location: </a:t>
            </a:r>
            <a:r>
              <a:rPr lang="en-US" sz="1050" b="1" dirty="0">
                <a:solidFill>
                  <a:srgbClr val="000000"/>
                </a:solidFill>
                <a:latin typeface="Courier New" panose="02070309020205020404" pitchFamily="49" charset="0"/>
                <a:cs typeface="Courier New" panose="02070309020205020404" pitchFamily="49" charset="0"/>
              </a:rPr>
              <a:t>Washington</a:t>
            </a:r>
          </a:p>
          <a:p>
            <a:r>
              <a:rPr lang="en-US" sz="1050" dirty="0">
                <a:solidFill>
                  <a:srgbClr val="000000"/>
                </a:solidFill>
                <a:latin typeface="Courier New" panose="02070309020205020404" pitchFamily="49" charset="0"/>
                <a:cs typeface="Courier New" panose="02070309020205020404" pitchFamily="49" charset="0"/>
              </a:rPr>
              <a:t>Destination: </a:t>
            </a:r>
            <a:r>
              <a:rPr lang="en-US" sz="1050" b="1" dirty="0" err="1">
                <a:solidFill>
                  <a:srgbClr val="000000"/>
                </a:solidFill>
                <a:latin typeface="Courier New" panose="02070309020205020404" pitchFamily="49" charset="0"/>
                <a:cs typeface="Courier New" panose="02070309020205020404" pitchFamily="49" charset="0"/>
              </a:rPr>
              <a:t>Balt</a:t>
            </a:r>
            <a:endParaRPr lang="en-US" sz="1050" b="1" dirty="0">
              <a:solidFill>
                <a:srgbClr val="000000"/>
              </a:solidFill>
              <a:latin typeface="Courier New" panose="02070309020205020404" pitchFamily="49" charset="0"/>
              <a:cs typeface="Courier New" panose="02070309020205020404" pitchFamily="49" charset="0"/>
            </a:endParaRPr>
          </a:p>
          <a:p>
            <a:r>
              <a:rPr lang="en-US" sz="1050" dirty="0">
                <a:solidFill>
                  <a:srgbClr val="000000"/>
                </a:solidFill>
                <a:latin typeface="Courier New" panose="02070309020205020404" pitchFamily="49" charset="0"/>
                <a:cs typeface="Courier New" panose="02070309020205020404" pitchFamily="49" charset="0"/>
              </a:rPr>
              <a:t>URL: https://www.mapquestapi.com/directions/v2/route?key=your_api_key&amp;from=Washington&amp;to=Balt</a:t>
            </a:r>
          </a:p>
          <a:p>
            <a:endParaRPr lang="en-US" sz="1050" dirty="0">
              <a:solidFill>
                <a:srgbClr val="000000"/>
              </a:solidFill>
              <a:latin typeface="Courier New" panose="02070309020205020404" pitchFamily="49" charset="0"/>
              <a:cs typeface="Courier New" panose="02070309020205020404" pitchFamily="49" charset="0"/>
            </a:endParaRPr>
          </a:p>
          <a:p>
            <a:r>
              <a:rPr lang="en-US" sz="1050" dirty="0">
                <a:solidFill>
                  <a:srgbClr val="000000"/>
                </a:solidFill>
                <a:latin typeface="Courier New" panose="02070309020205020404" pitchFamily="49" charset="0"/>
                <a:cs typeface="Courier New" panose="02070309020205020404" pitchFamily="49" charset="0"/>
              </a:rPr>
              <a:t>************************************************************************</a:t>
            </a:r>
          </a:p>
          <a:p>
            <a:r>
              <a:rPr lang="en-US" sz="1050" dirty="0">
                <a:solidFill>
                  <a:srgbClr val="000000"/>
                </a:solidFill>
                <a:latin typeface="Courier New" panose="02070309020205020404" pitchFamily="49" charset="0"/>
                <a:cs typeface="Courier New" panose="02070309020205020404" pitchFamily="49" charset="0"/>
              </a:rPr>
              <a:t>Status Code: 602; Refer to:</a:t>
            </a:r>
          </a:p>
          <a:p>
            <a:r>
              <a:rPr lang="en-US" sz="1050" dirty="0">
                <a:solidFill>
                  <a:srgbClr val="000000"/>
                </a:solidFill>
                <a:latin typeface="Courier New" panose="02070309020205020404" pitchFamily="49" charset="0"/>
                <a:cs typeface="Courier New" panose="02070309020205020404" pitchFamily="49" charset="0"/>
              </a:rPr>
              <a:t>https://developer.mapquest.com/documentation/directions-api/status-codes</a:t>
            </a:r>
          </a:p>
          <a:p>
            <a:r>
              <a:rPr lang="en-US" sz="1050" dirty="0">
                <a:solidFill>
                  <a:srgbClr val="000000"/>
                </a:solidFill>
                <a:latin typeface="Courier New" panose="02070309020205020404" pitchFamily="49" charset="0"/>
                <a:cs typeface="Courier New" panose="02070309020205020404" pitchFamily="49" charset="0"/>
              </a:rPr>
              <a:t>************************************************************************</a:t>
            </a:r>
          </a:p>
          <a:p>
            <a:endParaRPr lang="en-US" sz="1050" dirty="0">
              <a:solidFill>
                <a:srgbClr val="000000"/>
              </a:solidFill>
              <a:latin typeface="Courier New" panose="02070309020205020404" pitchFamily="49" charset="0"/>
              <a:cs typeface="Courier New" panose="02070309020205020404" pitchFamily="49" charset="0"/>
            </a:endParaRPr>
          </a:p>
          <a:p>
            <a:r>
              <a:rPr lang="en-US" sz="1050" dirty="0">
                <a:solidFill>
                  <a:srgbClr val="000000"/>
                </a:solidFill>
                <a:latin typeface="Courier New" panose="02070309020205020404" pitchFamily="49" charset="0"/>
                <a:cs typeface="Courier New" panose="02070309020205020404" pitchFamily="49" charset="0"/>
              </a:rPr>
              <a:t>Starting Location: </a:t>
            </a:r>
            <a:r>
              <a:rPr lang="en-US" sz="1050" b="1" dirty="0">
                <a:solidFill>
                  <a:srgbClr val="000000"/>
                </a:solidFill>
                <a:latin typeface="Courier New" panose="02070309020205020404" pitchFamily="49" charset="0"/>
                <a:cs typeface="Courier New" panose="02070309020205020404" pitchFamily="49" charset="0"/>
              </a:rPr>
              <a:t>Washington</a:t>
            </a:r>
          </a:p>
          <a:p>
            <a:r>
              <a:rPr lang="en-US" sz="1050" dirty="0">
                <a:solidFill>
                  <a:srgbClr val="000000"/>
                </a:solidFill>
                <a:latin typeface="Courier New" panose="02070309020205020404" pitchFamily="49" charset="0"/>
                <a:cs typeface="Courier New" panose="02070309020205020404" pitchFamily="49" charset="0"/>
              </a:rPr>
              <a:t>Destination: </a:t>
            </a:r>
            <a:r>
              <a:rPr lang="en-US" sz="1050" b="1" dirty="0">
                <a:solidFill>
                  <a:srgbClr val="000000"/>
                </a:solidFill>
                <a:latin typeface="Courier New" panose="02070309020205020404" pitchFamily="49" charset="0"/>
                <a:cs typeface="Courier New" panose="02070309020205020404" pitchFamily="49" charset="0"/>
              </a:rPr>
              <a:t>[no user input]</a:t>
            </a:r>
          </a:p>
          <a:p>
            <a:r>
              <a:rPr lang="en-US" sz="1050" dirty="0">
                <a:solidFill>
                  <a:srgbClr val="000000"/>
                </a:solidFill>
                <a:latin typeface="Courier New" panose="02070309020205020404" pitchFamily="49" charset="0"/>
                <a:cs typeface="Courier New" panose="02070309020205020404" pitchFamily="49" charset="0"/>
              </a:rPr>
              <a:t>URL: https://www.mapquestapi.com/directions/v2/route?key=your_api_key&amp;from=Washington&amp;to=</a:t>
            </a:r>
          </a:p>
          <a:p>
            <a:endParaRPr lang="en-US" sz="1050" dirty="0">
              <a:solidFill>
                <a:srgbClr val="000000"/>
              </a:solidFill>
              <a:latin typeface="Courier New" panose="02070309020205020404" pitchFamily="49" charset="0"/>
              <a:cs typeface="Courier New" panose="02070309020205020404" pitchFamily="49" charset="0"/>
            </a:endParaRPr>
          </a:p>
          <a:p>
            <a:r>
              <a:rPr lang="en-US" sz="1050" dirty="0">
                <a:solidFill>
                  <a:srgbClr val="000000"/>
                </a:solidFill>
                <a:latin typeface="Courier New" panose="02070309020205020404" pitchFamily="49" charset="0"/>
                <a:cs typeface="Courier New" panose="02070309020205020404" pitchFamily="49" charset="0"/>
              </a:rPr>
              <a:t>************************************************************************</a:t>
            </a:r>
          </a:p>
          <a:p>
            <a:r>
              <a:rPr lang="en-US" sz="1050" dirty="0">
                <a:solidFill>
                  <a:srgbClr val="000000"/>
                </a:solidFill>
                <a:latin typeface="Courier New" panose="02070309020205020404" pitchFamily="49" charset="0"/>
                <a:cs typeface="Courier New" panose="02070309020205020404" pitchFamily="49" charset="0"/>
              </a:rPr>
              <a:t>Status Code: 611; Refer to:</a:t>
            </a:r>
          </a:p>
          <a:p>
            <a:r>
              <a:rPr lang="en-US" sz="1050" dirty="0">
                <a:solidFill>
                  <a:srgbClr val="000000"/>
                </a:solidFill>
                <a:latin typeface="Courier New" panose="02070309020205020404" pitchFamily="49" charset="0"/>
                <a:cs typeface="Courier New" panose="02070309020205020404" pitchFamily="49" charset="0"/>
              </a:rPr>
              <a:t>https://developer.mapquest.com/documentation/directions-api/status-codes</a:t>
            </a:r>
          </a:p>
          <a:p>
            <a:r>
              <a:rPr lang="en-US" sz="1050" dirty="0">
                <a:solidFill>
                  <a:srgbClr val="000000"/>
                </a:solidFill>
                <a:latin typeface="Courier New" panose="02070309020205020404" pitchFamily="49" charset="0"/>
                <a:cs typeface="Courier New" panose="02070309020205020404" pitchFamily="49" charset="0"/>
              </a:rPr>
              <a:t>************************************************************************</a:t>
            </a:r>
          </a:p>
        </p:txBody>
      </p:sp>
      <p:sp>
        <p:nvSpPr>
          <p:cNvPr id="2" name="Title 1">
            <a:extLst>
              <a:ext uri="{FF2B5EF4-FFF2-40B4-BE49-F238E27FC236}">
                <a16:creationId xmlns:a16="http://schemas.microsoft.com/office/drawing/2014/main" id="{3040377C-9D84-45C5-91BE-CBADBAF824CA}"/>
              </a:ext>
            </a:extLst>
          </p:cNvPr>
          <p:cNvSpPr>
            <a:spLocks noGrp="1"/>
          </p:cNvSpPr>
          <p:nvPr>
            <p:ph type="title"/>
          </p:nvPr>
        </p:nvSpPr>
        <p:spPr/>
        <p:txBody>
          <a:bodyPr/>
          <a:lstStyle/>
          <a:p>
            <a:r>
              <a:rPr lang="en-US" dirty="0"/>
              <a:t>!</a:t>
            </a:r>
          </a:p>
        </p:txBody>
      </p:sp>
    </p:spTree>
    <p:extLst>
      <p:ext uri="{BB962C8B-B14F-4D97-AF65-F5344CB8AC3E}">
        <p14:creationId xmlns:p14="http://schemas.microsoft.com/office/powerpoint/2010/main" val="986975908"/>
      </p:ext>
    </p:extLst>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828277"/>
      </p:ext>
    </p:extLst>
  </p:cSld>
  <p:clrMapOvr>
    <a:masterClrMapping/>
  </p:clrMapOvr>
</p:sld>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Blue theme 2015 16x9">
  <a:themeElements>
    <a:clrScheme name="Cisco White Template Colors_FINAL">
      <a:dk1>
        <a:srgbClr val="282828"/>
      </a:dk1>
      <a:lt1>
        <a:srgbClr val="005073"/>
      </a:lt1>
      <a:dk2>
        <a:srgbClr val="005073"/>
      </a:dk2>
      <a:lt2>
        <a:srgbClr val="FFFFFF"/>
      </a:lt2>
      <a:accent1>
        <a:srgbClr val="00BCEB"/>
      </a:accent1>
      <a:accent2>
        <a:srgbClr val="6EBE4A"/>
      </a:accent2>
      <a:accent3>
        <a:srgbClr val="005073"/>
      </a:accent3>
      <a:accent4>
        <a:srgbClr val="676767"/>
      </a:accent4>
      <a:accent5>
        <a:srgbClr val="FBAB18"/>
      </a:accent5>
      <a:accent6>
        <a:srgbClr val="E3241B"/>
      </a:accent6>
      <a:hlink>
        <a:srgbClr val="00BCEB"/>
      </a:hlink>
      <a:folHlink>
        <a:srgbClr val="005073"/>
      </a:folHlink>
    </a:clrScheme>
    <a:fontScheme name="CiscoSans True Type">
      <a:majorFont>
        <a:latin typeface="CiscoSansTT ExtraLight"/>
        <a:ea typeface=""/>
        <a:cs typeface=""/>
      </a:majorFont>
      <a:minorFont>
        <a:latin typeface="CiscoSansTT Extra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FY20 NetAcad PPT Template 16x9 Light Background" id="{D984579E-17D0-BA42-9739-083C05630F8A}" vid="{7AA0612E-D1AB-8F43-BBA9-9963D7C47D8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32965</TotalTime>
  <Words>4884</Words>
  <Application>Microsoft Office PowerPoint</Application>
  <PresentationFormat>On-screen Show (16:9)</PresentationFormat>
  <Paragraphs>466</Paragraphs>
  <Slides>47</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47</vt:i4>
      </vt:variant>
    </vt:vector>
  </HeadingPairs>
  <TitlesOfParts>
    <vt:vector size="54" baseType="lpstr">
      <vt:lpstr>Arial</vt:lpstr>
      <vt:lpstr>Calibri</vt:lpstr>
      <vt:lpstr>CiscoSans ExtraLight</vt:lpstr>
      <vt:lpstr>CiscoSansTT ExtraLight</vt:lpstr>
      <vt:lpstr>Courier New</vt:lpstr>
      <vt:lpstr>Default Theme</vt:lpstr>
      <vt:lpstr>Blue theme 2015 16x9</vt:lpstr>
      <vt:lpstr>Model Driven Programmability</vt:lpstr>
      <vt:lpstr>Welcome to the API Lesson with JSON</vt:lpstr>
      <vt:lpstr>Python for Cybersecurity</vt:lpstr>
      <vt:lpstr>APIs and RESTful APIs</vt:lpstr>
      <vt:lpstr>Application Programming Interface (API)</vt:lpstr>
      <vt:lpstr>API Example</vt:lpstr>
      <vt:lpstr>Web Services Interface using HTTP</vt:lpstr>
      <vt:lpstr>RESTful API using HTTP</vt:lpstr>
      <vt:lpstr>RESTful API using HTTP</vt:lpstr>
      <vt:lpstr>Anatomy of a RESTful Request</vt:lpstr>
      <vt:lpstr>API Documentation</vt:lpstr>
      <vt:lpstr>API Documentation</vt:lpstr>
      <vt:lpstr>JSON and XML</vt:lpstr>
      <vt:lpstr>JSON Response Data</vt:lpstr>
      <vt:lpstr>JSON Response Data</vt:lpstr>
      <vt:lpstr>XML Response Data</vt:lpstr>
      <vt:lpstr>Parsing JSON with Python</vt:lpstr>
      <vt:lpstr>Demonstration - MapQuest API Application</vt:lpstr>
      <vt:lpstr>MapQuest API Application Objectives</vt:lpstr>
      <vt:lpstr>Authenticating a RESTful Request</vt:lpstr>
      <vt:lpstr>Activity - Get Your MapQuest API Key</vt:lpstr>
      <vt:lpstr>Importing Modules</vt:lpstr>
      <vt:lpstr>Create Variables for API Request</vt:lpstr>
      <vt:lpstr>Create the JSON Request</vt:lpstr>
      <vt:lpstr>Activity - Test the URL Request</vt:lpstr>
      <vt:lpstr>Print the URL and Check the Status of the JSON Request</vt:lpstr>
      <vt:lpstr>Activity - Test Status and URL Print Commands</vt:lpstr>
      <vt:lpstr>Add User Input for Address</vt:lpstr>
      <vt:lpstr>Activity - Test User Input</vt:lpstr>
      <vt:lpstr>Add Quit Functionality</vt:lpstr>
      <vt:lpstr>Activity - Test Quit Functionality</vt:lpstr>
      <vt:lpstr>Displaying Trip Data</vt:lpstr>
      <vt:lpstr>Parse and Display Trip Data</vt:lpstr>
      <vt:lpstr>Activity - Test Trip Data Display</vt:lpstr>
      <vt:lpstr>Convert Imperial to Metric</vt:lpstr>
      <vt:lpstr>Activity - Test Metric Conversion</vt:lpstr>
      <vt:lpstr>Format to 2 Decimal Places</vt:lpstr>
      <vt:lpstr>Activity - Test Formatting Decimal Places</vt:lpstr>
      <vt:lpstr>Inspect the Directions JSON Data</vt:lpstr>
      <vt:lpstr>Inspect the Maneuvers JSON Data</vt:lpstr>
      <vt:lpstr>Iterate Through the Directions Data</vt:lpstr>
      <vt:lpstr>Activity - Test Iteration</vt:lpstr>
      <vt:lpstr>Check for Invalid User Input</vt:lpstr>
      <vt:lpstr>Check for Other Error Types</vt:lpstr>
      <vt:lpstr>Activity - Test Full Application Functionality</vt:lpstr>
      <vt:lpstr>!</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 Pius (spius)</dc:creator>
  <cp:lastModifiedBy>Jeff Sperley</cp:lastModifiedBy>
  <cp:revision>288</cp:revision>
  <dcterms:created xsi:type="dcterms:W3CDTF">2016-08-22T22:27:36Z</dcterms:created>
  <dcterms:modified xsi:type="dcterms:W3CDTF">2021-03-09T03:19:47Z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ies>
</file>